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7df661f6e0e4a08" /><Relationship Type="http://schemas.openxmlformats.org/officeDocument/2006/relationships/extended-properties" Target="/docProps/app.xml" Id="R4afcc5f246f54695" /><Relationship Type="http://schemas.openxmlformats.org/officeDocument/2006/relationships/officeDocument" Target="/ppt/presentation.xml" Id="Rae03619a38a14d10" /></Relationships>
</file>

<file path=ppt/presentation.xml><?xml version="1.0" encoding="utf-8"?>
<p:presentation xmlns:p="http://schemas.openxmlformats.org/presentationml/2006/main">
  <p:sldMasterIdLst>
    <p:sldMasterId xmlns:r="http://schemas.openxmlformats.org/officeDocument/2006/relationships" id="2147483648" r:id="R3cb633736c3b4178"/>
  </p:sldMasterIdLst>
  <p:notesMasterIdLst>
    <p:notesMasterId xmlns:r="http://schemas.openxmlformats.org/officeDocument/2006/relationships" r:id="R07f51842c2774a11"/>
  </p:notesMasterIdLst>
  <p:sldIdLst>
    <p:sldId xmlns:r="http://schemas.openxmlformats.org/officeDocument/2006/relationships" id="256" r:id="R58ce84d06e374219"/>
    <p:sldId xmlns:r="http://schemas.openxmlformats.org/officeDocument/2006/relationships" id="257" r:id="R389d5390f36d41df"/>
    <p:sldId xmlns:r="http://schemas.openxmlformats.org/officeDocument/2006/relationships" id="258" r:id="R3227c169b7c44c29"/>
    <p:sldId xmlns:r="http://schemas.openxmlformats.org/officeDocument/2006/relationships" id="259" r:id="R127728cc011e40f9"/>
    <p:sldId xmlns:r="http://schemas.openxmlformats.org/officeDocument/2006/relationships" id="260" r:id="Rd3c7f5d4155a47ee"/>
    <p:sldId xmlns:r="http://schemas.openxmlformats.org/officeDocument/2006/relationships" id="261" r:id="R2a0529197b8c4a72"/>
    <p:sldId xmlns:r="http://schemas.openxmlformats.org/officeDocument/2006/relationships" id="262" r:id="Reef33776a65d49d5"/>
    <p:sldId xmlns:r="http://schemas.openxmlformats.org/officeDocument/2006/relationships" id="263" r:id="Rdd29db377f4e4438"/>
    <p:sldId xmlns:r="http://schemas.openxmlformats.org/officeDocument/2006/relationships" id="264" r:id="R9758779f5451428e"/>
    <p:sldId xmlns:r="http://schemas.openxmlformats.org/officeDocument/2006/relationships" id="265" r:id="Rc5d69641f56c4641"/>
    <p:sldId xmlns:r="http://schemas.openxmlformats.org/officeDocument/2006/relationships" id="266" r:id="R144a489ee79d4541"/>
    <p:sldId xmlns:r="http://schemas.openxmlformats.org/officeDocument/2006/relationships" id="267" r:id="R9a65f0aebade40af"/>
    <p:sldId xmlns:r="http://schemas.openxmlformats.org/officeDocument/2006/relationships" id="268" r:id="Rdc3151f6b58f437a"/>
    <p:sldId xmlns:r="http://schemas.openxmlformats.org/officeDocument/2006/relationships" id="269" r:id="R02173786e1554515"/>
    <p:sldId xmlns:r="http://schemas.openxmlformats.org/officeDocument/2006/relationships" id="270" r:id="Rce91d0312f7a4d1d"/>
    <p:sldId xmlns:r="http://schemas.openxmlformats.org/officeDocument/2006/relationships" id="271" r:id="R1919a41813ba4abb"/>
    <p:sldId xmlns:r="http://schemas.openxmlformats.org/officeDocument/2006/relationships" id="272" r:id="Rc74ba0b07e7548cf"/>
    <p:sldId xmlns:r="http://schemas.openxmlformats.org/officeDocument/2006/relationships" id="273" r:id="R7ac57dc636c5408d"/>
    <p:sldId xmlns:r="http://schemas.openxmlformats.org/officeDocument/2006/relationships" id="274" r:id="R77d6b5fe094549af"/>
    <p:sldId xmlns:r="http://schemas.openxmlformats.org/officeDocument/2006/relationships" id="275" r:id="Rea0d3a70003b4aaf"/>
    <p:sldId xmlns:r="http://schemas.openxmlformats.org/officeDocument/2006/relationships" id="276" r:id="Rc0aa7ce751d148f6"/>
    <p:sldId xmlns:r="http://schemas.openxmlformats.org/officeDocument/2006/relationships" id="277" r:id="R8f59196bf56f423a"/>
    <p:sldId xmlns:r="http://schemas.openxmlformats.org/officeDocument/2006/relationships" id="278" r:id="R45aed583517c4117"/>
    <p:sldId xmlns:r="http://schemas.openxmlformats.org/officeDocument/2006/relationships" id="279" r:id="R4f739e5fbc0d4a48"/>
    <p:sldId xmlns:r="http://schemas.openxmlformats.org/officeDocument/2006/relationships" id="280" r:id="R30697500dc3943c9"/>
    <p:sldId xmlns:r="http://schemas.openxmlformats.org/officeDocument/2006/relationships" id="281" r:id="R770d4aa9922c4973"/>
    <p:sldId xmlns:r="http://schemas.openxmlformats.org/officeDocument/2006/relationships" id="282" r:id="R88f45c80eefd4c9b"/>
    <p:sldId xmlns:r="http://schemas.openxmlformats.org/officeDocument/2006/relationships" id="283" r:id="R4a1d900642b149f9"/>
    <p:sldId xmlns:r="http://schemas.openxmlformats.org/officeDocument/2006/relationships" id="284" r:id="R570f35947b6f4529"/>
    <p:sldId xmlns:r="http://schemas.openxmlformats.org/officeDocument/2006/relationships" id="285" r:id="R98142c8097a34350"/>
    <p:sldId xmlns:r="http://schemas.openxmlformats.org/officeDocument/2006/relationships" id="286" r:id="R2e2a6cdf36914533"/>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29f7b233c954fc6" /><Relationship Type="http://schemas.openxmlformats.org/officeDocument/2006/relationships/slideMaster" Target="/ppt/slideMasters/slideMaster1.xml" Id="R3cb633736c3b4178" /><Relationship Type="http://schemas.openxmlformats.org/officeDocument/2006/relationships/notesMaster" Target="/ppt/notesMasters/notesMaster1.xml" Id="R07f51842c2774a11" /><Relationship Type="http://schemas.openxmlformats.org/officeDocument/2006/relationships/presProps" Target="/ppt/presProps.xml" Id="Rda0c11814c3e4a8d" /><Relationship Type="http://schemas.openxmlformats.org/officeDocument/2006/relationships/viewProps" Target="/ppt/viewProps.xml" Id="R93379f64df0a4f7e" /><Relationship Type="http://schemas.openxmlformats.org/officeDocument/2006/relationships/tableStyles" Target="/ppt/tableStyles.xml" Id="R89f62d1fcd6443c1" /><Relationship Type="http://schemas.openxmlformats.org/officeDocument/2006/relationships/slide" Target="/ppt/slides/slide1.xml" Id="R58ce84d06e374219" /><Relationship Type="http://schemas.openxmlformats.org/officeDocument/2006/relationships/slide" Target="/ppt/slides/slide2.xml" Id="R389d5390f36d41df" /><Relationship Type="http://schemas.openxmlformats.org/officeDocument/2006/relationships/slide" Target="/ppt/slides/slide3.xml" Id="R3227c169b7c44c29" /><Relationship Type="http://schemas.openxmlformats.org/officeDocument/2006/relationships/slide" Target="/ppt/slides/slide4.xml" Id="R127728cc011e40f9" /><Relationship Type="http://schemas.openxmlformats.org/officeDocument/2006/relationships/slide" Target="/ppt/slides/slide5.xml" Id="Rd3c7f5d4155a47ee" /><Relationship Type="http://schemas.openxmlformats.org/officeDocument/2006/relationships/slide" Target="/ppt/slides/slide6.xml" Id="R2a0529197b8c4a72" /><Relationship Type="http://schemas.openxmlformats.org/officeDocument/2006/relationships/slide" Target="/ppt/slides/slide7.xml" Id="Reef33776a65d49d5" /><Relationship Type="http://schemas.openxmlformats.org/officeDocument/2006/relationships/slide" Target="/ppt/slides/slide8.xml" Id="Rdd29db377f4e4438" /><Relationship Type="http://schemas.openxmlformats.org/officeDocument/2006/relationships/slide" Target="/ppt/slides/slide9.xml" Id="R9758779f5451428e" /><Relationship Type="http://schemas.openxmlformats.org/officeDocument/2006/relationships/slide" Target="/ppt/slides/slide10.xml" Id="Rc5d69641f56c4641" /><Relationship Type="http://schemas.openxmlformats.org/officeDocument/2006/relationships/slide" Target="/ppt/slides/slide11.xml" Id="R144a489ee79d4541" /><Relationship Type="http://schemas.openxmlformats.org/officeDocument/2006/relationships/slide" Target="/ppt/slides/slide12.xml" Id="R9a65f0aebade40af" /><Relationship Type="http://schemas.openxmlformats.org/officeDocument/2006/relationships/slide" Target="/ppt/slides/slide13.xml" Id="Rdc3151f6b58f437a" /><Relationship Type="http://schemas.openxmlformats.org/officeDocument/2006/relationships/slide" Target="/ppt/slides/slide14.xml" Id="R02173786e1554515" /><Relationship Type="http://schemas.openxmlformats.org/officeDocument/2006/relationships/slide" Target="/ppt/slides/slide15.xml" Id="Rce91d0312f7a4d1d" /><Relationship Type="http://schemas.openxmlformats.org/officeDocument/2006/relationships/slide" Target="/ppt/slides/slide16.xml" Id="R1919a41813ba4abb" /><Relationship Type="http://schemas.openxmlformats.org/officeDocument/2006/relationships/slide" Target="/ppt/slides/slide17.xml" Id="Rc74ba0b07e7548cf" /><Relationship Type="http://schemas.openxmlformats.org/officeDocument/2006/relationships/slide" Target="/ppt/slides/slide18.xml" Id="R7ac57dc636c5408d" /><Relationship Type="http://schemas.openxmlformats.org/officeDocument/2006/relationships/slide" Target="/ppt/slides/slide19.xml" Id="R77d6b5fe094549af" /><Relationship Type="http://schemas.openxmlformats.org/officeDocument/2006/relationships/slide" Target="/ppt/slides/slide20.xml" Id="Rea0d3a70003b4aaf" /><Relationship Type="http://schemas.openxmlformats.org/officeDocument/2006/relationships/slide" Target="/ppt/slides/slide21.xml" Id="Rc0aa7ce751d148f6" /><Relationship Type="http://schemas.openxmlformats.org/officeDocument/2006/relationships/slide" Target="/ppt/slides/slide22.xml" Id="R8f59196bf56f423a" /><Relationship Type="http://schemas.openxmlformats.org/officeDocument/2006/relationships/slide" Target="/ppt/slides/slide23.xml" Id="R45aed583517c4117" /><Relationship Type="http://schemas.openxmlformats.org/officeDocument/2006/relationships/slide" Target="/ppt/slides/slide24.xml" Id="R4f739e5fbc0d4a48" /><Relationship Type="http://schemas.openxmlformats.org/officeDocument/2006/relationships/slide" Target="/ppt/slides/slide25.xml" Id="R30697500dc3943c9" /><Relationship Type="http://schemas.openxmlformats.org/officeDocument/2006/relationships/slide" Target="/ppt/slides/slide26.xml" Id="R770d4aa9922c4973" /><Relationship Type="http://schemas.openxmlformats.org/officeDocument/2006/relationships/slide" Target="/ppt/slides/slide27.xml" Id="R88f45c80eefd4c9b" /><Relationship Type="http://schemas.openxmlformats.org/officeDocument/2006/relationships/slide" Target="/ppt/slides/slide28.xml" Id="R4a1d900642b149f9" /><Relationship Type="http://schemas.openxmlformats.org/officeDocument/2006/relationships/slide" Target="/ppt/slides/slide29.xml" Id="R570f35947b6f4529" /><Relationship Type="http://schemas.openxmlformats.org/officeDocument/2006/relationships/slide" Target="/ppt/slides/slide30.xml" Id="R98142c8097a34350" /><Relationship Type="http://schemas.openxmlformats.org/officeDocument/2006/relationships/slide" Target="/ppt/slides/slide31.xml" Id="R2e2a6cdf3691453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670b35182d4468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2b43926a1264149" /><Relationship Type="http://schemas.openxmlformats.org/officeDocument/2006/relationships/notesMaster" Target="/ppt/notesMasters/notesMaster1.xml" Id="Re07f077623bc4f5a" /></Relationships>
</file>

<file path=ppt/notesSlides/_rels/notesSlide2.xml.rels>&#65279;<?xml version="1.0" encoding="utf-8"?><Relationships xmlns="http://schemas.openxmlformats.org/package/2006/relationships"><Relationship Type="http://schemas.openxmlformats.org/officeDocument/2006/relationships/slide" Target="/ppt/slides/slide2.xml" Id="R94782ff4186a4240" /><Relationship Type="http://schemas.openxmlformats.org/officeDocument/2006/relationships/notesMaster" Target="/ppt/notesMasters/notesMaster1.xml" Id="Rd1ca41f9ecc744d8" /></Relationships>
</file>

<file path=ppt/notesSlides/_rels/notesSlide3.xml.rels>&#65279;<?xml version="1.0" encoding="utf-8"?><Relationships xmlns="http://schemas.openxmlformats.org/package/2006/relationships"><Relationship Type="http://schemas.openxmlformats.org/officeDocument/2006/relationships/slide" Target="/ppt/slides/slide3.xml" Id="R2f003ebc75144bef" /><Relationship Type="http://schemas.openxmlformats.org/officeDocument/2006/relationships/notesMaster" Target="/ppt/notesMasters/notesMaster1.xml" Id="R32683c122a7f442d" /></Relationships>
</file>

<file path=ppt/notesSlides/_rels/notesSlide4.xml.rels>&#65279;<?xml version="1.0" encoding="utf-8"?><Relationships xmlns="http://schemas.openxmlformats.org/package/2006/relationships"><Relationship Type="http://schemas.openxmlformats.org/officeDocument/2006/relationships/slide" Target="/ppt/slides/slide4.xml" Id="R03032c8429664597" /><Relationship Type="http://schemas.openxmlformats.org/officeDocument/2006/relationships/notesMaster" Target="/ppt/notesMasters/notesMaster1.xml" Id="R9f38116ffc244344" /></Relationships>
</file>

<file path=ppt/notesSlides/_rels/notesSlide5.xml.rels>&#65279;<?xml version="1.0" encoding="utf-8"?><Relationships xmlns="http://schemas.openxmlformats.org/package/2006/relationships"><Relationship Type="http://schemas.openxmlformats.org/officeDocument/2006/relationships/slide" Target="/ppt/slides/slide5.xml" Id="R0e93cef74f964d8b" /><Relationship Type="http://schemas.openxmlformats.org/officeDocument/2006/relationships/notesMaster" Target="/ppt/notesMasters/notesMaster1.xml" Id="Rba3b93c624584b89" /></Relationships>
</file>

<file path=ppt/notesSlides/_rels/notesSlide6.xml.rels>&#65279;<?xml version="1.0" encoding="utf-8"?><Relationships xmlns="http://schemas.openxmlformats.org/package/2006/relationships"><Relationship Type="http://schemas.openxmlformats.org/officeDocument/2006/relationships/slide" Target="/ppt/slides/slide6.xml" Id="Ree7a3cc9021c4436" /><Relationship Type="http://schemas.openxmlformats.org/officeDocument/2006/relationships/notesMaster" Target="/ppt/notesMasters/notesMaster1.xml" Id="Rb3f89166229b486a" /></Relationships>
</file>

<file path=ppt/notesSlides/_rels/notesSlide7.xml.rels>&#65279;<?xml version="1.0" encoding="utf-8"?><Relationships xmlns="http://schemas.openxmlformats.org/package/2006/relationships"><Relationship Type="http://schemas.openxmlformats.org/officeDocument/2006/relationships/slide" Target="/ppt/slides/slide7.xml" Id="Rc96c3e8b29b14075" /><Relationship Type="http://schemas.openxmlformats.org/officeDocument/2006/relationships/notesMaster" Target="/ppt/notesMasters/notesMaster1.xml" Id="Recdef0ff978643a4" /></Relationships>
</file>

<file path=ppt/notesSlides/_rels/notesSlide8.xml.rels>&#65279;<?xml version="1.0" encoding="utf-8"?><Relationships xmlns="http://schemas.openxmlformats.org/package/2006/relationships"><Relationship Type="http://schemas.openxmlformats.org/officeDocument/2006/relationships/slide" Target="/ppt/slides/slide8.xml" Id="R0f39d453303b4cdd" /><Relationship Type="http://schemas.openxmlformats.org/officeDocument/2006/relationships/notesMaster" Target="/ppt/notesMasters/notesMaster1.xml" Id="R85818142370b4394" /></Relationships>
</file>

<file path=ppt/notesSlides/_rels/notesSlide9.xml.rels>&#65279;<?xml version="1.0" encoding="utf-8"?><Relationships xmlns="http://schemas.openxmlformats.org/package/2006/relationships"><Relationship Type="http://schemas.openxmlformats.org/officeDocument/2006/relationships/slide" Target="/ppt/slides/slide9.xml" Id="R804e6049778c4a65" /><Relationship Type="http://schemas.openxmlformats.org/officeDocument/2006/relationships/notesMaster" Target="/ppt/notesMasters/notesMaster1.xml" Id="R1b1e11da666946c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1b1e932fafe4f90" /><Relationship Type="http://schemas.openxmlformats.org/officeDocument/2006/relationships/notesMaster" Target="/ppt/notesMasters/notesMaster1.xml" Id="R2a03bb04b649413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88edaa24f4d4e90" /><Relationship Type="http://schemas.openxmlformats.org/officeDocument/2006/relationships/notesMaster" Target="/ppt/notesMasters/notesMaster1.xml" Id="Rd5fa5caf9930482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2acb7b91c974aab" /><Relationship Type="http://schemas.openxmlformats.org/officeDocument/2006/relationships/notesMaster" Target="/ppt/notesMasters/notesMaster1.xml" Id="R189d6ea475934b7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9a2ff96d92748dd" /><Relationship Type="http://schemas.openxmlformats.org/officeDocument/2006/relationships/notesMaster" Target="/ppt/notesMasters/notesMaster1.xml" Id="R5ece4afb02444f0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b5c8e60ee8243bf" /><Relationship Type="http://schemas.openxmlformats.org/officeDocument/2006/relationships/notesMaster" Target="/ppt/notesMasters/notesMaster1.xml" Id="R7e00e07b12d5482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d9d62d55ec6490a" /><Relationship Type="http://schemas.openxmlformats.org/officeDocument/2006/relationships/notesMaster" Target="/ppt/notesMasters/notesMaster1.xml" Id="Rc5d5595bb97345f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d8abac5cc784972" /><Relationship Type="http://schemas.openxmlformats.org/officeDocument/2006/relationships/notesMaster" Target="/ppt/notesMasters/notesMaster1.xml" Id="Rb1c15e3c065446e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0cf440222874607" /><Relationship Type="http://schemas.openxmlformats.org/officeDocument/2006/relationships/notesMaster" Target="/ppt/notesMasters/notesMaster1.xml" Id="Rea7ec98b22514c2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932a77452ea4e52" /><Relationship Type="http://schemas.openxmlformats.org/officeDocument/2006/relationships/notesMaster" Target="/ppt/notesMasters/notesMaster1.xml" Id="R78d87fd16b45496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cd907fd761a4254" /><Relationship Type="http://schemas.openxmlformats.org/officeDocument/2006/relationships/notesMaster" Target="/ppt/notesMasters/notesMaster1.xml" Id="Rca18814f75ec448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a25e13f2000466d" /><Relationship Type="http://schemas.openxmlformats.org/officeDocument/2006/relationships/notesMaster" Target="/ppt/notesMasters/notesMaster1.xml" Id="R4ae505549f59454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d714f5930b941f2" /><Relationship Type="http://schemas.openxmlformats.org/officeDocument/2006/relationships/notesMaster" Target="/ppt/notesMasters/notesMaster1.xml" Id="Re1869f3d042f4d8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483accd550c43f4" /><Relationship Type="http://schemas.openxmlformats.org/officeDocument/2006/relationships/notesMaster" Target="/ppt/notesMasters/notesMaster1.xml" Id="R852cd695d5384c1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d7ca89951f148d1" /><Relationship Type="http://schemas.openxmlformats.org/officeDocument/2006/relationships/notesMaster" Target="/ppt/notesMasters/notesMaster1.xml" Id="R65a8a1d67bc54ba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a72656eac8a4a82" /><Relationship Type="http://schemas.openxmlformats.org/officeDocument/2006/relationships/notesMaster" Target="/ppt/notesMasters/notesMaster1.xml" Id="R12db142d14bc4b8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38fc7e33e8541de" /><Relationship Type="http://schemas.openxmlformats.org/officeDocument/2006/relationships/notesMaster" Target="/ppt/notesMasters/notesMaster1.xml" Id="R24b31f320bbc413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e28164347504633" /><Relationship Type="http://schemas.openxmlformats.org/officeDocument/2006/relationships/notesMaster" Target="/ppt/notesMasters/notesMaster1.xml" Id="Rea062650589e464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731ecb3d0644d40" /><Relationship Type="http://schemas.openxmlformats.org/officeDocument/2006/relationships/notesMaster" Target="/ppt/notesMasters/notesMaster1.xml" Id="R38ea6046f0f140a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129958b5031493e" /><Relationship Type="http://schemas.openxmlformats.org/officeDocument/2006/relationships/notesMaster" Target="/ppt/notesMasters/notesMaster1.xml" Id="R0d0ed3ff59ab414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24e06e9fac14f8a" /><Relationship Type="http://schemas.openxmlformats.org/officeDocument/2006/relationships/notesMaster" Target="/ppt/notesMasters/notesMaster1.xml" Id="R2523bbe1572847f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3c30e52d1e64b04" /><Relationship Type="http://schemas.openxmlformats.org/officeDocument/2006/relationships/notesMaster" Target="/ppt/notesMasters/notesMaster1.xml" Id="Rd29044a2e0a842f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59bd4ce48f246a0" /><Relationship Type="http://schemas.openxmlformats.org/officeDocument/2006/relationships/notesMaster" Target="/ppt/notesMasters/notesMaster1.xml" Id="R880e0fdfe7ba4b5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pack is intended for senior CS students and research supporters. Students and supervisors determine the capstone topic, scope, and assessment. IL (Invested Lamda) is the supporter’s current research/prototype priority; this project label is distinct from imitation learning. The update retains the design of the 25 September 2026 reader deck and incorporates evidence available by 6 October 2026. Simulation results do not establish novelty, human benefit, or performance on physical robots.</a:t>
            </a:r>
            <a:endParaRPr/>
          </a:p>
          <a:p xmlns:a="http://schemas.openxmlformats.org/drawingml/2006/main">
            <a:r>
              <a:t>Sources: https://github.com/loversky02/trajectory-retargeting-starter/blob/main/README.md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pack in two passes: first examine scope, pipeline contracts, and results; then consult code, notes, and primary papers for experimental decisions. Reproducing every paper or training a policy is unnecessary for the initial feasibility study. Physics replay begins with clean simulator state. The marker prototype estimates pose from calibrated synthetic pixels. Their integration is incomplete. Implementation, contract tests, pilot observations, and research evaluations represent different levels of evidence.</a:t>
            </a:r>
            <a:endParaRPr/>
          </a:p>
          <a:p xmlns:a="http://schemas.openxmlformats.org/drawingml/2006/main">
            <a:r>
              <a:t>Sources: https://github.com/loversky02/trajectory-retargeting-starter/blob/main/README.md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shared core comprises video-derived object poses, Panda/UR5e retargeting, segment correction, and budget evaluation. IL receives reusable pipelines, measured capabilities, and engineering decisions. CS students receive reference materials for feasibility assessment. Future research receives testable questions, controls, and an evidence trail. Preserve the label Invested Lamda. This core does not define business requirements, authorize deployment, or impose student assignments.</a:t>
            </a:r>
            <a:endParaRPr/>
          </a:p>
          <a:p xmlns:a="http://schemas.openxmlformats.org/drawingml/2006/main">
            <a:r>
              <a:t>Sources: https://github.com/loversky02/trajectory-retargeting-starter/blob/main/docs/evidence-and-limitations.md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Pose accuracy, kinematic tracking, physics task success, and human benefit are distinct endpoints. Human video additionally requires grasp/contact, TCP orientation, phase, goal, and scale estimation. Robot logs with TCP/gripper state offer a more controlled starting point. The physics reference currently uses a clean TCP trajectory and known target layout. The marker prototype transfers translational displacement through kinematics. Estimated data and evaluator ground truth must remain on separate data paths.</a:t>
            </a:r>
            <a:endParaRPr/>
          </a:p>
          <a:p xmlns:a="http://schemas.openxmlformats.org/drawingml/2006/main">
            <a:r>
              <a:t>Sources: https://github.com/loversky02/trajectory-retargeting-starter/blob/main/docs/experimental-protocol.md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baseline uses MuJoCo on a CPU. Select a simulator according to the research question, available inputs, and reproducibility requirements. Changing the physics engine or controller across methods introduces potential confounding. Isaac may be considered when rendering or parallel learning requirements exceed the current baseline. Such adoption is a proposed extension, not an outcome of a simulator-comparison experiment.</a:t>
            </a:r>
            <a:endParaRPr/>
          </a:p>
          <a:p xmlns:a="http://schemas.openxmlformats.org/drawingml/2006/main">
            <a:r>
              <a:t>Sources: https://github.com/loversky02/trajectory-retargeting-starter/blob/main/physics_replay/README.md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Metric scale and coordinate frames require an identifiable reference. A marker requires known size, camera intrinsics/extrinsics, and a marker-to-object transform. A CAD-based method requires consistent geometry and object-frame conventions. Human video does not directly provide robot actions. Describe source and target observations separately: using a ground-truth target pose can isolate source estimation, but it does not evaluate complete perception. Prespecify the primary endpoint and retain unsuccessful trials rather than substituting tracking accuracy for task success.</a:t>
            </a:r>
            <a:endParaRPr/>
          </a:p>
          <a:p xmlns:a="http://schemas.openxmlformats.org/drawingml/2006/main">
            <a:r>
              <a:t>Sources: https://github.com/loversky02/trajectory-retargeting-starter/blob/main/README.md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Execution uses MuJoCo mj_step, a free-joint cube, and contacts rather than teleporting or welding the object during motion. Resetting the initial state is a separate operation. Menagerie models are pinned at f054586a8e90465d49ee5be15335c4a0c7f57caf. TCP conventions are defined in scene.py. CLI commands verify the model receipt offline; a direct runner.run call does not perform that verification. The review reran 20 tests without skips. This establishes bounded simulation feasibility, not physical-robot safety.</a:t>
            </a:r>
            <a:endParaRPr/>
          </a:p>
          <a:p xmlns:a="http://schemas.openxmlformats.org/drawingml/2006/main">
            <a:r>
              <a:t>Sources: https://github.com/loversky02/trajectory-retargeting-starter/blob/main/physics_replay/README.md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adoption criteria, not measured superiority of a simulator or an updated minimum-GPU specification. Consult documentation for the exact chosen version and record rendering, controller, asset, and hardware provenance. A learned vision extractor may require a GPU. The marker/PnP and physics references do not. No cloud budget or current rental price is specified here. Retain a CPU replay path to diagnose failures independently of a costly vision stack.</a:t>
            </a:r>
            <a:endParaRPr/>
          </a:p>
          <a:p xmlns:a="http://schemas.openxmlformats.org/drawingml/2006/main">
            <a:r>
              <a:t>Sources: https://developer.nvidia.com/isaac/lab</a:t>
            </a:r>
            <a:endParaRPr/>
          </a:p>
          <a:p xmlns:a="http://schemas.openxmlformats.org/drawingml/2006/main">
            <a:r>
              <a:t>Current reference: https://github.com/loversky02/trajectory-retargeting-starter/blob/main/physics_replay/requirements.txt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P0 clean replay has been measured for one task and source demonstration. P1 combines noisy-input sensitivity and calibrated video. Phase-local correction requires a representation that actually consumes the relevant intervals. P2 learning or scale is optional and should serve a defined endpoint. The stages are technical recommendations, not official student gates or approval decisions. Do not present an arbitrarily selected threshold as an institutional requirement.</a:t>
            </a:r>
            <a:endParaRPr/>
          </a:p>
          <a:p xmlns:a="http://schemas.openxmlformats.org/drawingml/2006/main">
            <a:r>
              <a:t>Sources: https://github.com/loversky02/trajectory-retargeting-starter/blob/main/docs/experimental-protocol.md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literature findings arise from a bounded primary-source audit through 6 October 2026, not an exhaustive systematic review. Citation indexes may lag recent publications. The proposed combined question remains conditional on reviewed-source coverage. Combining existing modules, selecting Panda/UR5e, or using object-relative transforms does not alone establish a research contribution.</a:t>
            </a:r>
            <a:endParaRPr/>
          </a:p>
          <a:p xmlns:a="http://schemas.openxmlformats.org/drawingml/2006/main">
            <a:r>
              <a:t>Sources: https://github.com/loversky02/trajectory-retargeting-starter/blob/main/docs/reading-guide.md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Retargeting and replay do not train a policy or establish imitation-learning performance. A training export must define observations, action semantics, requested versus executed actions, and sampling rate. A training export would be separate from the physics JSON schema. ACT and Diffusion Policy become relevant when the chosen endpoint includes policy learning. MimicGen is a close precedent for object-relative robot-demonstration transfer. Its noise at subtask initialization differs from drift or missing intervals during motion.</a:t>
            </a:r>
            <a:endParaRPr/>
          </a:p>
          <a:p xmlns:a="http://schemas.openxmlformats.org/drawingml/2006/main">
            <a:r>
              <a:t>Sources: https://arxiv.org/abs/2304.13705</a:t>
            </a:r>
            <a:endParaRPr/>
          </a:p>
          <a:p xmlns:a="http://schemas.openxmlformats.org/drawingml/2006/main">
            <a:r>
              <a:t>https://diffusion-policy.cs.columbia.edu/</a:t>
            </a:r>
            <a:endParaRPr/>
          </a:p>
          <a:p xmlns:a="http://schemas.openxmlformats.org/drawingml/2006/main">
            <a:r>
              <a:t>https://arxiv.org/abs/2310.17596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evidence card should record the exact paper version, section/table/page, code revision, license status, and affected design decision. Separate author statements from interpretations. Rounded success percentages do not identify the sample size without a protocol or raw counts. AUROC/AUPRC measure discrimination; risk–coverage evaluates selective ranking. Probability calibration requires additional analysis. Consult the corrected synthesis and audits before citing values from earlier reports.</a:t>
            </a:r>
            <a:endParaRPr/>
          </a:p>
          <a:p xmlns:a="http://schemas.openxmlformats.org/drawingml/2006/main">
            <a:r>
              <a:t>Sources: https://github.com/loversky02/trajectory-retargeting-starter/blob/main/docs/reading-guide.md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common transform is T_target_object × inverse(T_source_object) × T_source_TCP. Panda/UR5e transfer is an experimental setting with precedents. The current physics retargeter segments motion using gripper commands and TCP height, anchors the earlier phase to the first observed object pose before grasp, and anchors the later phase to the goal. Reachability, temporal constraints, collision, and task success require separate reporting. The reference is not a general collision planner, and the cube task does not evaluate orientation-sensitive placement.</a:t>
            </a:r>
            <a:endParaRPr/>
          </a:p>
          <a:p xmlns:a="http://schemas.openxmlformats.org/drawingml/2006/main">
            <a:r>
              <a:t>Sources: https://arxiv.org/abs/2310.17596</a:t>
            </a:r>
            <a:endParaRPr/>
          </a:p>
          <a:p xmlns:a="http://schemas.openxmlformats.org/drawingml/2006/main">
            <a:r>
              <a:t>https://github.com/loversky02/trajectory-retargeting-starter/blob/main/physics_replay/retarget.py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PSI §3.3 describes rejection when all candidate grasps fail, whereas §4.3 describes any grasp failing. The reviewed sources do not resolve this discrepancy in code; a reproduction must disclose its chosen interpretation. Appendix C’s 2 cm/0.2 rad threshold concerns ICP, not a calibrated FoundationPose tracking score. RIGVid uses a generated video and an initial RGB-D frame for depth alignment, with runtime backtracking at 3 cm or 20° deviation. These task-specific values are not universal thresholds. An internally implemented filter should retain its own baseline name.</a:t>
            </a:r>
            <a:endParaRPr/>
          </a:p>
          <a:p xmlns:a="http://schemas.openxmlformats.org/drawingml/2006/main">
            <a:r>
              <a:t>Sources: https://arxiv.org/pdf/2602.13197v2</a:t>
            </a:r>
            <a:endParaRPr/>
          </a:p>
          <a:p xmlns:a="http://schemas.openxmlformats.org/drawingml/2006/main">
            <a:r>
              <a:t>https://arxiv.org/abs/2507.00990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ThriftyDAgger provides a precedent for supervision budgets and autonomous versus assisted endpoints. VR-DAgger proposes three timesteps from MC-dropout action variance; the operator selects one and controls the remainder of the episode. Its correction-sample budget differs from a seconds budget. Meta Pose evaluates image-level rotation failures. SPARC evaluates annotation reliability using bounding-box IoU and downstream VLA reasoning. These targets differ from object-pose segment correction. Failure to find the full combined protocol in inspected sources does not guarantee field-wide novelty.</a:t>
            </a:r>
            <a:endParaRPr/>
          </a:p>
          <a:p xmlns:a="http://schemas.openxmlformats.org/drawingml/2006/main">
            <a:r>
              <a:t>Sources: https://proceedings.mlr.press/v164/hoque22a.html</a:t>
            </a:r>
            <a:endParaRPr/>
          </a:p>
          <a:p xmlns:a="http://schemas.openxmlformats.org/drawingml/2006/main">
            <a:r>
              <a:t>https://arxiv.org/abs/2605.27114</a:t>
            </a:r>
            <a:endParaRPr/>
          </a:p>
          <a:p xmlns:a="http://schemas.openxmlformats.org/drawingml/2006/main">
            <a:r>
              <a:t>https://arxiv.org/abs/2608.03516</a:t>
            </a:r>
            <a:endParaRPr/>
          </a:p>
          <a:p xmlns:a="http://schemas.openxmlformats.org/drawingml/2006/main">
            <a:r>
              <a:t>https://arxiv.org/abs/2606.13497</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Prioritize experiments, appendices, and executable code over abstracts. For robot logs, begin with MimicGen. For video-derived object trajectories, examine PSI/RIGVid and DemoBridge. For correction allocation, read ThriftyDAgger, VR-DAgger, and FlowCorrect. Examine the actual reliability targets of Meta Pose and SPARC. UMI and Human2Sim2Robot are additional readings when their inputs and embodiments match the project. Human2Sim2Robot is arXiv 2504.12609 and uses an Allegro hand; the UMI paper names UR5. Learning architectures remain optional after a suitable data contract exists.</a:t>
            </a:r>
            <a:endParaRPr/>
          </a:p>
          <a:p xmlns:a="http://schemas.openxmlformats.org/drawingml/2006/main">
            <a:r>
              <a:t>Sources: https://github.com/loversky02/trajectory-retargeting-starter/blob/main/docs/reading-guide.md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clean-state benchmark establishes feasibility of a particular replay/controller pipeline on a cube task. It does not test reliability-guided correction. Oracle pilots can validate data plumbing and input sensitivity. A subsequent human study is required to measure correction-time allocation or operator benefit. Distinguish those proposed experiments from existing results throughout the presentation.</a:t>
            </a:r>
            <a:endParaRPr/>
          </a:p>
          <a:p xmlns:a="http://schemas.openxmlformats.org/drawingml/2006/main">
            <a:r>
              <a:t>Sources: https://github.com/loversky02/trajectory-retargeting-starter/blob/main/README.md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primary estimand is the task-success difference between ranked and random correction under a common cost definition. Automatic recovery uses no human editing but incurs runtime costs; report its cost and coverage separately. A ground-truth-assisted oracle is an empirical comparator, not a guaranteed success upper bound. Pose-error ranking need not optimize task success. Prespecify whether B covers active editing or total review plus editing. Select budgets and sample size from pilot variability and required precision. Fit scores/thresholds on development data and evaluate on independent episodes, corruptions, and layouts.</a:t>
            </a:r>
            <a:endParaRPr/>
          </a:p>
          <a:p xmlns:a="http://schemas.openxmlformats.org/drawingml/2006/main">
            <a:r>
              <a:t>Sources: https://github.com/loversky02/trajectory-retargeting-starter/blob/main/docs/reading-guide.md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physics_replay.episode.v1 requires increasing timestamps, TCP/object position_m and wxyz quaternions, gripper commands, scene conventions, and robot joints. Missing object poses are complete null/NaN rows; the robot’s own TCP log cannot omit frames. The marker package stores observations, evaluator GT, and correction receipts separately. Their adapter is not implemented. Training export requires observation/action definitions, requested versus executed actions, synchronization, authority labels, and correction provenance. Avoid exposing evaluator GT as an observation. An estimator with unresolved scale needs an independent metric reference.</a:t>
            </a:r>
            <a:endParaRPr/>
          </a:p>
          <a:p xmlns:a="http://schemas.openxmlformats.org/drawingml/2006/main">
            <a:r>
              <a:t>Sources: https://github.com/loversky02/trajectory-retargeting-starter/blob/main/physics_replay/episode.py</a:t>
            </a:r>
            <a:endParaRPr/>
          </a:p>
          <a:p xmlns:a="http://schemas.openxmlformats.org/drawingml/2006/main">
            <a:r>
              <a:t>https://github.com/loversky02/trajectory-retargeting-starter/blob/main/docs/marker-prototype.md</a:t>
            </a:r>
            <a:endParaRPr/>
          </a:p>
          <a:p xmlns:a="http://schemas.openxmlformats.org/drawingml/2006/main">
            <a:r>
              <a:t>https://arxiv.org/html/2607.06555v1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committed held-out log contains 100 paired target layouts at seed 7, four methods, one source demonstration, and one cube task. Development results on 50 layouts were 0/41/50/50; the trimmed variant was refined using that set. Object-relative held-out execution has 11 IK failures. World-frame has 94 grasp failures, two drops, and four placement misses. The scripted target reference has task-specific knowledge. Wilson 95% intervals use z=1.96 under the binary-trial assumption within the sampled domain. The predicate includes lift ≥5 cm, final XY error ≤2 cm, z error ≤5 mm, uprightness, and release with failure flags. It lacks a velocity/dwell criterion and goal-yaw requirement. The review recomputed logs and verified code hashes without rerunning all 600 trials.</a:t>
            </a:r>
            <a:endParaRPr/>
          </a:p>
          <a:p xmlns:a="http://schemas.openxmlformats.org/drawingml/2006/main">
            <a:r>
              <a:t>Sources: https://github.com/loversky02/trajectory-retargeting-starter/tree/main/physics_replay/results/bench-heldout-seed7-n100</a:t>
            </a:r>
            <a:endParaRPr/>
          </a:p>
          <a:p xmlns:a="http://schemas.openxmlformats.org/drawingml/2006/main">
            <a:r>
              <a:t>https://www.itl.nist.gov/div898/handbook/prc/section2/prc241.htm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defines technical boundaries and status, not student ownership assignments. Physics and marker packages are separate. A bridge must reconcile TCP/object frames, events, and observable inputs. In the example episode, adding 0.05 m to x in 65 observed object frames after the first observed frame leaves the object_relative_trimmed TCP plan exactly unchanged. This was a plan-sensitivity probe, not a physics run or benefit measurement. The static-anchor path does not consume those later poses. Phase-local constraints are a potential representation extension requiring independent validation.</a:t>
            </a:r>
            <a:endParaRPr/>
          </a:p>
          <a:p xmlns:a="http://schemas.openxmlformats.org/drawingml/2006/main">
            <a:r>
              <a:t>Sources: https://github.com/loversky02/trajectory-retargeting-starter/blob/main/physics_replay/retarget.py</a:t>
            </a:r>
            <a:endParaRPr/>
          </a:p>
          <a:p xmlns:a="http://schemas.openxmlformats.org/drawingml/2006/main">
            <a:r>
              <a:t>https://github.com/loversky02/trajectory-retargeting-starter/blob/main/docs/evidence-and-limitations.md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TeleGuide here denotes research support for trajectory review and correction. The starter contains standalone physics and marker references. A web interface and a validated pose/physics user study are outside its current scope. An interface or pause/takeover demonstration cannot establish usability or labour savings. Simulation alone cannot establish safety of physical intervention.</a:t>
            </a:r>
            <a:endParaRPr/>
          </a:p>
          <a:p xmlns:a="http://schemas.openxmlformats.org/drawingml/2006/main">
            <a:r>
              <a:t>Sources: https://github.com/loversky02/trajectory-retargeting-starter/blob/main/docs/marker-prototype.md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terminal editor saves a new NPZ and a monotonic-clock receipt. The candidate segment is selected through the CLI before the clock starts. The response interval includes reading, waiting, and input, so session elapsed time does not isolate active editing. Overruns are rejected. A constant offset changes valid frames only and does not recover missing poses. A user study requires matched primitives, costs, observable information, and counterbalanced condition order. A future authority-label adapter requires its own contract before research data can train a policy.</a:t>
            </a:r>
            <a:endParaRPr/>
          </a:p>
          <a:p xmlns:a="http://schemas.openxmlformats.org/drawingml/2006/main">
            <a:r>
              <a:t>Sources: https://github.com/loversky02/trajectory-retargeting-starter/blob/main/docs/marker-prototype.md</a:t>
            </a:r>
            <a:endParaRPr/>
          </a:p>
          <a:p xmlns:a="http://schemas.openxmlformats.org/drawingml/2006/main">
            <a:r>
              <a:t>https://github.com/loversky02/trajectory-retargeting-starter/blob/main/docs/evidence-and-limitations.md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images are frames from existing simulator recordings, not physical-robot photographs. Both runs execute manipulation through contact physics. Images illustrate behaviour; quantitative conclusions depend on trial logs. The README records a user-run Colab CPU evaluation on 6 October with 20 passing tests and success/failure agreement for 200 development and 400 held-out trials. This review did not independently rerun Colab. Integrated video correction and human benefit remain unevaluated.</a:t>
            </a:r>
            <a:endParaRPr/>
          </a:p>
          <a:p xmlns:a="http://schemas.openxmlformats.org/drawingml/2006/main">
            <a:r>
              <a:t>Sources: https://github.com/loversky02/trajectory-retargeting-starter/blob/main/physics_replay/README.md</a:t>
            </a:r>
            <a:endParaRPr/>
          </a:p>
          <a:p xmlns:a="http://schemas.openxmlformats.org/drawingml/2006/main">
            <a:r>
              <a:t>Image provenance: frames at t=6s from the source and target MuJoCo recordings. The source revision and associated reference results are identified in provenance.json. The videos can be recreated with the physics demo.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Prespecify B, candidate intervals, lengths, edit primitives, replay/feedback access, start/stop events, and overrun handling. If B counts active editing, also report review, waiting, and total supervision. Active-human-time reduction can be defined as 1 - T_active_assisted/T_active_fullteleoperation, requiring a measured baseline with matched task quality. Define system-latency endpoints explicitly, for example edit submission to plan preview or controller acknowledgement, and report p50/p95. Evaluate pose-quality signals on held-out errors before studying downstream failures. Retain rejects, timeouts, and failures. Account for episode/operator dependence rather than treating frames as independent samples. Future tuning requires a new held-out set because seed 7 outcomes are already known.</a:t>
            </a:r>
            <a:endParaRPr/>
          </a:p>
          <a:p xmlns:a="http://schemas.openxmlformats.org/drawingml/2006/main">
            <a:r>
              <a:t>Sources: https://github.com/loversky02/trajectory-retargeting-starter/blob/main/docs/experimental-protocol.md</a:t>
            </a:r>
            <a:endParaRPr/>
          </a:p>
          <a:p xmlns:a="http://schemas.openxmlformats.org/drawingml/2006/main">
            <a:r>
              <a:t>https://proceedings.mlr.press/v164/hoque22a.html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reference workflows run on a CPU. Idle-timeout control is proposed, not implemented. Use a workload heartbeat and active-job check, save checkpoints before termination, and log stop events. Low GPU utilization alone may reflect CPU preprocessing. Local dataset/checkpoint caches require manifests, hashes, versions, selective synchronization, and explicit retention. Diagnose clean replay failures through frames/TCP/grasp/controller/IK residuals and reachability before adding perception. Retain missing masks and correction provenance under occlusion. Kalman or particle filtering requires a defensible measurement model. No cloud budget or current GPU price is asserted.</a:t>
            </a:r>
            <a:endParaRPr/>
          </a:p>
          <a:p xmlns:a="http://schemas.openxmlformats.org/drawingml/2006/main">
            <a:r>
              <a:t>Sources: https://github.com/loversky02/trajectory-retargeting-starter/blob/main/README.md</a:t>
            </a:r>
            <a:endParaRPr/>
          </a:p>
          <a:p xmlns:a="http://schemas.openxmlformats.org/drawingml/2006/main">
            <a:r>
              <a:t>https://github.com/loversky02/trajectory-retargeting-starter/blob/main/physics_replay/README.md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sequence reflects dependencies, not mandatory deadlines or assignments. Sensitivity experiments must perturb planner inputs that are actually consumed. A static anchor is insufficient for allocation over intervals that cannot influence the output. A phase-dependent representation needs its own tests. Following oracle plumbing, a human pilot estimates variability and cost. The current video importer assumes constant frame rate through frame_index/fps and does not handle variable-rate timestamps. Synthetic-fixture calibration is not calibration of a physical camera. Assembly, deformation, or bimanual manipulation are optional later stress tests, not additions required for the first baseline.</a:t>
            </a:r>
            <a:endParaRPr/>
          </a:p>
          <a:p xmlns:a="http://schemas.openxmlformats.org/drawingml/2006/main">
            <a:r>
              <a:t>Sources: https://github.com/loversky02/trajectory-retargeting-starter/blob/main/docs/experimental-protocol.md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Passing implementation tests is distinct from empirical method superiority. Physics has 20 tests, committed trial logs, and model receipts. The marker package has seven tests and a synthetic pilot, with no independent inspection verdict. Model caches, generated runs, and canonical literature PDFs are excluded from Git and require recreation or separate retrieval. Do not generalize from 100 layouts of one demonstration. No human study has been conducted. A null result should report failures, coverage, time costs, and sensitivity checks so rival explanations can be assessed.</a:t>
            </a:r>
            <a:endParaRPr/>
          </a:p>
          <a:p xmlns:a="http://schemas.openxmlformats.org/drawingml/2006/main">
            <a:r>
              <a:t>Sources: https://github.com/loversky02/trajectory-retargeting-starter/blob/main/docs/evidence-and-limitations.md</a:t>
            </a:r>
            <a:endParaRPr/>
          </a:p>
          <a:p xmlns:a="http://schemas.openxmlformats.org/drawingml/2006/main">
            <a:r>
              <a:t>https://github.com/loversky02/trajectory-retargeting-starter/blob/main/docs/evidence-and-limitations.md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physics commands from the repository root in an activated environment. Fetch models once, then execute the demo, example replay, benchmark, and pytest. The CPU Colab notebook clones this public starter without requiring a code upload or GitHub authentication. The marker package uses a separate Python 3.12 environment with requirements-research.txt. Run unittest discovery in tests/research_pipeline and demo --output data/research-prototype/runs/my-demo, where the output directory must not exist. Ground truth, observations, and receipts are separate. The default 20-second budget and 10-second oracle edit cost are assumptions, not observed human times. Do not combine the differently pinned environments without resolving dependencies.</a:t>
            </a:r>
            <a:endParaRPr/>
          </a:p>
          <a:p xmlns:a="http://schemas.openxmlformats.org/drawingml/2006/main">
            <a:r>
              <a:t>Sources: https://github.com/loversky02/trajectory-retargeting-starter/blob/main/physics_replay/README.md</a:t>
            </a:r>
            <a:endParaRPr/>
          </a:p>
          <a:p xmlns:a="http://schemas.openxmlformats.org/drawingml/2006/main">
            <a:r>
              <a:t>https://github.com/loversky02/trajectory-retargeting-starter/blob/main/docs/marker-prototype.md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public starter offers a selected snapshot with a fresh Git history. The imported runtime code and benchmark manifests retain their provenance and hashes in provenance.json. The repository contains the reader deck, its PDF, and this companion guide. Model caches, generated runs, and scientific-paper PDFs are excluded from Git. Match runtime hashes when comparing reruns with the reference outcomes.</a:t>
            </a:r>
            <a:endParaRPr/>
          </a:p>
          <a:p xmlns:a="http://schemas.openxmlformats.org/drawingml/2006/main">
            <a:r>
              <a:t>Sources: https://github.com/loversky02/trajectory-retargeting-starter/blob/main/provenance.json</a:t>
            </a:r>
            <a:endParaRPr/>
          </a:p>
          <a:p xmlns:a="http://schemas.openxmlformats.org/drawingml/2006/main">
            <a:r>
              <a:t>https://github.com/loversky02/trajectory-retargeting-starter/blob/main/README.md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references include MimicGen 2310.17596, PSI 2602.13197v2, RIGVid 2507.00990v3, ThriftyDAgger 2109.08273, VR-DAgger 2605.27114v2, Meta Pose 2608.03516v1, SPARC 2606.13497v1, and ProxyPose 2607.06555v1. ProxyPose aligns benchmark depth to GT in the first frame; robot replay needs an independent scale reference. Rounded percentages do not identify Mirage’s N. Compatibility with k/186 does not establish one execution per CosmoH2G case. Cases sharing an object may be dependent. Consult the synthesis for ACT, Diffusion Policy, UMI, and Human2Sim2Robot.</a:t>
            </a:r>
            <a:endParaRPr/>
          </a:p>
          <a:p xmlns:a="http://schemas.openxmlformats.org/drawingml/2006/main">
            <a:r>
              <a:t>Sources: https://github.com/loversky02/trajectory-retargeting-starter/blob/main/docs/reading-guide.md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9d30871f1104c09"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7522cd36a58422f" /><Relationship Type="http://schemas.openxmlformats.org/officeDocument/2006/relationships/slideLayout" Target="/ppt/slideLayouts/slideLayout1.xml" Id="R5cb45fe0395d4563"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b45fe0395d4563"/>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a80ac595d5242b1" /><Relationship Type="http://schemas.openxmlformats.org/officeDocument/2006/relationships/notesSlide" Target="/ppt/notesSlides/notesSlide1.xml" Id="Rfdceed27707b4a3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793353b3bf64117" /><Relationship Type="http://schemas.openxmlformats.org/officeDocument/2006/relationships/hyperlink" Target="https://github.com/loversky02/trajectory-retargeting-starter/blob/main/docs/reader-guide.md" TargetMode="External" Id="R26c6c0646ea34a56" /><Relationship Type="http://schemas.openxmlformats.org/officeDocument/2006/relationships/notesSlide" Target="/ppt/notesSlides/notesSlide2.xml" Id="R33c9cf865ca44c8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37d608fb6ff4246" /><Relationship Type="http://schemas.openxmlformats.org/officeDocument/2006/relationships/hyperlink" Target="https://github.com/loversky02/trajectory-retargeting-starter/blob/main/docs/reader-guide.md" TargetMode="External" Id="R7c1ddbcaebea4a78" /><Relationship Type="http://schemas.openxmlformats.org/officeDocument/2006/relationships/notesSlide" Target="/ppt/notesSlides/notesSlide3.xml" Id="R0c88d12ed66848a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a28e38648b9449d" /><Relationship Type="http://schemas.openxmlformats.org/officeDocument/2006/relationships/hyperlink" Target="https://github.com/loversky02/trajectory-retargeting-starter/blob/main/docs/reader-guide.md" TargetMode="External" Id="Rd2fd71fcd3a8444d" /><Relationship Type="http://schemas.openxmlformats.org/officeDocument/2006/relationships/notesSlide" Target="/ppt/notesSlides/notesSlide4.xml" Id="Re734e9b83694429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813668746534cf6" /><Relationship Type="http://schemas.openxmlformats.org/officeDocument/2006/relationships/hyperlink" Target="https://github.com/loversky02/trajectory-retargeting-starter/blob/main/docs/reader-guide.md" TargetMode="External" Id="R9432637a03da46d2" /><Relationship Type="http://schemas.openxmlformats.org/officeDocument/2006/relationships/notesSlide" Target="/ppt/notesSlides/notesSlide5.xml" Id="R987150cf6e2f4e4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6aa7b97cbf14dd8" /><Relationship Type="http://schemas.openxmlformats.org/officeDocument/2006/relationships/hyperlink" Target="https://github.com/loversky02/trajectory-retargeting-starter/blob/main/docs/reader-guide.md" TargetMode="External" Id="R5c098f723c474b8e" /><Relationship Type="http://schemas.openxmlformats.org/officeDocument/2006/relationships/notesSlide" Target="/ppt/notesSlides/notesSlide6.xml" Id="Rfd646470b27c412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acb15fb378c4a5a" /><Relationship Type="http://schemas.openxmlformats.org/officeDocument/2006/relationships/hyperlink" Target="https://github.com/loversky02/trajectory-retargeting-starter/blob/main/docs/reader-guide.md" TargetMode="External" Id="R74cff25783c34e17" /><Relationship Type="http://schemas.openxmlformats.org/officeDocument/2006/relationships/notesSlide" Target="/ppt/notesSlides/notesSlide7.xml" Id="Re30540915ef3421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e5ce593dad04d38" /><Relationship Type="http://schemas.openxmlformats.org/officeDocument/2006/relationships/hyperlink" Target="https://github.com/loversky02/trajectory-retargeting-starter/blob/main/docs/reader-guide.md" TargetMode="External" Id="R303d978dfcaf449f" /><Relationship Type="http://schemas.openxmlformats.org/officeDocument/2006/relationships/notesSlide" Target="/ppt/notesSlides/notesSlide8.xml" Id="R50a8e7e3a23449d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b53db528a5a409a" /><Relationship Type="http://schemas.openxmlformats.org/officeDocument/2006/relationships/hyperlink" Target="https://github.com/loversky02/trajectory-retargeting-starter/blob/main/docs/reader-guide.md" TargetMode="External" Id="Rb0fdc3e31fa94593" /><Relationship Type="http://schemas.openxmlformats.org/officeDocument/2006/relationships/notesSlide" Target="/ppt/notesSlides/notesSlide9.xml" Id="R7092af21cceb468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79a62c8c554445b" /><Relationship Type="http://schemas.openxmlformats.org/officeDocument/2006/relationships/hyperlink" Target="https://github.com/loversky02/trajectory-retargeting-starter/blob/main/docs/reader-guide.md" TargetMode="External" Id="R473b5da603f54b42" /><Relationship Type="http://schemas.openxmlformats.org/officeDocument/2006/relationships/notesSlide" Target="/ppt/notesSlides/notesSlide10.xml" Id="Rb3ac340f47254f8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4a76aa4e91a4d84" /><Relationship Type="http://schemas.openxmlformats.org/officeDocument/2006/relationships/hyperlink" Target="https://github.com/loversky02/trajectory-retargeting-starter/blob/main/docs/reader-guide.md" TargetMode="External" Id="Rc7e8dd236e76401a" /><Relationship Type="http://schemas.openxmlformats.org/officeDocument/2006/relationships/notesSlide" Target="/ppt/notesSlides/notesSlide11.xml" Id="R67a2f6e083f3406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a73ad2693ae4dcf" /><Relationship Type="http://schemas.openxmlformats.org/officeDocument/2006/relationships/hyperlink" Target="https://github.com/loversky02/trajectory-retargeting-starter/blob/main/docs/reader-guide.md" TargetMode="External" Id="Rc5bde6ae70ff427d" /><Relationship Type="http://schemas.openxmlformats.org/officeDocument/2006/relationships/notesSlide" Target="/ppt/notesSlides/notesSlide12.xml" Id="Rb07a1b887302431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69c4136241c4054" /><Relationship Type="http://schemas.openxmlformats.org/officeDocument/2006/relationships/hyperlink" Target="https://github.com/loversky02/trajectory-retargeting-starter/blob/main/docs/reader-guide.md" TargetMode="External" Id="R50073acd7a104610" /><Relationship Type="http://schemas.openxmlformats.org/officeDocument/2006/relationships/notesSlide" Target="/ppt/notesSlides/notesSlide13.xml" Id="R6a4c67365aa941f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d91b2d120a64aae" /><Relationship Type="http://schemas.openxmlformats.org/officeDocument/2006/relationships/hyperlink" Target="https://github.com/loversky02/trajectory-retargeting-starter/blob/main/docs/reader-guide.md" TargetMode="External" Id="R0107dff4df3c47a6" /><Relationship Type="http://schemas.openxmlformats.org/officeDocument/2006/relationships/notesSlide" Target="/ppt/notesSlides/notesSlide14.xml" Id="Rf518649e1855470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4fd70fcee29429d" /><Relationship Type="http://schemas.openxmlformats.org/officeDocument/2006/relationships/hyperlink" Target="https://github.com/loversky02/trajectory-retargeting-starter/blob/main/docs/reader-guide.md" TargetMode="External" Id="Rc8a68f03f5894667" /><Relationship Type="http://schemas.openxmlformats.org/officeDocument/2006/relationships/notesSlide" Target="/ppt/notesSlides/notesSlide15.xml" Id="R9b38a2ebca104d2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a52772c102e4d65" /><Relationship Type="http://schemas.openxmlformats.org/officeDocument/2006/relationships/hyperlink" Target="https://github.com/loversky02/trajectory-retargeting-starter/blob/main/docs/reader-guide.md" TargetMode="External" Id="R96b9e2f19a884982" /><Relationship Type="http://schemas.openxmlformats.org/officeDocument/2006/relationships/notesSlide" Target="/ppt/notesSlides/notesSlide16.xml" Id="R85b6a3f2595c48c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81807685aa7496f" /><Relationship Type="http://schemas.openxmlformats.org/officeDocument/2006/relationships/hyperlink" Target="https://github.com/loversky02/trajectory-retargeting-starter/blob/main/docs/reader-guide.md" TargetMode="External" Id="Rf28abe42ed02466d" /><Relationship Type="http://schemas.openxmlformats.org/officeDocument/2006/relationships/notesSlide" Target="/ppt/notesSlides/notesSlide17.xml" Id="Rdbf6c17e3830449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2d96de4ec1c4b77" /><Relationship Type="http://schemas.openxmlformats.org/officeDocument/2006/relationships/hyperlink" Target="https://github.com/loversky02/trajectory-retargeting-starter/blob/main/docs/reader-guide.md" TargetMode="External" Id="R3d71b4b43a5646cb" /><Relationship Type="http://schemas.openxmlformats.org/officeDocument/2006/relationships/notesSlide" Target="/ppt/notesSlides/notesSlide18.xml" Id="Rfc866babab564c6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b41f2ee46ce485d" /><Relationship Type="http://schemas.openxmlformats.org/officeDocument/2006/relationships/hyperlink" Target="https://github.com/loversky02/trajectory-retargeting-starter/blob/main/docs/reader-guide.md" TargetMode="External" Id="R38a11817a85f4603" /><Relationship Type="http://schemas.openxmlformats.org/officeDocument/2006/relationships/notesSlide" Target="/ppt/notesSlides/notesSlide19.xml" Id="Rd59f0faa940f449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4dee46e133047b2" /><Relationship Type="http://schemas.openxmlformats.org/officeDocument/2006/relationships/hyperlink" Target="https://github.com/loversky02/trajectory-retargeting-starter/blob/main/docs/reader-guide.md" TargetMode="External" Id="R2af5601bc5a84e5f" /><Relationship Type="http://schemas.openxmlformats.org/officeDocument/2006/relationships/notesSlide" Target="/ppt/notesSlides/notesSlide20.xml" Id="Rc0d9af35bd30419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8fb2b00e1f04779" /><Relationship Type="http://schemas.openxmlformats.org/officeDocument/2006/relationships/hyperlink" Target="https://github.com/loversky02/trajectory-retargeting-starter/blob/main/docs/reader-guide.md" TargetMode="External" Id="R1a9f29fa4f104a4c" /><Relationship Type="http://schemas.openxmlformats.org/officeDocument/2006/relationships/notesSlide" Target="/ppt/notesSlides/notesSlide21.xml" Id="R44ab9eb1c3644e1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8ecc86a58024f95" /><Relationship Type="http://schemas.openxmlformats.org/officeDocument/2006/relationships/hyperlink" Target="https://github.com/loversky02/trajectory-retargeting-starter/blob/main/docs/reader-guide.md" TargetMode="External" Id="Rcb093ce4434e4ddc" /><Relationship Type="http://schemas.openxmlformats.org/officeDocument/2006/relationships/notesSlide" Target="/ppt/notesSlides/notesSlide22.xml" Id="R56b9d364d9ef460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3e69fc0d2714211" /><Relationship Type="http://schemas.openxmlformats.org/officeDocument/2006/relationships/hyperlink" Target="https://github.com/loversky02/trajectory-retargeting-starter/blob/main/docs/reader-guide.md" TargetMode="External" Id="R7f730687760a4e7f" /><Relationship Type="http://schemas.openxmlformats.org/officeDocument/2006/relationships/notesSlide" Target="/ppt/notesSlides/notesSlide23.xml" Id="R51ebea4ddf85447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7378be1cc084e66" /><Relationship Type="http://schemas.openxmlformats.org/officeDocument/2006/relationships/image" Target="/ppt/media/image.png" Id="R40482fd62f4a4ba0" /><Relationship Type="http://schemas.openxmlformats.org/officeDocument/2006/relationships/image" Target="/ppt/media/image2.png" Id="Rbe0368aa519d438c" /><Relationship Type="http://schemas.openxmlformats.org/officeDocument/2006/relationships/hyperlink" Target="https://github.com/loversky02/trajectory-retargeting-starter/blob/main/docs/reader-guide.md" TargetMode="External" Id="Rfbbd5e5092fa41ac" /><Relationship Type="http://schemas.openxmlformats.org/officeDocument/2006/relationships/notesSlide" Target="/ppt/notesSlides/notesSlide24.xml" Id="Rf030652adb7c450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7f2d98ef1fa4587" /><Relationship Type="http://schemas.openxmlformats.org/officeDocument/2006/relationships/hyperlink" Target="https://github.com/loversky02/trajectory-retargeting-starter/blob/main/docs/reader-guide.md" TargetMode="External" Id="Rb4ed847586ab42cd" /><Relationship Type="http://schemas.openxmlformats.org/officeDocument/2006/relationships/notesSlide" Target="/ppt/notesSlides/notesSlide25.xml" Id="R4f1a39bb36b24f4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8f283c92a0d94f1b" /><Relationship Type="http://schemas.openxmlformats.org/officeDocument/2006/relationships/hyperlink" Target="https://github.com/loversky02/trajectory-retargeting-starter/blob/main/docs/reader-guide.md" TargetMode="External" Id="Rca900000b7ab44ea" /><Relationship Type="http://schemas.openxmlformats.org/officeDocument/2006/relationships/notesSlide" Target="/ppt/notesSlides/notesSlide26.xml" Id="R5fb596e96980434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02c4a381371049da" /><Relationship Type="http://schemas.openxmlformats.org/officeDocument/2006/relationships/hyperlink" Target="https://github.com/loversky02/trajectory-retargeting-starter/blob/main/docs/reader-guide.md" TargetMode="External" Id="R3e53e73a6fcb4b65" /><Relationship Type="http://schemas.openxmlformats.org/officeDocument/2006/relationships/notesSlide" Target="/ppt/notesSlides/notesSlide27.xml" Id="R37d067a509cf44b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8eafe00dbcf482e" /><Relationship Type="http://schemas.openxmlformats.org/officeDocument/2006/relationships/hyperlink" Target="https://github.com/loversky02/trajectory-retargeting-starter/blob/main/docs/reader-guide.md" TargetMode="External" Id="R42019cfd79cb4209" /><Relationship Type="http://schemas.openxmlformats.org/officeDocument/2006/relationships/notesSlide" Target="/ppt/notesSlides/notesSlide28.xml" Id="R39c0a1c4122844e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a88bb56181934490" /><Relationship Type="http://schemas.openxmlformats.org/officeDocument/2006/relationships/hyperlink" Target="https://github.com/loversky02/trajectory-retargeting-starter/blob/main/docs/reader-guide.md" TargetMode="External" Id="Rf56889603fbd4515" /><Relationship Type="http://schemas.openxmlformats.org/officeDocument/2006/relationships/notesSlide" Target="/ppt/notesSlides/notesSlide29.xml" Id="Rdb006b629ce54df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de185968906c4ea6" /><Relationship Type="http://schemas.openxmlformats.org/officeDocument/2006/relationships/hyperlink" Target="https://github.com/loversky02/trajectory-retargeting-starter/blob/main/physics_replay/README.md" TargetMode="External" Id="R440449f005674320" /><Relationship Type="http://schemas.openxmlformats.org/officeDocument/2006/relationships/hyperlink" Target="https://github.com/loversky02/trajectory-retargeting-starter/blob/main/physics_replay/README.md" TargetMode="External" Id="R4160b004c0514c9b" /><Relationship Type="http://schemas.openxmlformats.org/officeDocument/2006/relationships/hyperlink" Target="https://github.com/loversky02/trajectory-retargeting-starter/blob/main/physics_replay/README.md" TargetMode="External" Id="R3486d74b95dc41c3" /><Relationship Type="http://schemas.openxmlformats.org/officeDocument/2006/relationships/hyperlink" Target="https://github.com/loversky02/trajectory-retargeting-starter/blob/main/physics_replay/README.md" TargetMode="External" Id="Rf020ffb144f94083" /><Relationship Type="http://schemas.openxmlformats.org/officeDocument/2006/relationships/hyperlink" Target="https://colab.research.google.com/github/loversky02/trajectory-retargeting-starter/blob/main/physics_replay/colab_physics_replay.ipynb" TargetMode="External" Id="R7c68cfee455d4a42" /><Relationship Type="http://schemas.openxmlformats.org/officeDocument/2006/relationships/hyperlink" Target="https://colab.research.google.com/github/loversky02/trajectory-retargeting-starter/blob/main/physics_replay/colab_physics_replay.ipynb" TargetMode="External" Id="Rc2e5fc481dac49fa" /><Relationship Type="http://schemas.openxmlformats.org/officeDocument/2006/relationships/hyperlink" Target="https://colab.research.google.com/github/loversky02/trajectory-retargeting-starter/blob/main/physics_replay/colab_physics_replay.ipynb" TargetMode="External" Id="R9664ca9bd26c4eff" /><Relationship Type="http://schemas.openxmlformats.org/officeDocument/2006/relationships/hyperlink" Target="https://colab.research.google.com/github/loversky02/trajectory-retargeting-starter/blob/main/physics_replay/colab_physics_replay.ipynb" TargetMode="External" Id="R37b6d5b46c5e457d" /><Relationship Type="http://schemas.openxmlformats.org/officeDocument/2006/relationships/hyperlink" Target="https://github.com/loversky02/trajectory-retargeting-starter/tree/main/physics_replay/results/bench-heldout-seed7-n100" TargetMode="External" Id="Rfd925871e2b54565" /><Relationship Type="http://schemas.openxmlformats.org/officeDocument/2006/relationships/hyperlink" Target="https://github.com/loversky02/trajectory-retargeting-starter/tree/main/physics_replay/results/bench-heldout-seed7-n100" TargetMode="External" Id="R0564eb96b331454d" /><Relationship Type="http://schemas.openxmlformats.org/officeDocument/2006/relationships/hyperlink" Target="https://github.com/loversky02/trajectory-retargeting-starter/tree/main/physics_replay/results/bench-heldout-seed7-n100" TargetMode="External" Id="R320466af341c467b" /><Relationship Type="http://schemas.openxmlformats.org/officeDocument/2006/relationships/hyperlink" Target="https://github.com/loversky02/trajectory-retargeting-starter/tree/main/physics_replay/results/bench-heldout-seed7-n100" TargetMode="External" Id="R80b99e6885464d91" /><Relationship Type="http://schemas.openxmlformats.org/officeDocument/2006/relationships/hyperlink" Target="https://github.com/loversky02/trajectory-retargeting-starter/blob/main/physics_replay/examples/panda_pick_place_10hz.json" TargetMode="External" Id="R5a3c6adb3e1e4802" /><Relationship Type="http://schemas.openxmlformats.org/officeDocument/2006/relationships/hyperlink" Target="https://github.com/loversky02/trajectory-retargeting-starter/blob/main/physics_replay/examples/panda_pick_place_10hz.json" TargetMode="External" Id="R464d20d7a97e4576" /><Relationship Type="http://schemas.openxmlformats.org/officeDocument/2006/relationships/hyperlink" Target="https://github.com/loversky02/trajectory-retargeting-starter/blob/main/physics_replay/examples/panda_pick_place_10hz.json" TargetMode="External" Id="Refcffaa1a2154f3e" /><Relationship Type="http://schemas.openxmlformats.org/officeDocument/2006/relationships/hyperlink" Target="https://github.com/loversky02/trajectory-retargeting-starter/blob/main/physics_replay/examples/panda_pick_place_10hz.json" TargetMode="External" Id="R506135fb17e54006" /><Relationship Type="http://schemas.openxmlformats.org/officeDocument/2006/relationships/hyperlink" Target="https://github.com/loversky02/trajectory-retargeting-starter/blob/main/docs/reader-guide.md" TargetMode="External" Id="Rec13a06e0972415a" /><Relationship Type="http://schemas.openxmlformats.org/officeDocument/2006/relationships/hyperlink" Target="https://github.com/loversky02/trajectory-retargeting-starter/blob/main/docs/reader-guide.md" TargetMode="External" Id="Re29d463f514c4bb1" /><Relationship Type="http://schemas.openxmlformats.org/officeDocument/2006/relationships/hyperlink" Target="https://github.com/loversky02/trajectory-retargeting-starter/blob/main/docs/reader-guide.md" TargetMode="External" Id="R2bbb665947624619" /><Relationship Type="http://schemas.openxmlformats.org/officeDocument/2006/relationships/hyperlink" Target="https://github.com/loversky02/trajectory-retargeting-starter/blob/main/docs/reader-guide.md" TargetMode="External" Id="R53d8d7397db745fa" /><Relationship Type="http://schemas.openxmlformats.org/officeDocument/2006/relationships/hyperlink" Target="https://github.com/loversky02/trajectory-retargeting-starter/blob/main/docs/marker-prototype.md" TargetMode="External" Id="R5ec0f5da2feb4680" /><Relationship Type="http://schemas.openxmlformats.org/officeDocument/2006/relationships/hyperlink" Target="https://github.com/loversky02/trajectory-retargeting-starter/blob/main/docs/marker-prototype.md" TargetMode="External" Id="Rced5d38c6cd848f0" /><Relationship Type="http://schemas.openxmlformats.org/officeDocument/2006/relationships/hyperlink" Target="https://github.com/loversky02/trajectory-retargeting-starter/blob/main/docs/marker-prototype.md" TargetMode="External" Id="R4ffadf54bbc84117" /><Relationship Type="http://schemas.openxmlformats.org/officeDocument/2006/relationships/hyperlink" Target="https://github.com/loversky02/trajectory-retargeting-starter/blob/main/docs/marker-prototype.md" TargetMode="External" Id="R55f158d70da645fb" /><Relationship Type="http://schemas.openxmlformats.org/officeDocument/2006/relationships/hyperlink" Target="https://github.com/loversky02/trajectory-retargeting-starter/blob/main/docs/reading-guide.md" TargetMode="External" Id="R416904a45b4a47ae" /><Relationship Type="http://schemas.openxmlformats.org/officeDocument/2006/relationships/hyperlink" Target="https://github.com/loversky02/trajectory-retargeting-starter/blob/main/docs/reading-guide.md" TargetMode="External" Id="R74792f32c4c946bc" /><Relationship Type="http://schemas.openxmlformats.org/officeDocument/2006/relationships/hyperlink" Target="https://github.com/loversky02/trajectory-retargeting-starter/blob/main/docs/reading-guide.md" TargetMode="External" Id="Rbc210dab9ca94ed1" /><Relationship Type="http://schemas.openxmlformats.org/officeDocument/2006/relationships/hyperlink" Target="https://github.com/loversky02/trajectory-retargeting-starter/blob/main/docs/reading-guide.md" TargetMode="External" Id="Rcd41cdaa0c1b44bb" /><Relationship Type="http://schemas.openxmlformats.org/officeDocument/2006/relationships/hyperlink" Target="https://github.com/loversky02/trajectory-retargeting-starter/blob/main/docs/reader-guide.md" TargetMode="External" Id="R7e803ff9d0214d3e" /><Relationship Type="http://schemas.openxmlformats.org/officeDocument/2006/relationships/notesSlide" Target="/ppt/notesSlides/notesSlide30.xml" Id="Re0253311d2594152"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7aa1f772b4ee4209" /><Relationship Type="http://schemas.openxmlformats.org/officeDocument/2006/relationships/hyperlink" Target="https://arxiv.org/abs/2310.17596" TargetMode="External" Id="R6f3632f4582a4f87" /><Relationship Type="http://schemas.openxmlformats.org/officeDocument/2006/relationships/hyperlink" Target="https://arxiv.org/abs/2310.17596" TargetMode="External" Id="R6986079d9f6f4b7e" /><Relationship Type="http://schemas.openxmlformats.org/officeDocument/2006/relationships/hyperlink" Target="https://arxiv.org/abs/2310.17596" TargetMode="External" Id="Rb6f5423e4b4a4e08" /><Relationship Type="http://schemas.openxmlformats.org/officeDocument/2006/relationships/hyperlink" Target="https://arxiv.org/abs/2310.17596" TargetMode="External" Id="R815a73ebb9c0480a" /><Relationship Type="http://schemas.openxmlformats.org/officeDocument/2006/relationships/hyperlink" Target="https://arxiv.org/abs/2602.13197v2" TargetMode="External" Id="R2c0e02e258c34d3b" /><Relationship Type="http://schemas.openxmlformats.org/officeDocument/2006/relationships/hyperlink" Target="https://arxiv.org/abs/2602.13197v2" TargetMode="External" Id="R878d778a0c3d4ca5" /><Relationship Type="http://schemas.openxmlformats.org/officeDocument/2006/relationships/hyperlink" Target="https://arxiv.org/abs/2602.13197v2" TargetMode="External" Id="R112ae5a0ff7a4dab" /><Relationship Type="http://schemas.openxmlformats.org/officeDocument/2006/relationships/hyperlink" Target="https://arxiv.org/abs/2602.13197v2" TargetMode="External" Id="R57f60894947c4302" /><Relationship Type="http://schemas.openxmlformats.org/officeDocument/2006/relationships/hyperlink" Target="https://arxiv.org/abs/2507.00990v3" TargetMode="External" Id="Rcde76d689fce4343" /><Relationship Type="http://schemas.openxmlformats.org/officeDocument/2006/relationships/hyperlink" Target="https://arxiv.org/abs/2507.00990v3" TargetMode="External" Id="Rc11032f20c7048af" /><Relationship Type="http://schemas.openxmlformats.org/officeDocument/2006/relationships/hyperlink" Target="https://arxiv.org/abs/2507.00990v3" TargetMode="External" Id="R5ffb4e051081468f" /><Relationship Type="http://schemas.openxmlformats.org/officeDocument/2006/relationships/hyperlink" Target="https://arxiv.org/abs/2507.00990v3" TargetMode="External" Id="Rd05b9ddb5c8d435f" /><Relationship Type="http://schemas.openxmlformats.org/officeDocument/2006/relationships/hyperlink" Target="https://arxiv.org/abs/2109.08273" TargetMode="External" Id="R226ab81441324601" /><Relationship Type="http://schemas.openxmlformats.org/officeDocument/2006/relationships/hyperlink" Target="https://arxiv.org/abs/2109.08273" TargetMode="External" Id="Rc78a67ed03444991" /><Relationship Type="http://schemas.openxmlformats.org/officeDocument/2006/relationships/hyperlink" Target="https://arxiv.org/abs/2109.08273" TargetMode="External" Id="Rb16498066d7144c2" /><Relationship Type="http://schemas.openxmlformats.org/officeDocument/2006/relationships/hyperlink" Target="https://arxiv.org/abs/2109.08273" TargetMode="External" Id="R9107bb718a3f44ea" /><Relationship Type="http://schemas.openxmlformats.org/officeDocument/2006/relationships/hyperlink" Target="https://arxiv.org/abs/2607.06555v1" TargetMode="External" Id="R6dc2d36ccd4b4413" /><Relationship Type="http://schemas.openxmlformats.org/officeDocument/2006/relationships/hyperlink" Target="https://arxiv.org/abs/2607.06555v1" TargetMode="External" Id="Reac7b5c913514e24" /><Relationship Type="http://schemas.openxmlformats.org/officeDocument/2006/relationships/hyperlink" Target="https://arxiv.org/abs/2607.06555v1" TargetMode="External" Id="Ra2a3a1bf464745b3" /><Relationship Type="http://schemas.openxmlformats.org/officeDocument/2006/relationships/hyperlink" Target="https://arxiv.org/abs/2607.06555v1" TargetMode="External" Id="R0b74513690e146be" /><Relationship Type="http://schemas.openxmlformats.org/officeDocument/2006/relationships/hyperlink" Target="https://arxiv.org/abs/2605.27114v2" TargetMode="External" Id="R473a2ac6e4324e2f" /><Relationship Type="http://schemas.openxmlformats.org/officeDocument/2006/relationships/hyperlink" Target="https://arxiv.org/abs/2605.27114v2" TargetMode="External" Id="Rbc4b36e1a1e04faa" /><Relationship Type="http://schemas.openxmlformats.org/officeDocument/2006/relationships/hyperlink" Target="https://arxiv.org/abs/2605.27114v2" TargetMode="External" Id="R9f0096471eb34e6f" /><Relationship Type="http://schemas.openxmlformats.org/officeDocument/2006/relationships/hyperlink" Target="https://arxiv.org/abs/2605.27114v2" TargetMode="External" Id="R7c952a3cc91245c7" /><Relationship Type="http://schemas.openxmlformats.org/officeDocument/2006/relationships/hyperlink" Target="https://arxiv.org/abs/2608.03516v1" TargetMode="External" Id="Rf55720847fc84952" /><Relationship Type="http://schemas.openxmlformats.org/officeDocument/2006/relationships/hyperlink" Target="https://arxiv.org/abs/2608.03516v1" TargetMode="External" Id="R8f7d7beda2a64799" /><Relationship Type="http://schemas.openxmlformats.org/officeDocument/2006/relationships/hyperlink" Target="https://arxiv.org/abs/2608.03516v1" TargetMode="External" Id="R2ae8561501f540fe" /><Relationship Type="http://schemas.openxmlformats.org/officeDocument/2006/relationships/hyperlink" Target="https://arxiv.org/abs/2608.03516v1" TargetMode="External" Id="Rf3c99f73167248cb" /><Relationship Type="http://schemas.openxmlformats.org/officeDocument/2006/relationships/hyperlink" Target="https://arxiv.org/abs/2606.13497v1" TargetMode="External" Id="R4ba210784b6d41be" /><Relationship Type="http://schemas.openxmlformats.org/officeDocument/2006/relationships/hyperlink" Target="https://arxiv.org/abs/2606.13497v1" TargetMode="External" Id="R3355f43d15134358" /><Relationship Type="http://schemas.openxmlformats.org/officeDocument/2006/relationships/hyperlink" Target="https://arxiv.org/abs/2606.13497v1" TargetMode="External" Id="Rf2d5c713e5df48f0" /><Relationship Type="http://schemas.openxmlformats.org/officeDocument/2006/relationships/hyperlink" Target="https://arxiv.org/abs/2606.13497v1" TargetMode="External" Id="Rdea9b40f49894853" /><Relationship Type="http://schemas.openxmlformats.org/officeDocument/2006/relationships/hyperlink" Target="https://arxiv.org/abs/2304.13705" TargetMode="External" Id="R52c5bdb4678d43b6" /><Relationship Type="http://schemas.openxmlformats.org/officeDocument/2006/relationships/hyperlink" Target="https://arxiv.org/abs/2304.13705" TargetMode="External" Id="Ra3923adc42044758" /><Relationship Type="http://schemas.openxmlformats.org/officeDocument/2006/relationships/hyperlink" Target="https://arxiv.org/abs/2304.13705" TargetMode="External" Id="R3e5a7c08ff804648" /><Relationship Type="http://schemas.openxmlformats.org/officeDocument/2006/relationships/hyperlink" Target="https://arxiv.org/abs/2304.13705" TargetMode="External" Id="R8c203af0395d44ee" /><Relationship Type="http://schemas.openxmlformats.org/officeDocument/2006/relationships/hyperlink" Target="https://diffusion-policy.cs.columbia.edu/" TargetMode="External" Id="R9a65325451c34ab7" /><Relationship Type="http://schemas.openxmlformats.org/officeDocument/2006/relationships/hyperlink" Target="https://diffusion-policy.cs.columbia.edu/" TargetMode="External" Id="Rf838dc13a5ae4d4b" /><Relationship Type="http://schemas.openxmlformats.org/officeDocument/2006/relationships/hyperlink" Target="https://diffusion-policy.cs.columbia.edu/" TargetMode="External" Id="R8e1fb77c3d704416" /><Relationship Type="http://schemas.openxmlformats.org/officeDocument/2006/relationships/hyperlink" Target="https://diffusion-policy.cs.columbia.edu/" TargetMode="External" Id="R639e1e03245e4e24" /><Relationship Type="http://schemas.openxmlformats.org/officeDocument/2006/relationships/hyperlink" Target="https://github.com/loversky02/trajectory-retargeting-starter/blob/main/docs/reader-guide.md" TargetMode="External" Id="Raccbef0d5d6e454d" /><Relationship Type="http://schemas.openxmlformats.org/officeDocument/2006/relationships/notesSlide" Target="/ppt/notesSlides/notesSlide31.xml" Id="R7c632ddd4e6e4294" /></Relationships>
</file>

<file path=ppt/slides/slide1.xml><?xml version="1.0" encoding="utf-8"?>
<p:sld xmlns:p="http://schemas.openxmlformats.org/presentationml/2006/main">
  <p:cSld>
    <p:bg>
      <p:bgPr>
        <a:solidFill xmlns:a="http://schemas.openxmlformats.org/drawingml/2006/main">
          <a:srgbClr val="16344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AF91459-F773-41E7-B177-4296A3A1E507}"/>
              </a:ext>
            </a:extLst>
          </p:cNvPr>
          <p:cNvSpPr>
            <a:spLocks xmlns:a="http://schemas.openxmlformats.org/drawingml/2006/main" noGrp="1"/>
          </p:cNvSpPr>
          <p:nvPr/>
        </p:nvSpPr>
        <p:spPr>
          <a:xfrm xmlns:a="http://schemas.openxmlformats.org/drawingml/2006/main">
            <a:off x="685800" y="1125736"/>
            <a:ext cx="7927848" cy="141684"/>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116"/>
              </a:lnSpc>
              <a:buNone/>
              <a:defRPr sz="900" b="1">
                <a:solidFill>
                  <a:srgbClr val="62C7D6"/>
                </a:solidFill>
                <a:latin typeface="Arial"/>
                <a:ea typeface="Arial"/>
                <a:cs typeface="Arial"/>
              </a:defRPr>
            </a:pPr>
            <a:r>
              <a:rPr sz="900" b="1">
                <a:solidFill>
                  <a:srgbClr val="62C7D6"/>
                </a:solidFill>
                <a:latin typeface="Arial"/>
                <a:ea typeface="Arial"/>
                <a:cs typeface="Arial"/>
              </a:rPr>
              <a:t>FALL 2026 · READER DECK</a:t>
            </a:r>
            <a:endParaRPr sz="900"/>
          </a:p>
        </p:txBody>
      </p:sp>
      <p:sp>
        <p:nvSpPr>
          <p:cNvPr id="3" name="Text 1">
            <a:extLst xmlns:a="http://schemas.openxmlformats.org/drawingml/2006/main">
              <a:ext uri="{FF2B5EF4-FFF2-40B4-BE49-F238E27FC236}">
                <a16:creationId xmlns:a16="http://schemas.microsoft.com/office/drawing/2014/main" id="{DDC0F6B7-C9F0-437A-9490-C6DA629D9C83}"/>
              </a:ext>
            </a:extLst>
          </p:cNvPr>
          <p:cNvSpPr>
            <a:spLocks xmlns:a="http://schemas.openxmlformats.org/drawingml/2006/main" noGrp="1"/>
          </p:cNvSpPr>
          <p:nvPr/>
        </p:nvSpPr>
        <p:spPr>
          <a:xfrm xmlns:a="http://schemas.openxmlformats.org/drawingml/2006/main">
            <a:off x="685800" y="1343620"/>
            <a:ext cx="7901889" cy="143991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3780"/>
              </a:lnSpc>
              <a:spcBef>
                <a:spcPts val="600"/>
              </a:spcBef>
              <a:spcAft>
                <a:spcPts val="1200"/>
              </a:spcAft>
              <a:buNone/>
              <a:defRPr sz="3500" b="1">
                <a:solidFill>
                  <a:srgbClr val="FFFFFF"/>
                </a:solidFill>
                <a:latin typeface="Arial"/>
                <a:ea typeface="Arial"/>
                <a:cs typeface="Arial"/>
              </a:defRPr>
            </a:pPr>
            <a:r>
              <a:rPr sz="3500" b="1">
                <a:solidFill>
                  <a:srgbClr val="FFFFFF"/>
                </a:solidFill>
                <a:latin typeface="Arial"/>
                <a:ea typeface="Arial"/>
                <a:cs typeface="Arial"/>
              </a:rPr>
              <a:t>Trajectory Extraction, Cross-Embodiment Retargeting &amp; TeleGuide</a:t>
            </a:r>
            <a:endParaRPr sz="3500"/>
          </a:p>
        </p:txBody>
      </p:sp>
      <p:sp>
        <p:nvSpPr>
          <p:cNvPr id="4" name="Text 2">
            <a:extLst xmlns:a="http://schemas.openxmlformats.org/drawingml/2006/main">
              <a:ext uri="{FF2B5EF4-FFF2-40B4-BE49-F238E27FC236}">
                <a16:creationId xmlns:a16="http://schemas.microsoft.com/office/drawing/2014/main" id="{8C1F2353-AB0E-458D-AC49-9E72B6A91D90}"/>
              </a:ext>
            </a:extLst>
          </p:cNvPr>
          <p:cNvSpPr>
            <a:spLocks xmlns:a="http://schemas.openxmlformats.org/drawingml/2006/main" noGrp="1"/>
          </p:cNvSpPr>
          <p:nvPr/>
        </p:nvSpPr>
        <p:spPr>
          <a:xfrm xmlns:a="http://schemas.openxmlformats.org/drawingml/2006/main">
            <a:off x="685800" y="2935932"/>
            <a:ext cx="7383780"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60"/>
              </a:lnSpc>
              <a:buNone/>
              <a:defRPr sz="1500" b="0">
                <a:solidFill>
                  <a:srgbClr val="D6E4F0"/>
                </a:solidFill>
                <a:latin typeface="Arial"/>
                <a:ea typeface="Arial"/>
                <a:cs typeface="Arial"/>
              </a:defRPr>
            </a:pPr>
            <a:r>
              <a:rPr sz="1500" b="0">
                <a:solidFill>
                  <a:srgbClr val="D6E4F0"/>
                </a:solidFill>
                <a:latin typeface="Arial"/>
                <a:ea typeface="Arial"/>
                <a:cs typeface="Arial"/>
              </a:rPr>
              <a:t>A research reference pack covering prior work, Panda/UR5e replay, pose uncertainty, budgeted correction, and reproducible experiments.</a:t>
            </a:r>
            <a:endParaRPr sz="1500"/>
          </a:p>
        </p:txBody>
      </p:sp>
      <p:sp>
        <p:nvSpPr>
          <p:cNvPr id="5" name="Shape 3">
            <a:extLst xmlns:a="http://schemas.openxmlformats.org/drawingml/2006/main">
              <a:ext uri="{FF2B5EF4-FFF2-40B4-BE49-F238E27FC236}">
                <a16:creationId xmlns:a16="http://schemas.microsoft.com/office/drawing/2014/main" id="{042413DF-F11A-4BAB-9D5D-161501DCCF74}"/>
              </a:ext>
            </a:extLst>
          </p:cNvPr>
          <p:cNvSpPr>
            <a:spLocks xmlns:a="http://schemas.openxmlformats.org/drawingml/2006/main" noGrp="1"/>
          </p:cNvSpPr>
          <p:nvPr/>
        </p:nvSpPr>
        <p:spPr>
          <a:xfrm xmlns:a="http://schemas.openxmlformats.org/drawingml/2006/main">
            <a:off x="0" y="4284762"/>
            <a:ext cx="9144000" cy="0"/>
          </a:xfrm>
          <a:prstGeom xmlns:a="http://schemas.openxmlformats.org/drawingml/2006/main" prst="line">
            <a:avLst/>
          </a:prstGeom>
          <a:noFill xmlns:a="http://schemas.openxmlformats.org/drawingml/2006/main"/>
          <a:ln xmlns:a="http://schemas.openxmlformats.org/drawingml/2006/main" w="9525">
            <a:solidFill>
              <a:srgbClr val="45647E"/>
            </a:solidFill>
            <a:prstDash val="solid"/>
          </a:ln>
        </p:spPr>
      </p:sp>
      <p:sp>
        <p:nvSpPr>
          <p:cNvPr id="6" name="Text 4">
            <a:extLst xmlns:a="http://schemas.openxmlformats.org/drawingml/2006/main">
              <a:ext uri="{FF2B5EF4-FFF2-40B4-BE49-F238E27FC236}">
                <a16:creationId xmlns:a16="http://schemas.microsoft.com/office/drawing/2014/main" id="{1F47ECEC-4731-4B62-803D-0E231EFEDF0C}"/>
              </a:ext>
            </a:extLst>
          </p:cNvPr>
          <p:cNvSpPr>
            <a:spLocks xmlns:a="http://schemas.openxmlformats.org/drawingml/2006/main" noGrp="1"/>
          </p:cNvSpPr>
          <p:nvPr/>
        </p:nvSpPr>
        <p:spPr>
          <a:xfrm xmlns:a="http://schemas.openxmlformats.org/drawingml/2006/main">
            <a:off x="685800" y="4599718"/>
            <a:ext cx="428625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240"/>
              </a:lnSpc>
              <a:buNone/>
              <a:defRPr sz="1000" b="1">
                <a:solidFill>
                  <a:srgbClr val="D6E4F0"/>
                </a:solidFill>
                <a:latin typeface="Arial"/>
                <a:ea typeface="Arial"/>
                <a:cs typeface="Arial"/>
              </a:defRPr>
            </a:pPr>
            <a:r>
              <a:rPr sz="1000" b="1">
                <a:solidFill>
                  <a:srgbClr val="D6E4F0"/>
                </a:solidFill>
                <a:latin typeface="Arial"/>
                <a:ea typeface="Arial"/>
                <a:cs typeface="Arial"/>
              </a:rPr>
              <a:t>Reference material for senior CS students</a:t>
            </a:r>
            <a:endParaRPr sz="1000"/>
          </a:p>
        </p:txBody>
      </p:sp>
      <p:sp>
        <p:nvSpPr>
          <p:cNvPr id="7" name="Text 5">
            <a:extLst xmlns:a="http://schemas.openxmlformats.org/drawingml/2006/main">
              <a:ext uri="{FF2B5EF4-FFF2-40B4-BE49-F238E27FC236}">
                <a16:creationId xmlns:a16="http://schemas.microsoft.com/office/drawing/2014/main" id="{CA134BC6-BB21-4332-AB11-5C351FDC312B}"/>
              </a:ext>
            </a:extLst>
          </p:cNvPr>
          <p:cNvSpPr>
            <a:spLocks xmlns:a="http://schemas.openxmlformats.org/drawingml/2006/main" noGrp="1"/>
          </p:cNvSpPr>
          <p:nvPr/>
        </p:nvSpPr>
        <p:spPr>
          <a:xfrm xmlns:a="http://schemas.openxmlformats.org/drawingml/2006/main">
            <a:off x="6990011" y="4599682"/>
            <a:ext cx="1497553" cy="157311"/>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240"/>
              </a:lnSpc>
              <a:buNone/>
              <a:defRPr sz="1000" b="0">
                <a:solidFill>
                  <a:srgbClr val="D6E4F0"/>
                </a:solidFill>
                <a:latin typeface="Arial"/>
                <a:ea typeface="Arial"/>
                <a:cs typeface="Arial"/>
              </a:defRPr>
            </a:pPr>
            <a:r>
              <a:rPr sz="1000" b="0">
                <a:solidFill>
                  <a:srgbClr val="D6E4F0"/>
                </a:solidFill>
                <a:latin typeface="Arial"/>
                <a:ea typeface="Arial"/>
                <a:cs typeface="Arial"/>
              </a:rPr>
              <a:t>06 October 2026 · v2.0</a:t>
            </a:r>
            <a:endParaRPr sz="1000"/>
          </a:p>
        </p:txBody>
      </p:sp>
      <p:sp>
        <p:nvSpPr>
          <p:cNvPr id="8" name="Text 6">
            <a:extLst xmlns:a="http://schemas.openxmlformats.org/drawingml/2006/main">
              <a:ext uri="{FF2B5EF4-FFF2-40B4-BE49-F238E27FC236}">
                <a16:creationId xmlns:a16="http://schemas.microsoft.com/office/drawing/2014/main" id="{2EBDBE08-8E82-4DCA-9900-78FB275B324F}"/>
              </a:ext>
            </a:extLst>
          </p:cNvPr>
          <p:cNvSpPr>
            <a:spLocks xmlns:a="http://schemas.openxmlformats.org/drawingml/2006/main" noGrp="1"/>
          </p:cNvSpPr>
          <p:nvPr/>
        </p:nvSpPr>
        <p:spPr>
          <a:xfrm xmlns:a="http://schemas.openxmlformats.org/drawingml/2006/main">
            <a:off x="0" y="5067300"/>
            <a:ext cx="9144000" cy="76200"/>
          </a:xfrm>
          <a:prstGeom xmlns:a="http://schemas.openxmlformats.org/drawingml/2006/main" prst="rect">
            <a:avLst/>
          </a:prstGeom>
          <a:solidFill xmlns:a="http://schemas.openxmlformats.org/drawingml/2006/main">
            <a:srgbClr val="D63B4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9" name="Text 7">
            <a:extLst xmlns:a="http://schemas.openxmlformats.org/drawingml/2006/main">
              <a:ext uri="{FF2B5EF4-FFF2-40B4-BE49-F238E27FC236}">
                <a16:creationId xmlns:a16="http://schemas.microsoft.com/office/drawing/2014/main" id="{229F5728-70A0-4CDD-852D-FDC2420A2B6C}"/>
              </a:ext>
            </a:extLst>
          </p:cNvPr>
          <p:cNvSpPr>
            <a:spLocks xmlns:a="http://schemas.openxmlformats.org/drawingml/2006/main" noGrp="1"/>
          </p:cNvSpPr>
          <p:nvPr/>
        </p:nvSpPr>
        <p:spPr>
          <a:xfrm xmlns:a="http://schemas.openxmlformats.org/drawingml/2006/main">
            <a:off x="8339328" y="4965192"/>
            <a:ext cx="502920"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60">
                <a:solidFill>
                  <a:srgbClr val="7A8794"/>
                </a:solidFill>
                <a:latin typeface="Arial"/>
                <a:ea typeface="Arial"/>
                <a:cs typeface="Arial"/>
              </a:rPr>
              <a:t>1 / 31</a:t>
            </a:r>
            <a:endParaRPr sz="660"/>
          </a:p>
        </p:txBody>
      </p:sp>
    </p:spTree>
    <p:extLst>
      <p:ext uri="{BB962C8B-B14F-4D97-AF65-F5344CB8AC3E}">
        <p14:creationId xmlns:p14="http://schemas.microsoft.com/office/powerpoint/2010/main" val="104052391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5932341-AECF-43CD-80B9-0F1BE191C2B9}"/>
              </a:ext>
            </a:extLst>
          </p:cNvPr>
          <p:cNvSpPr>
            <a:spLocks xmlns:a="http://schemas.openxmlformats.org/drawingml/2006/main" noGrp="1"/>
          </p:cNvSpPr>
          <p:nvPr/>
        </p:nvSpPr>
        <p:spPr>
          <a:xfrm xmlns:a="http://schemas.openxmlformats.org/drawingml/2006/main">
            <a:off x="0" y="0"/>
            <a:ext cx="9144000" cy="609600"/>
          </a:xfrm>
          <a:prstGeom xmlns:a="http://schemas.openxmlformats.org/drawingml/2006/main" prst="rect">
            <a:avLst/>
          </a:prstGeom>
          <a:solidFill xmlns:a="http://schemas.openxmlformats.org/drawingml/2006/main">
            <a:srgbClr val="234D7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3" name="Text 1">
            <a:extLst xmlns:a="http://schemas.openxmlformats.org/drawingml/2006/main">
              <a:ext uri="{FF2B5EF4-FFF2-40B4-BE49-F238E27FC236}">
                <a16:creationId xmlns:a16="http://schemas.microsoft.com/office/drawing/2014/main" id="{1F3AB625-8F8A-4DB9-8A00-6A8B23CD69FC}"/>
              </a:ext>
            </a:extLst>
          </p:cNvPr>
          <p:cNvSpPr>
            <a:spLocks xmlns:a="http://schemas.openxmlformats.org/drawingml/2006/main" noGrp="1"/>
          </p:cNvSpPr>
          <p:nvPr/>
        </p:nvSpPr>
        <p:spPr>
          <a:xfrm xmlns:a="http://schemas.openxmlformats.org/drawingml/2006/main">
            <a:off x="330136" y="164116"/>
            <a:ext cx="6619875" cy="3238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2415"/>
              </a:lnSpc>
              <a:buNone/>
              <a:defRPr sz="2300" b="1">
                <a:solidFill>
                  <a:srgbClr val="FFFFFF"/>
                </a:solidFill>
                <a:latin typeface="Arial"/>
                <a:ea typeface="Arial"/>
                <a:cs typeface="Arial"/>
              </a:defRPr>
            </a:pPr>
            <a:r>
              <a:rPr sz="2300" b="1">
                <a:solidFill>
                  <a:srgbClr val="FFFFFF"/>
                </a:solidFill>
                <a:latin typeface="Arial"/>
                <a:ea typeface="Arial"/>
                <a:cs typeface="Arial"/>
              </a:rPr>
              <a:t>Purpose and use of this reference pack</a:t>
            </a:r>
            <a:endParaRPr sz="2300"/>
          </a:p>
        </p:txBody>
      </p:sp>
      <p:sp>
        <p:nvSpPr>
          <p:cNvPr id="4" name="Text 2">
            <a:extLst xmlns:a="http://schemas.openxmlformats.org/drawingml/2006/main">
              <a:ext uri="{FF2B5EF4-FFF2-40B4-BE49-F238E27FC236}">
                <a16:creationId xmlns:a16="http://schemas.microsoft.com/office/drawing/2014/main" id="{AFFB75A3-8719-4394-A2EE-91437BE84203}"/>
              </a:ext>
            </a:extLst>
          </p:cNvPr>
          <p:cNvSpPr>
            <a:spLocks xmlns:a="http://schemas.openxmlformats.org/drawingml/2006/main" noGrp="1"/>
          </p:cNvSpPr>
          <p:nvPr/>
        </p:nvSpPr>
        <p:spPr>
          <a:xfrm xmlns:a="http://schemas.openxmlformats.org/drawingml/2006/main">
            <a:off x="7372350" y="190500"/>
            <a:ext cx="14478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r">
              <a:lnSpc>
                <a:spcPts val="1054"/>
              </a:lnSpc>
              <a:buNone/>
              <a:defRPr sz="788" b="1">
                <a:solidFill>
                  <a:srgbClr val="FFFFFF"/>
                </a:solidFill>
                <a:latin typeface="Arial"/>
                <a:ea typeface="Arial"/>
                <a:cs typeface="Arial"/>
              </a:defRPr>
            </a:pPr>
            <a:r>
              <a:rPr sz="788" b="1">
                <a:solidFill>
                  <a:srgbClr val="FFFFFF"/>
                </a:solidFill>
                <a:latin typeface="Arial"/>
                <a:ea typeface="Arial"/>
                <a:cs typeface="Arial"/>
              </a:rPr>
              <a:t>CS CAPSTONE REFERENCE</a:t>
            </a:r>
            <a:endParaRPr sz="850"/>
          </a:p>
        </p:txBody>
      </p:sp>
      <p:sp>
        <p:nvSpPr>
          <p:cNvPr id="5" name="Text 3">
            <a:extLst xmlns:a="http://schemas.openxmlformats.org/drawingml/2006/main">
              <a:ext uri="{FF2B5EF4-FFF2-40B4-BE49-F238E27FC236}">
                <a16:creationId xmlns:a16="http://schemas.microsoft.com/office/drawing/2014/main" id="{0C296CD6-AD31-483A-BB69-A43D86F60EE8}"/>
              </a:ext>
            </a:extLst>
          </p:cNvPr>
          <p:cNvSpPr>
            <a:spLocks xmlns:a="http://schemas.openxmlformats.org/drawingml/2006/main" noGrp="1"/>
          </p:cNvSpPr>
          <p:nvPr/>
        </p:nvSpPr>
        <p:spPr>
          <a:xfrm xmlns:a="http://schemas.openxmlformats.org/drawingml/2006/main">
            <a:off x="330101" y="609600"/>
            <a:ext cx="787301" cy="38100"/>
          </a:xfrm>
          <a:prstGeom xmlns:a="http://schemas.openxmlformats.org/drawingml/2006/main" prst="rect">
            <a:avLst/>
          </a:prstGeom>
          <a:solidFill xmlns:a="http://schemas.openxmlformats.org/drawingml/2006/main">
            <a:srgbClr val="D63B4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6" name="Text 4">
            <a:extLst xmlns:a="http://schemas.openxmlformats.org/drawingml/2006/main">
              <a:ext uri="{FF2B5EF4-FFF2-40B4-BE49-F238E27FC236}">
                <a16:creationId xmlns:a16="http://schemas.microsoft.com/office/drawing/2014/main" id="{BDF7D61B-1227-4975-9269-FBF0CB6008FC}"/>
              </a:ext>
            </a:extLst>
          </p:cNvPr>
          <p:cNvSpPr>
            <a:spLocks xmlns:a="http://schemas.openxmlformats.org/drawingml/2006/main" noGrp="1"/>
          </p:cNvSpPr>
          <p:nvPr/>
        </p:nvSpPr>
        <p:spPr>
          <a:xfrm xmlns:a="http://schemas.openxmlformats.org/drawingml/2006/main">
            <a:off x="342900" y="850850"/>
            <a:ext cx="8627364" cy="141684"/>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116"/>
              </a:lnSpc>
              <a:buNone/>
              <a:defRPr sz="900" b="1">
                <a:solidFill>
                  <a:srgbClr val="D63B4A"/>
                </a:solidFill>
                <a:latin typeface="Arial"/>
                <a:ea typeface="Arial"/>
                <a:cs typeface="Arial"/>
              </a:defRPr>
            </a:pPr>
            <a:r>
              <a:rPr sz="900" b="1">
                <a:solidFill>
                  <a:srgbClr val="D63B4A"/>
                </a:solidFill>
                <a:latin typeface="Arial"/>
                <a:ea typeface="Arial"/>
                <a:cs typeface="Arial"/>
              </a:rPr>
              <a:t>READING OBJECTIVES</a:t>
            </a:r>
            <a:endParaRPr sz="900"/>
          </a:p>
        </p:txBody>
      </p:sp>
      <p:sp>
        <p:nvSpPr>
          <p:cNvPr id="7" name="Text 5">
            <a:extLst xmlns:a="http://schemas.openxmlformats.org/drawingml/2006/main">
              <a:ext uri="{FF2B5EF4-FFF2-40B4-BE49-F238E27FC236}">
                <a16:creationId xmlns:a16="http://schemas.microsoft.com/office/drawing/2014/main" id="{4952CC6E-A192-4612-B6F2-92D622A03461}"/>
              </a:ext>
            </a:extLst>
          </p:cNvPr>
          <p:cNvSpPr>
            <a:spLocks xmlns:a="http://schemas.openxmlformats.org/drawingml/2006/main" noGrp="1"/>
          </p:cNvSpPr>
          <p:nvPr/>
        </p:nvSpPr>
        <p:spPr>
          <a:xfrm xmlns:a="http://schemas.openxmlformats.org/drawingml/2006/main">
            <a:off x="342900" y="1106835"/>
            <a:ext cx="2734717" cy="3014365"/>
          </a:xfrm>
          <a:prstGeom xmlns:a="http://schemas.openxmlformats.org/drawingml/2006/main" prst="roundRect">
            <a:avLst>
              <a:gd name="adj" fmla="val 3715"/>
            </a:avLst>
          </a:prstGeom>
          <a:solidFill xmlns:a="http://schemas.openxmlformats.org/drawingml/2006/main">
            <a:srgbClr val="EEF4F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8" name="Shape 6">
            <a:extLst xmlns:a="http://schemas.openxmlformats.org/drawingml/2006/main">
              <a:ext uri="{FF2B5EF4-FFF2-40B4-BE49-F238E27FC236}">
                <a16:creationId xmlns:a16="http://schemas.microsoft.com/office/drawing/2014/main" id="{2C8905F8-3128-4B03-9CD5-A4E55908B279}"/>
              </a:ext>
            </a:extLst>
          </p:cNvPr>
          <p:cNvSpPr>
            <a:spLocks xmlns:a="http://schemas.openxmlformats.org/drawingml/2006/main" noGrp="1"/>
          </p:cNvSpPr>
          <p:nvPr/>
        </p:nvSpPr>
        <p:spPr>
          <a:xfrm xmlns:a="http://schemas.openxmlformats.org/drawingml/2006/main">
            <a:off x="342900" y="1111597"/>
            <a:ext cx="2734717"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9" name="Shape 7">
            <a:extLst xmlns:a="http://schemas.openxmlformats.org/drawingml/2006/main">
              <a:ext uri="{FF2B5EF4-FFF2-40B4-BE49-F238E27FC236}">
                <a16:creationId xmlns:a16="http://schemas.microsoft.com/office/drawing/2014/main" id="{4E42B21D-8EF9-4EB3-82DB-4682B3C45851}"/>
              </a:ext>
            </a:extLst>
          </p:cNvPr>
          <p:cNvSpPr>
            <a:spLocks xmlns:a="http://schemas.openxmlformats.org/drawingml/2006/main" noGrp="1"/>
          </p:cNvSpPr>
          <p:nvPr/>
        </p:nvSpPr>
        <p:spPr>
          <a:xfrm xmlns:a="http://schemas.openxmlformats.org/drawingml/2006/main">
            <a:off x="3072854" y="1106835"/>
            <a:ext cx="0" cy="3014365"/>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0" name="Shape 8">
            <a:extLst xmlns:a="http://schemas.openxmlformats.org/drawingml/2006/main">
              <a:ext uri="{FF2B5EF4-FFF2-40B4-BE49-F238E27FC236}">
                <a16:creationId xmlns:a16="http://schemas.microsoft.com/office/drawing/2014/main" id="{44EB5D00-45DA-48E5-A305-B610270ADC4F}"/>
              </a:ext>
            </a:extLst>
          </p:cNvPr>
          <p:cNvSpPr>
            <a:spLocks xmlns:a="http://schemas.openxmlformats.org/drawingml/2006/main" noGrp="1"/>
          </p:cNvSpPr>
          <p:nvPr/>
        </p:nvSpPr>
        <p:spPr>
          <a:xfrm xmlns:a="http://schemas.openxmlformats.org/drawingml/2006/main">
            <a:off x="342900" y="4116437"/>
            <a:ext cx="2734717"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1" name="Shape 9">
            <a:extLst xmlns:a="http://schemas.openxmlformats.org/drawingml/2006/main">
              <a:ext uri="{FF2B5EF4-FFF2-40B4-BE49-F238E27FC236}">
                <a16:creationId xmlns:a16="http://schemas.microsoft.com/office/drawing/2014/main" id="{EFC93450-EF77-4F7B-B288-F38A39692824}"/>
              </a:ext>
            </a:extLst>
          </p:cNvPr>
          <p:cNvSpPr>
            <a:spLocks xmlns:a="http://schemas.openxmlformats.org/drawingml/2006/main" noGrp="1"/>
          </p:cNvSpPr>
          <p:nvPr/>
        </p:nvSpPr>
        <p:spPr>
          <a:xfrm xmlns:a="http://schemas.openxmlformats.org/drawingml/2006/main">
            <a:off x="371475" y="1106835"/>
            <a:ext cx="0" cy="3014365"/>
          </a:xfrm>
          <a:prstGeom xmlns:a="http://schemas.openxmlformats.org/drawingml/2006/main" prst="line">
            <a:avLst/>
          </a:prstGeom>
          <a:noFill xmlns:a="http://schemas.openxmlformats.org/drawingml/2006/main"/>
          <a:ln xmlns:a="http://schemas.openxmlformats.org/drawingml/2006/main" w="57150">
            <a:solidFill>
              <a:srgbClr val="234D78"/>
            </a:solidFill>
            <a:prstDash val="solid"/>
          </a:ln>
        </p:spPr>
      </p:sp>
      <p:sp>
        <p:nvSpPr>
          <p:cNvPr id="12" name="Text 10">
            <a:extLst xmlns:a="http://schemas.openxmlformats.org/drawingml/2006/main">
              <a:ext uri="{FF2B5EF4-FFF2-40B4-BE49-F238E27FC236}">
                <a16:creationId xmlns:a16="http://schemas.microsoft.com/office/drawing/2014/main" id="{BEB195AB-582C-43B5-86C2-8101CB9C103D}"/>
              </a:ext>
            </a:extLst>
          </p:cNvPr>
          <p:cNvSpPr>
            <a:spLocks xmlns:a="http://schemas.openxmlformats.org/drawingml/2006/main" noGrp="1"/>
          </p:cNvSpPr>
          <p:nvPr/>
        </p:nvSpPr>
        <p:spPr>
          <a:xfrm xmlns:a="http://schemas.openxmlformats.org/drawingml/2006/main">
            <a:off x="552450" y="1268760"/>
            <a:ext cx="2410507" cy="3174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500"/>
              </a:lnSpc>
              <a:spcAft>
                <a:spcPts val="500"/>
              </a:spcAft>
              <a:buNone/>
            </a:pPr>
            <a:r>
              <a:rPr sz="2500" b="1">
                <a:solidFill>
                  <a:srgbClr val="234D78"/>
                </a:solidFill>
                <a:latin typeface="Arial"/>
                <a:ea typeface="Arial"/>
                <a:cs typeface="Arial"/>
              </a:rPr>
              <a:t>01</a:t>
            </a:r>
            <a:endParaRPr sz="2500"/>
          </a:p>
        </p:txBody>
      </p:sp>
      <p:sp>
        <p:nvSpPr>
          <p:cNvPr id="13" name="Text 11">
            <a:extLst xmlns:a="http://schemas.openxmlformats.org/drawingml/2006/main">
              <a:ext uri="{FF2B5EF4-FFF2-40B4-BE49-F238E27FC236}">
                <a16:creationId xmlns:a16="http://schemas.microsoft.com/office/drawing/2014/main" id="{47A08079-7140-4AA5-9A17-A4DF4631FA66}"/>
              </a:ext>
            </a:extLst>
          </p:cNvPr>
          <p:cNvSpPr>
            <a:spLocks xmlns:a="http://schemas.openxmlformats.org/drawingml/2006/main" noGrp="1"/>
          </p:cNvSpPr>
          <p:nvPr/>
        </p:nvSpPr>
        <p:spPr>
          <a:xfrm xmlns:a="http://schemas.openxmlformats.org/drawingml/2006/main">
            <a:off x="552450" y="1649611"/>
            <a:ext cx="2410507"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Assess existing evidence</a:t>
            </a:r>
            <a:endParaRPr sz="1400"/>
          </a:p>
        </p:txBody>
      </p:sp>
      <p:sp>
        <p:nvSpPr>
          <p:cNvPr id="14" name="Text 12">
            <a:extLst xmlns:a="http://schemas.openxmlformats.org/drawingml/2006/main">
              <a:ext uri="{FF2B5EF4-FFF2-40B4-BE49-F238E27FC236}">
                <a16:creationId xmlns:a16="http://schemas.microsoft.com/office/drawing/2014/main" id="{94853759-20FE-4AA1-9C2D-B7F29B7CD2F6}"/>
              </a:ext>
            </a:extLst>
          </p:cNvPr>
          <p:cNvSpPr>
            <a:spLocks xmlns:a="http://schemas.openxmlformats.org/drawingml/2006/main" noGrp="1"/>
          </p:cNvSpPr>
          <p:nvPr/>
        </p:nvSpPr>
        <p:spPr>
          <a:xfrm xmlns:a="http://schemas.openxmlformats.org/drawingml/2006/main">
            <a:off x="552450" y="1917502"/>
            <a:ext cx="2410507" cy="57596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513"/>
              </a:lnSpc>
              <a:buNone/>
              <a:defRPr sz="1220" b="0">
                <a:solidFill>
                  <a:srgbClr val="12263A"/>
                </a:solidFill>
                <a:latin typeface="Arial"/>
                <a:ea typeface="Arial"/>
                <a:cs typeface="Arial"/>
              </a:defRPr>
            </a:pPr>
            <a:r>
              <a:rPr sz="1220" b="0">
                <a:solidFill>
                  <a:srgbClr val="12263A"/>
                </a:solidFill>
                <a:latin typeface="Arial"/>
                <a:ea typeface="Arial"/>
                <a:cs typeface="Arial"/>
              </a:rPr>
              <a:t>Run clean-state physics on a CPU. Examine the schema, model receipt, and failure logs before introducing vision.</a:t>
            </a:r>
            <a:endParaRPr sz="1220"/>
          </a:p>
        </p:txBody>
      </p:sp>
      <p:sp>
        <p:nvSpPr>
          <p:cNvPr id="15" name="Text 13">
            <a:extLst xmlns:a="http://schemas.openxmlformats.org/drawingml/2006/main">
              <a:ext uri="{FF2B5EF4-FFF2-40B4-BE49-F238E27FC236}">
                <a16:creationId xmlns:a16="http://schemas.microsoft.com/office/drawing/2014/main" id="{6E7A39FE-62E2-4592-867A-AD62B5BA06EA}"/>
              </a:ext>
            </a:extLst>
          </p:cNvPr>
          <p:cNvSpPr>
            <a:spLocks xmlns:a="http://schemas.openxmlformats.org/drawingml/2006/main" noGrp="1"/>
          </p:cNvSpPr>
          <p:nvPr/>
        </p:nvSpPr>
        <p:spPr>
          <a:xfrm xmlns:a="http://schemas.openxmlformats.org/drawingml/2006/main">
            <a:off x="3204567" y="1106835"/>
            <a:ext cx="2734866" cy="3014365"/>
          </a:xfrm>
          <a:prstGeom xmlns:a="http://schemas.openxmlformats.org/drawingml/2006/main" prst="roundRect">
            <a:avLst>
              <a:gd name="adj" fmla="val 3715"/>
            </a:avLst>
          </a:prstGeom>
          <a:solidFill xmlns:a="http://schemas.openxmlformats.org/drawingml/2006/main">
            <a:srgbClr val="EDFAF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16" name="Shape 14">
            <a:extLst xmlns:a="http://schemas.openxmlformats.org/drawingml/2006/main">
              <a:ext uri="{FF2B5EF4-FFF2-40B4-BE49-F238E27FC236}">
                <a16:creationId xmlns:a16="http://schemas.microsoft.com/office/drawing/2014/main" id="{4CC4C6FA-61F9-41C9-A9D8-84E8F8269046}"/>
              </a:ext>
            </a:extLst>
          </p:cNvPr>
          <p:cNvSpPr>
            <a:spLocks xmlns:a="http://schemas.openxmlformats.org/drawingml/2006/main" noGrp="1"/>
          </p:cNvSpPr>
          <p:nvPr/>
        </p:nvSpPr>
        <p:spPr>
          <a:xfrm xmlns:a="http://schemas.openxmlformats.org/drawingml/2006/main">
            <a:off x="3204567" y="1111597"/>
            <a:ext cx="2734866"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7" name="Shape 15">
            <a:extLst xmlns:a="http://schemas.openxmlformats.org/drawingml/2006/main">
              <a:ext uri="{FF2B5EF4-FFF2-40B4-BE49-F238E27FC236}">
                <a16:creationId xmlns:a16="http://schemas.microsoft.com/office/drawing/2014/main" id="{D1B58E2C-599F-4657-AE07-8F761386E7DB}"/>
              </a:ext>
            </a:extLst>
          </p:cNvPr>
          <p:cNvSpPr>
            <a:spLocks xmlns:a="http://schemas.openxmlformats.org/drawingml/2006/main" noGrp="1"/>
          </p:cNvSpPr>
          <p:nvPr/>
        </p:nvSpPr>
        <p:spPr>
          <a:xfrm xmlns:a="http://schemas.openxmlformats.org/drawingml/2006/main">
            <a:off x="5934670" y="1106835"/>
            <a:ext cx="0" cy="3014365"/>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8" name="Shape 16">
            <a:extLst xmlns:a="http://schemas.openxmlformats.org/drawingml/2006/main">
              <a:ext uri="{FF2B5EF4-FFF2-40B4-BE49-F238E27FC236}">
                <a16:creationId xmlns:a16="http://schemas.microsoft.com/office/drawing/2014/main" id="{01F0C0DD-102E-49F5-A9C5-CA100074C2DC}"/>
              </a:ext>
            </a:extLst>
          </p:cNvPr>
          <p:cNvSpPr>
            <a:spLocks xmlns:a="http://schemas.openxmlformats.org/drawingml/2006/main" noGrp="1"/>
          </p:cNvSpPr>
          <p:nvPr/>
        </p:nvSpPr>
        <p:spPr>
          <a:xfrm xmlns:a="http://schemas.openxmlformats.org/drawingml/2006/main">
            <a:off x="3204567" y="4116437"/>
            <a:ext cx="2734866"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9" name="Shape 17">
            <a:extLst xmlns:a="http://schemas.openxmlformats.org/drawingml/2006/main">
              <a:ext uri="{FF2B5EF4-FFF2-40B4-BE49-F238E27FC236}">
                <a16:creationId xmlns:a16="http://schemas.microsoft.com/office/drawing/2014/main" id="{41E86E80-78A3-4B43-A786-54E1C8DD8E43}"/>
              </a:ext>
            </a:extLst>
          </p:cNvPr>
          <p:cNvSpPr>
            <a:spLocks xmlns:a="http://schemas.openxmlformats.org/drawingml/2006/main" noGrp="1"/>
          </p:cNvSpPr>
          <p:nvPr/>
        </p:nvSpPr>
        <p:spPr>
          <a:xfrm xmlns:a="http://schemas.openxmlformats.org/drawingml/2006/main">
            <a:off x="3233142" y="1106835"/>
            <a:ext cx="0" cy="3014365"/>
          </a:xfrm>
          <a:prstGeom xmlns:a="http://schemas.openxmlformats.org/drawingml/2006/main" prst="line">
            <a:avLst/>
          </a:prstGeom>
          <a:noFill xmlns:a="http://schemas.openxmlformats.org/drawingml/2006/main"/>
          <a:ln xmlns:a="http://schemas.openxmlformats.org/drawingml/2006/main" w="57150">
            <a:solidFill>
              <a:srgbClr val="1D9E91"/>
            </a:solidFill>
            <a:prstDash val="solid"/>
          </a:ln>
        </p:spPr>
      </p:sp>
      <p:sp>
        <p:nvSpPr>
          <p:cNvPr id="20" name="Text 18">
            <a:extLst xmlns:a="http://schemas.openxmlformats.org/drawingml/2006/main">
              <a:ext uri="{FF2B5EF4-FFF2-40B4-BE49-F238E27FC236}">
                <a16:creationId xmlns:a16="http://schemas.microsoft.com/office/drawing/2014/main" id="{1F9BDB69-E3F1-477E-AA5E-8BFD5B8CCFE7}"/>
              </a:ext>
            </a:extLst>
          </p:cNvPr>
          <p:cNvSpPr>
            <a:spLocks xmlns:a="http://schemas.openxmlformats.org/drawingml/2006/main" noGrp="1"/>
          </p:cNvSpPr>
          <p:nvPr/>
        </p:nvSpPr>
        <p:spPr>
          <a:xfrm xmlns:a="http://schemas.openxmlformats.org/drawingml/2006/main">
            <a:off x="3414117" y="1268760"/>
            <a:ext cx="2410658" cy="3174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500"/>
              </a:lnSpc>
              <a:spcAft>
                <a:spcPts val="500"/>
              </a:spcAft>
              <a:buNone/>
            </a:pPr>
            <a:r>
              <a:rPr sz="2500" b="1">
                <a:solidFill>
                  <a:srgbClr val="234D78"/>
                </a:solidFill>
                <a:latin typeface="Arial"/>
                <a:ea typeface="Arial"/>
                <a:cs typeface="Arial"/>
              </a:rPr>
              <a:t>02</a:t>
            </a:r>
            <a:endParaRPr sz="2500"/>
          </a:p>
        </p:txBody>
      </p:sp>
      <p:sp>
        <p:nvSpPr>
          <p:cNvPr id="21" name="Text 19">
            <a:extLst xmlns:a="http://schemas.openxmlformats.org/drawingml/2006/main">
              <a:ext uri="{FF2B5EF4-FFF2-40B4-BE49-F238E27FC236}">
                <a16:creationId xmlns:a16="http://schemas.microsoft.com/office/drawing/2014/main" id="{3F2BB84A-4814-48F5-AD31-B0022BD20EDA}"/>
              </a:ext>
            </a:extLst>
          </p:cNvPr>
          <p:cNvSpPr>
            <a:spLocks xmlns:a="http://schemas.openxmlformats.org/drawingml/2006/main" noGrp="1"/>
          </p:cNvSpPr>
          <p:nvPr/>
        </p:nvSpPr>
        <p:spPr>
          <a:xfrm xmlns:a="http://schemas.openxmlformats.org/drawingml/2006/main">
            <a:off x="3414117" y="1649611"/>
            <a:ext cx="2410658"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Define a research question</a:t>
            </a:r>
            <a:endParaRPr sz="1400"/>
          </a:p>
        </p:txBody>
      </p:sp>
      <p:sp>
        <p:nvSpPr>
          <p:cNvPr id="22" name="Text 20">
            <a:extLst xmlns:a="http://schemas.openxmlformats.org/drawingml/2006/main">
              <a:ext uri="{FF2B5EF4-FFF2-40B4-BE49-F238E27FC236}">
                <a16:creationId xmlns:a16="http://schemas.microsoft.com/office/drawing/2014/main" id="{61F18E23-53A7-4055-BFAC-8DB1628337A0}"/>
              </a:ext>
            </a:extLst>
          </p:cNvPr>
          <p:cNvSpPr>
            <a:spLocks xmlns:a="http://schemas.openxmlformats.org/drawingml/2006/main" noGrp="1"/>
          </p:cNvSpPr>
          <p:nvPr/>
        </p:nvSpPr>
        <p:spPr>
          <a:xfrm xmlns:a="http://schemas.openxmlformats.org/drawingml/2006/main">
            <a:off x="3414117" y="1917502"/>
            <a:ext cx="2410658" cy="57596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513"/>
              </a:lnSpc>
              <a:buNone/>
              <a:defRPr sz="1220" b="0">
                <a:solidFill>
                  <a:srgbClr val="12263A"/>
                </a:solidFill>
                <a:latin typeface="Arial"/>
                <a:ea typeface="Arial"/>
                <a:cs typeface="Arial"/>
              </a:defRPr>
            </a:pPr>
            <a:r>
              <a:rPr sz="1220" b="0">
                <a:solidFill>
                  <a:srgbClr val="12263A"/>
                </a:solidFill>
                <a:latin typeface="Arial"/>
                <a:ea typeface="Arial"/>
                <a:cs typeface="Arial"/>
              </a:rPr>
              <a:t>Panda/UR5e transfer and object-relative representations have precedents. The candidate question concerns correction-time allocation.</a:t>
            </a:r>
            <a:endParaRPr sz="1220"/>
          </a:p>
        </p:txBody>
      </p:sp>
      <p:sp>
        <p:nvSpPr>
          <p:cNvPr id="23" name="Text 21">
            <a:extLst xmlns:a="http://schemas.openxmlformats.org/drawingml/2006/main">
              <a:ext uri="{FF2B5EF4-FFF2-40B4-BE49-F238E27FC236}">
                <a16:creationId xmlns:a16="http://schemas.microsoft.com/office/drawing/2014/main" id="{ED7FD8F1-559D-4087-9FD1-7E2DFA7AF799}"/>
              </a:ext>
            </a:extLst>
          </p:cNvPr>
          <p:cNvSpPr>
            <a:spLocks xmlns:a="http://schemas.openxmlformats.org/drawingml/2006/main" noGrp="1"/>
          </p:cNvSpPr>
          <p:nvPr/>
        </p:nvSpPr>
        <p:spPr>
          <a:xfrm xmlns:a="http://schemas.openxmlformats.org/drawingml/2006/main">
            <a:off x="6066383" y="1106835"/>
            <a:ext cx="2734717" cy="3014365"/>
          </a:xfrm>
          <a:prstGeom xmlns:a="http://schemas.openxmlformats.org/drawingml/2006/main" prst="roundRect">
            <a:avLst>
              <a:gd name="adj" fmla="val 3715"/>
            </a:avLst>
          </a:prstGeom>
          <a:solidFill xmlns:a="http://schemas.openxmlformats.org/drawingml/2006/main">
            <a:srgbClr val="FFF1F3"/>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24" name="Shape 22">
            <a:extLst xmlns:a="http://schemas.openxmlformats.org/drawingml/2006/main">
              <a:ext uri="{FF2B5EF4-FFF2-40B4-BE49-F238E27FC236}">
                <a16:creationId xmlns:a16="http://schemas.microsoft.com/office/drawing/2014/main" id="{D8D17F67-56C8-415C-A024-F32E86126EE8}"/>
              </a:ext>
            </a:extLst>
          </p:cNvPr>
          <p:cNvSpPr>
            <a:spLocks xmlns:a="http://schemas.openxmlformats.org/drawingml/2006/main" noGrp="1"/>
          </p:cNvSpPr>
          <p:nvPr/>
        </p:nvSpPr>
        <p:spPr>
          <a:xfrm xmlns:a="http://schemas.openxmlformats.org/drawingml/2006/main">
            <a:off x="6066383" y="1111597"/>
            <a:ext cx="2734717"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25" name="Shape 23">
            <a:extLst xmlns:a="http://schemas.openxmlformats.org/drawingml/2006/main">
              <a:ext uri="{FF2B5EF4-FFF2-40B4-BE49-F238E27FC236}">
                <a16:creationId xmlns:a16="http://schemas.microsoft.com/office/drawing/2014/main" id="{B59D10BD-7087-4BED-821C-510732587F9E}"/>
              </a:ext>
            </a:extLst>
          </p:cNvPr>
          <p:cNvSpPr>
            <a:spLocks xmlns:a="http://schemas.openxmlformats.org/drawingml/2006/main" noGrp="1"/>
          </p:cNvSpPr>
          <p:nvPr/>
        </p:nvSpPr>
        <p:spPr>
          <a:xfrm xmlns:a="http://schemas.openxmlformats.org/drawingml/2006/main">
            <a:off x="8796338" y="1106835"/>
            <a:ext cx="0" cy="3014365"/>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26" name="Shape 24">
            <a:extLst xmlns:a="http://schemas.openxmlformats.org/drawingml/2006/main">
              <a:ext uri="{FF2B5EF4-FFF2-40B4-BE49-F238E27FC236}">
                <a16:creationId xmlns:a16="http://schemas.microsoft.com/office/drawing/2014/main" id="{8D648EE5-B6D9-42F3-ADB8-1A0461D7A087}"/>
              </a:ext>
            </a:extLst>
          </p:cNvPr>
          <p:cNvSpPr>
            <a:spLocks xmlns:a="http://schemas.openxmlformats.org/drawingml/2006/main" noGrp="1"/>
          </p:cNvSpPr>
          <p:nvPr/>
        </p:nvSpPr>
        <p:spPr>
          <a:xfrm xmlns:a="http://schemas.openxmlformats.org/drawingml/2006/main">
            <a:off x="6066383" y="4116437"/>
            <a:ext cx="2734717"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27" name="Shape 25">
            <a:extLst xmlns:a="http://schemas.openxmlformats.org/drawingml/2006/main">
              <a:ext uri="{FF2B5EF4-FFF2-40B4-BE49-F238E27FC236}">
                <a16:creationId xmlns:a16="http://schemas.microsoft.com/office/drawing/2014/main" id="{FC9D7E8F-D6F5-454A-9331-42F18C87B4EA}"/>
              </a:ext>
            </a:extLst>
          </p:cNvPr>
          <p:cNvSpPr>
            <a:spLocks xmlns:a="http://schemas.openxmlformats.org/drawingml/2006/main" noGrp="1"/>
          </p:cNvSpPr>
          <p:nvPr/>
        </p:nvSpPr>
        <p:spPr>
          <a:xfrm xmlns:a="http://schemas.openxmlformats.org/drawingml/2006/main">
            <a:off x="6094958" y="1106835"/>
            <a:ext cx="0" cy="3014365"/>
          </a:xfrm>
          <a:prstGeom xmlns:a="http://schemas.openxmlformats.org/drawingml/2006/main" prst="line">
            <a:avLst/>
          </a:prstGeom>
          <a:noFill xmlns:a="http://schemas.openxmlformats.org/drawingml/2006/main"/>
          <a:ln xmlns:a="http://schemas.openxmlformats.org/drawingml/2006/main" w="57150">
            <a:solidFill>
              <a:srgbClr val="D63B4A"/>
            </a:solidFill>
            <a:prstDash val="solid"/>
          </a:ln>
        </p:spPr>
      </p:sp>
      <p:sp>
        <p:nvSpPr>
          <p:cNvPr id="28" name="Text 26">
            <a:extLst xmlns:a="http://schemas.openxmlformats.org/drawingml/2006/main">
              <a:ext uri="{FF2B5EF4-FFF2-40B4-BE49-F238E27FC236}">
                <a16:creationId xmlns:a16="http://schemas.microsoft.com/office/drawing/2014/main" id="{10F74327-F23E-4017-9DE8-422739D63DE8}"/>
              </a:ext>
            </a:extLst>
          </p:cNvPr>
          <p:cNvSpPr>
            <a:spLocks xmlns:a="http://schemas.openxmlformats.org/drawingml/2006/main" noGrp="1"/>
          </p:cNvSpPr>
          <p:nvPr/>
        </p:nvSpPr>
        <p:spPr>
          <a:xfrm xmlns:a="http://schemas.openxmlformats.org/drawingml/2006/main">
            <a:off x="6275933" y="1268760"/>
            <a:ext cx="2410507" cy="3174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500"/>
              </a:lnSpc>
              <a:spcAft>
                <a:spcPts val="500"/>
              </a:spcAft>
              <a:buNone/>
            </a:pPr>
            <a:r>
              <a:rPr sz="2500" b="1">
                <a:solidFill>
                  <a:srgbClr val="234D78"/>
                </a:solidFill>
                <a:latin typeface="Arial"/>
                <a:ea typeface="Arial"/>
                <a:cs typeface="Arial"/>
              </a:rPr>
              <a:t>03</a:t>
            </a:r>
            <a:endParaRPr sz="2500"/>
          </a:p>
        </p:txBody>
      </p:sp>
      <p:sp>
        <p:nvSpPr>
          <p:cNvPr id="29" name="Text 27">
            <a:extLst xmlns:a="http://schemas.openxmlformats.org/drawingml/2006/main">
              <a:ext uri="{FF2B5EF4-FFF2-40B4-BE49-F238E27FC236}">
                <a16:creationId xmlns:a16="http://schemas.microsoft.com/office/drawing/2014/main" id="{AAB90A56-60FB-4197-92C7-711E34DA437F}"/>
              </a:ext>
            </a:extLst>
          </p:cNvPr>
          <p:cNvSpPr>
            <a:spLocks xmlns:a="http://schemas.openxmlformats.org/drawingml/2006/main" noGrp="1"/>
          </p:cNvSpPr>
          <p:nvPr/>
        </p:nvSpPr>
        <p:spPr>
          <a:xfrm xmlns:a="http://schemas.openxmlformats.org/drawingml/2006/main">
            <a:off x="6275933" y="1649611"/>
            <a:ext cx="2410507"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Design a controlled study</a:t>
            </a:r>
            <a:endParaRPr sz="1400"/>
          </a:p>
        </p:txBody>
      </p:sp>
      <p:sp>
        <p:nvSpPr>
          <p:cNvPr id="30" name="Text 28">
            <a:extLst xmlns:a="http://schemas.openxmlformats.org/drawingml/2006/main">
              <a:ext uri="{FF2B5EF4-FFF2-40B4-BE49-F238E27FC236}">
                <a16:creationId xmlns:a16="http://schemas.microsoft.com/office/drawing/2014/main" id="{79224C9E-87C7-4365-9C8D-4A79C9E34668}"/>
              </a:ext>
            </a:extLst>
          </p:cNvPr>
          <p:cNvSpPr>
            <a:spLocks xmlns:a="http://schemas.openxmlformats.org/drawingml/2006/main" noGrp="1"/>
          </p:cNvSpPr>
          <p:nvPr/>
        </p:nvSpPr>
        <p:spPr>
          <a:xfrm xmlns:a="http://schemas.openxmlformats.org/drawingml/2006/main">
            <a:off x="6275933" y="1917502"/>
            <a:ext cx="2410507" cy="57596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513"/>
              </a:lnSpc>
              <a:buNone/>
              <a:defRPr sz="1220" b="0">
                <a:solidFill>
                  <a:srgbClr val="12263A"/>
                </a:solidFill>
                <a:latin typeface="Arial"/>
                <a:ea typeface="Arial"/>
                <a:cs typeface="Arial"/>
              </a:defRPr>
            </a:pPr>
            <a:r>
              <a:rPr sz="1220" b="0">
                <a:solidFill>
                  <a:srgbClr val="12263A"/>
                </a:solidFill>
                <a:latin typeface="Arial"/>
                <a:ea typeface="Arial"/>
                <a:cs typeface="Arial"/>
              </a:rPr>
              <a:t>Establish that noisy pose inputs affect the plan and task outcome. Distinguish assumed oracle costs from measured human time.</a:t>
            </a:r>
            <a:endParaRPr sz="1220"/>
          </a:p>
        </p:txBody>
      </p:sp>
      <p:sp>
        <p:nvSpPr>
          <p:cNvPr id="31" name="Text 29">
            <a:extLst xmlns:a="http://schemas.openxmlformats.org/drawingml/2006/main">
              <a:ext uri="{FF2B5EF4-FFF2-40B4-BE49-F238E27FC236}">
                <a16:creationId xmlns:a16="http://schemas.microsoft.com/office/drawing/2014/main" id="{8A0CD668-53A2-4A04-82DF-BB00E934C24E}"/>
              </a:ext>
            </a:extLst>
          </p:cNvPr>
          <p:cNvSpPr>
            <a:spLocks xmlns:a="http://schemas.openxmlformats.org/drawingml/2006/main" noGrp="1"/>
          </p:cNvSpPr>
          <p:nvPr/>
        </p:nvSpPr>
        <p:spPr>
          <a:xfrm xmlns:a="http://schemas.openxmlformats.org/drawingml/2006/main">
            <a:off x="342900" y="4235500"/>
            <a:ext cx="8458200" cy="425500"/>
          </a:xfrm>
          <a:prstGeom xmlns:a="http://schemas.openxmlformats.org/drawingml/2006/main" prst="rect">
            <a:avLst/>
          </a:prstGeom>
          <a:solidFill xmlns:a="http://schemas.openxmlformats.org/drawingml/2006/main">
            <a:srgbClr val="EEF4F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32" name="Shape 30">
            <a:extLst xmlns:a="http://schemas.openxmlformats.org/drawingml/2006/main">
              <a:ext uri="{FF2B5EF4-FFF2-40B4-BE49-F238E27FC236}">
                <a16:creationId xmlns:a16="http://schemas.microsoft.com/office/drawing/2014/main" id="{FFFB6CA0-E99C-47C3-9430-414157CA8D4B}"/>
              </a:ext>
            </a:extLst>
          </p:cNvPr>
          <p:cNvSpPr>
            <a:spLocks xmlns:a="http://schemas.openxmlformats.org/drawingml/2006/main" noGrp="1"/>
          </p:cNvSpPr>
          <p:nvPr/>
        </p:nvSpPr>
        <p:spPr>
          <a:xfrm xmlns:a="http://schemas.openxmlformats.org/drawingml/2006/main">
            <a:off x="371475" y="4235500"/>
            <a:ext cx="0" cy="425500"/>
          </a:xfrm>
          <a:prstGeom xmlns:a="http://schemas.openxmlformats.org/drawingml/2006/main" prst="line">
            <a:avLst/>
          </a:prstGeom>
          <a:noFill xmlns:a="http://schemas.openxmlformats.org/drawingml/2006/main"/>
          <a:ln xmlns:a="http://schemas.openxmlformats.org/drawingml/2006/main" w="57150">
            <a:solidFill>
              <a:srgbClr val="D63B4A"/>
            </a:solidFill>
            <a:prstDash val="solid"/>
          </a:ln>
        </p:spPr>
      </p:sp>
      <p:sp>
        <p:nvSpPr>
          <p:cNvPr id="33" name="Text 31">
            <a:extLst xmlns:a="http://schemas.openxmlformats.org/drawingml/2006/main">
              <a:ext uri="{FF2B5EF4-FFF2-40B4-BE49-F238E27FC236}">
                <a16:creationId xmlns:a16="http://schemas.microsoft.com/office/drawing/2014/main" id="{29215ABE-17EC-40EB-8D80-52F2ACE98C06}"/>
              </a:ext>
            </a:extLst>
          </p:cNvPr>
          <p:cNvSpPr>
            <a:spLocks xmlns:a="http://schemas.openxmlformats.org/drawingml/2006/main" noGrp="1"/>
          </p:cNvSpPr>
          <p:nvPr/>
        </p:nvSpPr>
        <p:spPr>
          <a:xfrm xmlns:a="http://schemas.openxmlformats.org/drawingml/2006/main">
            <a:off x="552450" y="4349800"/>
            <a:ext cx="8258175" cy="1969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550"/>
              </a:lnSpc>
              <a:buNone/>
              <a:defRPr sz="1250" b="1">
                <a:solidFill>
                  <a:srgbClr val="16344F"/>
                </a:solidFill>
                <a:latin typeface="Arial"/>
                <a:ea typeface="Arial"/>
                <a:cs typeface="Arial"/>
              </a:defRPr>
            </a:pPr>
            <a:r>
              <a:rPr sz="1250" b="1">
                <a:solidFill>
                  <a:srgbClr val="16344F"/>
                </a:solidFill>
                <a:latin typeface="Arial"/>
                <a:ea typeface="Arial"/>
                <a:cs typeface="Arial"/>
              </a:rPr>
              <a:t>Reference material for students and supervisors, who determine project scope and assessment.</a:t>
            </a:r>
            <a:endParaRPr sz="1250"/>
          </a:p>
        </p:txBody>
      </p:sp>
      <p:sp>
        <p:nvSpPr>
          <p:cNvPr id="34" name="Text 32">
            <a:extLst xmlns:a="http://schemas.openxmlformats.org/drawingml/2006/main">
              <a:ext uri="{FF2B5EF4-FFF2-40B4-BE49-F238E27FC236}">
                <a16:creationId xmlns:a16="http://schemas.microsoft.com/office/drawing/2014/main" id="{E03EBE90-4BDF-400B-9A69-4D6DEA441D6B}"/>
              </a:ext>
            </a:extLst>
          </p:cNvPr>
          <p:cNvSpPr>
            <a:spLocks xmlns:a="http://schemas.openxmlformats.org/drawingml/2006/main" noGrp="1"/>
          </p:cNvSpPr>
          <p:nvPr/>
        </p:nvSpPr>
        <p:spPr>
          <a:xfrm xmlns:a="http://schemas.openxmlformats.org/drawingml/2006/main">
            <a:off x="8339328" y="4965192"/>
            <a:ext cx="502920"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60">
                <a:solidFill>
                  <a:srgbClr val="7A8794"/>
                </a:solidFill>
                <a:latin typeface="Arial"/>
                <a:ea typeface="Arial"/>
                <a:cs typeface="Arial"/>
              </a:rPr>
              <a:t>2 / 31</a:t>
            </a:r>
            <a:endParaRPr sz="660"/>
          </a:p>
        </p:txBody>
      </p:sp>
      <p:sp>
        <p:nvSpPr>
          <p:cNvPr id="35" name="Sources footer">
            <a:extLst xmlns:a="http://schemas.openxmlformats.org/drawingml/2006/main">
              <a:ext uri="{FF2B5EF4-FFF2-40B4-BE49-F238E27FC236}">
                <a16:creationId xmlns:a16="http://schemas.microsoft.com/office/drawing/2014/main" id="{E0AD30FB-0F8F-485E-BCEE-63E84819E9EE}"/>
              </a:ext>
            </a:extLst>
          </p:cNvPr>
          <p:cNvSpPr>
            <a:spLocks xmlns:a="http://schemas.openxmlformats.org/drawingml/2006/main" noGrp="1"/>
          </p:cNvSpPr>
          <p:nvPr/>
        </p:nvSpPr>
        <p:spPr>
          <a:xfrm xmlns:a="http://schemas.openxmlformats.org/drawingml/2006/main">
            <a:off x="438150" y="4924425"/>
            <a:ext cx="72961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40" b="0">
                <a:solidFill>
                  <a:srgbClr val="234D78"/>
                </a:solidFill>
                <a:latin typeface="Arial"/>
                <a:ea typeface="Arial"/>
                <a:cs typeface="Arial"/>
              </a:defRPr>
            </a:pPr>
            <a:r>
              <a:rPr sz="640" b="0">
                <a:solidFill>
                  <a:srgbClr val="234D78"/>
                </a:solidFill>
                <a:latin typeface="Arial"/>
                <a:ea typeface="Arial"/>
                <a:cs typeface="Arial"/>
                <a:hlinkClick xmlns:r="http://schemas.openxmlformats.org/officeDocument/2006/relationships" r:id="R26c6c0646ea34a56"/>
              </a:rPr>
              <a:t>Reader guide and sources</a:t>
            </a:r>
          </a:p>
        </p:txBody>
      </p:sp>
    </p:spTree>
    <p:extLst>
      <p:ext uri="{BB962C8B-B14F-4D97-AF65-F5344CB8AC3E}">
        <p14:creationId xmlns:p14="http://schemas.microsoft.com/office/powerpoint/2010/main" val="202000051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F16082D-FBC5-49E3-8ADA-31E44334B386}"/>
              </a:ext>
            </a:extLst>
          </p:cNvPr>
          <p:cNvSpPr>
            <a:spLocks xmlns:a="http://schemas.openxmlformats.org/drawingml/2006/main" noGrp="1"/>
          </p:cNvSpPr>
          <p:nvPr/>
        </p:nvSpPr>
        <p:spPr>
          <a:xfrm xmlns:a="http://schemas.openxmlformats.org/drawingml/2006/main">
            <a:off x="0" y="0"/>
            <a:ext cx="9144000" cy="609600"/>
          </a:xfrm>
          <a:prstGeom xmlns:a="http://schemas.openxmlformats.org/drawingml/2006/main" prst="rect">
            <a:avLst/>
          </a:prstGeom>
          <a:solidFill xmlns:a="http://schemas.openxmlformats.org/drawingml/2006/main">
            <a:srgbClr val="234D7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3" name="Text 1">
            <a:extLst xmlns:a="http://schemas.openxmlformats.org/drawingml/2006/main">
              <a:ext uri="{FF2B5EF4-FFF2-40B4-BE49-F238E27FC236}">
                <a16:creationId xmlns:a16="http://schemas.microsoft.com/office/drawing/2014/main" id="{4ECF5A0E-C314-4A07-847B-B76BE9CBB186}"/>
              </a:ext>
            </a:extLst>
          </p:cNvPr>
          <p:cNvSpPr>
            <a:spLocks xmlns:a="http://schemas.openxmlformats.org/drawingml/2006/main" noGrp="1"/>
          </p:cNvSpPr>
          <p:nvPr/>
        </p:nvSpPr>
        <p:spPr>
          <a:xfrm xmlns:a="http://schemas.openxmlformats.org/drawingml/2006/main">
            <a:off x="330136" y="164116"/>
            <a:ext cx="6619875" cy="3238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2415"/>
              </a:lnSpc>
              <a:buNone/>
              <a:defRPr sz="2300" b="1">
                <a:solidFill>
                  <a:srgbClr val="FFFFFF"/>
                </a:solidFill>
                <a:latin typeface="Arial"/>
                <a:ea typeface="Arial"/>
                <a:cs typeface="Arial"/>
              </a:defRPr>
            </a:pPr>
            <a:r>
              <a:rPr sz="2300" b="1">
                <a:solidFill>
                  <a:srgbClr val="FFFFFF"/>
                </a:solidFill>
                <a:latin typeface="Arial"/>
                <a:ea typeface="Arial"/>
                <a:cs typeface="Arial"/>
              </a:rPr>
              <a:t>Shared technical core and distinct objectives</a:t>
            </a:r>
            <a:endParaRPr sz="2300"/>
          </a:p>
        </p:txBody>
      </p:sp>
      <p:sp>
        <p:nvSpPr>
          <p:cNvPr id="4" name="Text 2">
            <a:extLst xmlns:a="http://schemas.openxmlformats.org/drawingml/2006/main">
              <a:ext uri="{FF2B5EF4-FFF2-40B4-BE49-F238E27FC236}">
                <a16:creationId xmlns:a16="http://schemas.microsoft.com/office/drawing/2014/main" id="{9C3B27A8-E556-4E96-92A5-F2FA67AE1EC5}"/>
              </a:ext>
            </a:extLst>
          </p:cNvPr>
          <p:cNvSpPr>
            <a:spLocks xmlns:a="http://schemas.openxmlformats.org/drawingml/2006/main" noGrp="1"/>
          </p:cNvSpPr>
          <p:nvPr/>
        </p:nvSpPr>
        <p:spPr>
          <a:xfrm xmlns:a="http://schemas.openxmlformats.org/drawingml/2006/main">
            <a:off x="7372350" y="190500"/>
            <a:ext cx="14478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r">
              <a:lnSpc>
                <a:spcPts val="1054"/>
              </a:lnSpc>
              <a:buNone/>
              <a:defRPr sz="788" b="1">
                <a:solidFill>
                  <a:srgbClr val="FFFFFF"/>
                </a:solidFill>
                <a:latin typeface="Arial"/>
                <a:ea typeface="Arial"/>
                <a:cs typeface="Arial"/>
              </a:defRPr>
            </a:pPr>
            <a:r>
              <a:rPr sz="788" b="1">
                <a:solidFill>
                  <a:srgbClr val="FFFFFF"/>
                </a:solidFill>
                <a:latin typeface="Arial"/>
                <a:ea typeface="Arial"/>
                <a:cs typeface="Arial"/>
              </a:rPr>
              <a:t>CS CAPSTONE REFERENCE</a:t>
            </a:r>
            <a:endParaRPr sz="850"/>
          </a:p>
        </p:txBody>
      </p:sp>
      <p:sp>
        <p:nvSpPr>
          <p:cNvPr id="5" name="Text 3">
            <a:extLst xmlns:a="http://schemas.openxmlformats.org/drawingml/2006/main">
              <a:ext uri="{FF2B5EF4-FFF2-40B4-BE49-F238E27FC236}">
                <a16:creationId xmlns:a16="http://schemas.microsoft.com/office/drawing/2014/main" id="{E8EB3DA6-2D6D-4F88-88A5-774109D06ABE}"/>
              </a:ext>
            </a:extLst>
          </p:cNvPr>
          <p:cNvSpPr>
            <a:spLocks xmlns:a="http://schemas.openxmlformats.org/drawingml/2006/main" noGrp="1"/>
          </p:cNvSpPr>
          <p:nvPr/>
        </p:nvSpPr>
        <p:spPr>
          <a:xfrm xmlns:a="http://schemas.openxmlformats.org/drawingml/2006/main">
            <a:off x="330101" y="609600"/>
            <a:ext cx="787301" cy="38100"/>
          </a:xfrm>
          <a:prstGeom xmlns:a="http://schemas.openxmlformats.org/drawingml/2006/main" prst="rect">
            <a:avLst/>
          </a:prstGeom>
          <a:solidFill xmlns:a="http://schemas.openxmlformats.org/drawingml/2006/main">
            <a:srgbClr val="D63B4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6" name="Text 4">
            <a:extLst xmlns:a="http://schemas.openxmlformats.org/drawingml/2006/main">
              <a:ext uri="{FF2B5EF4-FFF2-40B4-BE49-F238E27FC236}">
                <a16:creationId xmlns:a16="http://schemas.microsoft.com/office/drawing/2014/main" id="{4F698BED-CF6E-453D-B0B1-72D88BDA6CBC}"/>
              </a:ext>
            </a:extLst>
          </p:cNvPr>
          <p:cNvSpPr>
            <a:spLocks xmlns:a="http://schemas.openxmlformats.org/drawingml/2006/main" noGrp="1"/>
          </p:cNvSpPr>
          <p:nvPr/>
        </p:nvSpPr>
        <p:spPr>
          <a:xfrm xmlns:a="http://schemas.openxmlformats.org/drawingml/2006/main">
            <a:off x="342900" y="850850"/>
            <a:ext cx="4152900" cy="3270349"/>
          </a:xfrm>
          <a:prstGeom xmlns:a="http://schemas.openxmlformats.org/drawingml/2006/main" prst="roundRect">
            <a:avLst>
              <a:gd name="adj" fmla="val 3107"/>
            </a:avLst>
          </a:prstGeom>
          <a:solidFill xmlns:a="http://schemas.openxmlformats.org/drawingml/2006/main">
            <a:srgbClr val="EEF4F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7" name="Shape 5">
            <a:extLst xmlns:a="http://schemas.openxmlformats.org/drawingml/2006/main">
              <a:ext uri="{FF2B5EF4-FFF2-40B4-BE49-F238E27FC236}">
                <a16:creationId xmlns:a16="http://schemas.microsoft.com/office/drawing/2014/main" id="{C85D2103-A718-4C0E-86F6-03A85D2B0EA3}"/>
              </a:ext>
            </a:extLst>
          </p:cNvPr>
          <p:cNvSpPr>
            <a:spLocks xmlns:a="http://schemas.openxmlformats.org/drawingml/2006/main" noGrp="1"/>
          </p:cNvSpPr>
          <p:nvPr/>
        </p:nvSpPr>
        <p:spPr>
          <a:xfrm xmlns:a="http://schemas.openxmlformats.org/drawingml/2006/main">
            <a:off x="342900" y="855613"/>
            <a:ext cx="4152900"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8" name="Shape 6">
            <a:extLst xmlns:a="http://schemas.openxmlformats.org/drawingml/2006/main">
              <a:ext uri="{FF2B5EF4-FFF2-40B4-BE49-F238E27FC236}">
                <a16:creationId xmlns:a16="http://schemas.microsoft.com/office/drawing/2014/main" id="{70FE4C5F-EC2C-4636-BC21-E4CACAC57D56}"/>
              </a:ext>
            </a:extLst>
          </p:cNvPr>
          <p:cNvSpPr>
            <a:spLocks xmlns:a="http://schemas.openxmlformats.org/drawingml/2006/main" noGrp="1"/>
          </p:cNvSpPr>
          <p:nvPr/>
        </p:nvSpPr>
        <p:spPr>
          <a:xfrm xmlns:a="http://schemas.openxmlformats.org/drawingml/2006/main">
            <a:off x="4491038" y="850850"/>
            <a:ext cx="0" cy="3270349"/>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9" name="Shape 7">
            <a:extLst xmlns:a="http://schemas.openxmlformats.org/drawingml/2006/main">
              <a:ext uri="{FF2B5EF4-FFF2-40B4-BE49-F238E27FC236}">
                <a16:creationId xmlns:a16="http://schemas.microsoft.com/office/drawing/2014/main" id="{6858AE31-829A-474A-9C21-DAF9BA70C723}"/>
              </a:ext>
            </a:extLst>
          </p:cNvPr>
          <p:cNvSpPr>
            <a:spLocks xmlns:a="http://schemas.openxmlformats.org/drawingml/2006/main" noGrp="1"/>
          </p:cNvSpPr>
          <p:nvPr/>
        </p:nvSpPr>
        <p:spPr>
          <a:xfrm xmlns:a="http://schemas.openxmlformats.org/drawingml/2006/main">
            <a:off x="342900" y="4116437"/>
            <a:ext cx="4152900"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0" name="Shape 8">
            <a:extLst xmlns:a="http://schemas.openxmlformats.org/drawingml/2006/main">
              <a:ext uri="{FF2B5EF4-FFF2-40B4-BE49-F238E27FC236}">
                <a16:creationId xmlns:a16="http://schemas.microsoft.com/office/drawing/2014/main" id="{970AC8B9-C8CE-4918-83DB-43F594F4C3D4}"/>
              </a:ext>
            </a:extLst>
          </p:cNvPr>
          <p:cNvSpPr>
            <a:spLocks xmlns:a="http://schemas.openxmlformats.org/drawingml/2006/main" noGrp="1"/>
          </p:cNvSpPr>
          <p:nvPr/>
        </p:nvSpPr>
        <p:spPr>
          <a:xfrm xmlns:a="http://schemas.openxmlformats.org/drawingml/2006/main">
            <a:off x="371475" y="850850"/>
            <a:ext cx="0" cy="3270349"/>
          </a:xfrm>
          <a:prstGeom xmlns:a="http://schemas.openxmlformats.org/drawingml/2006/main" prst="line">
            <a:avLst/>
          </a:prstGeom>
          <a:noFill xmlns:a="http://schemas.openxmlformats.org/drawingml/2006/main"/>
          <a:ln xmlns:a="http://schemas.openxmlformats.org/drawingml/2006/main" w="57150">
            <a:solidFill>
              <a:srgbClr val="234D78"/>
            </a:solidFill>
            <a:prstDash val="solid"/>
          </a:ln>
        </p:spPr>
      </p:sp>
      <p:sp>
        <p:nvSpPr>
          <p:cNvPr id="11" name="Text 9">
            <a:extLst xmlns:a="http://schemas.openxmlformats.org/drawingml/2006/main">
              <a:ext uri="{FF2B5EF4-FFF2-40B4-BE49-F238E27FC236}">
                <a16:creationId xmlns:a16="http://schemas.microsoft.com/office/drawing/2014/main" id="{E5B2428A-F712-4BF8-81DA-7FA5BC777339}"/>
              </a:ext>
            </a:extLst>
          </p:cNvPr>
          <p:cNvSpPr>
            <a:spLocks xmlns:a="http://schemas.openxmlformats.org/drawingml/2006/main" noGrp="1"/>
          </p:cNvSpPr>
          <p:nvPr/>
        </p:nvSpPr>
        <p:spPr>
          <a:xfrm xmlns:a="http://schemas.openxmlformats.org/drawingml/2006/main">
            <a:off x="552450" y="1012775"/>
            <a:ext cx="3857054" cy="141684"/>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116"/>
              </a:lnSpc>
              <a:buNone/>
              <a:defRPr sz="900" b="1">
                <a:solidFill>
                  <a:srgbClr val="D63B4A"/>
                </a:solidFill>
                <a:latin typeface="Arial"/>
                <a:ea typeface="Arial"/>
                <a:cs typeface="Arial"/>
              </a:defRPr>
            </a:pPr>
            <a:r>
              <a:rPr sz="900" b="1">
                <a:solidFill>
                  <a:srgbClr val="D63B4A"/>
                </a:solidFill>
                <a:latin typeface="Arial"/>
                <a:ea typeface="Arial"/>
                <a:cs typeface="Arial"/>
              </a:rPr>
              <a:t>CURRENT RESEARCH PRIORITY</a:t>
            </a:r>
            <a:endParaRPr sz="900"/>
          </a:p>
        </p:txBody>
      </p:sp>
      <p:sp>
        <p:nvSpPr>
          <p:cNvPr id="12" name="Text 10">
            <a:extLst xmlns:a="http://schemas.openxmlformats.org/drawingml/2006/main">
              <a:ext uri="{FF2B5EF4-FFF2-40B4-BE49-F238E27FC236}">
                <a16:creationId xmlns:a16="http://schemas.microsoft.com/office/drawing/2014/main" id="{DD14F9C6-A96E-4B6E-9989-5B368F9D167F}"/>
              </a:ext>
            </a:extLst>
          </p:cNvPr>
          <p:cNvSpPr>
            <a:spLocks xmlns:a="http://schemas.openxmlformats.org/drawingml/2006/main" noGrp="1"/>
          </p:cNvSpPr>
          <p:nvPr/>
        </p:nvSpPr>
        <p:spPr>
          <a:xfrm xmlns:a="http://schemas.openxmlformats.org/drawingml/2006/main">
            <a:off x="552450" y="1154460"/>
            <a:ext cx="3857054" cy="530721"/>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2090"/>
              </a:lnSpc>
              <a:buNone/>
              <a:defRPr sz="1900" b="1">
                <a:solidFill>
                  <a:srgbClr val="16344F"/>
                </a:solidFill>
                <a:latin typeface="Arial"/>
                <a:ea typeface="Arial"/>
                <a:cs typeface="Arial"/>
              </a:defRPr>
            </a:pPr>
            <a:r>
              <a:rPr sz="1900" b="1">
                <a:solidFill>
                  <a:srgbClr val="16344F"/>
                </a:solidFill>
                <a:latin typeface="Arial"/>
                <a:ea typeface="Arial"/>
                <a:cs typeface="Arial"/>
              </a:rPr>
              <a:t>IL (Invested Lamda)</a:t>
            </a:r>
            <a:endParaRPr sz="1900"/>
          </a:p>
        </p:txBody>
      </p:sp>
      <p:sp>
        <p:nvSpPr>
          <p:cNvPr id="13" name="Text 11">
            <a:extLst xmlns:a="http://schemas.openxmlformats.org/drawingml/2006/main">
              <a:ext uri="{FF2B5EF4-FFF2-40B4-BE49-F238E27FC236}">
                <a16:creationId xmlns:a16="http://schemas.microsoft.com/office/drawing/2014/main" id="{E809CB7B-A5A5-47ED-B38A-2F9EE1A2807C}"/>
              </a:ext>
            </a:extLst>
          </p:cNvPr>
          <p:cNvSpPr>
            <a:spLocks xmlns:a="http://schemas.openxmlformats.org/drawingml/2006/main" noGrp="1"/>
          </p:cNvSpPr>
          <p:nvPr/>
        </p:nvSpPr>
        <p:spPr>
          <a:xfrm xmlns:a="http://schemas.openxmlformats.org/drawingml/2006/main">
            <a:off x="768251" y="1735931"/>
            <a:ext cx="3565624" cy="86171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Reusable pipelines and benchmarks with provenance.</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Measured capabilities and execution failures.</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Research prototypes before product expansion.</a:t>
            </a:r>
            <a:endParaRPr sz="1170"/>
          </a:p>
        </p:txBody>
      </p:sp>
      <p:sp>
        <p:nvSpPr>
          <p:cNvPr id="14" name="Text 12">
            <a:extLst xmlns:a="http://schemas.openxmlformats.org/drawingml/2006/main">
              <a:ext uri="{FF2B5EF4-FFF2-40B4-BE49-F238E27FC236}">
                <a16:creationId xmlns:a16="http://schemas.microsoft.com/office/drawing/2014/main" id="{EA0913B9-53E9-4B17-80ED-75AA110DE611}"/>
              </a:ext>
            </a:extLst>
          </p:cNvPr>
          <p:cNvSpPr>
            <a:spLocks xmlns:a="http://schemas.openxmlformats.org/drawingml/2006/main" noGrp="1"/>
          </p:cNvSpPr>
          <p:nvPr/>
        </p:nvSpPr>
        <p:spPr>
          <a:xfrm xmlns:a="http://schemas.openxmlformats.org/drawingml/2006/main">
            <a:off x="4648200" y="850850"/>
            <a:ext cx="4152900" cy="3270349"/>
          </a:xfrm>
          <a:prstGeom xmlns:a="http://schemas.openxmlformats.org/drawingml/2006/main" prst="roundRect">
            <a:avLst>
              <a:gd name="adj" fmla="val 3107"/>
            </a:avLst>
          </a:prstGeom>
          <a:solidFill xmlns:a="http://schemas.openxmlformats.org/drawingml/2006/main">
            <a:srgbClr val="EDFAF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15" name="Shape 13">
            <a:extLst xmlns:a="http://schemas.openxmlformats.org/drawingml/2006/main">
              <a:ext uri="{FF2B5EF4-FFF2-40B4-BE49-F238E27FC236}">
                <a16:creationId xmlns:a16="http://schemas.microsoft.com/office/drawing/2014/main" id="{F139924D-BDA9-4C0D-AEA1-B0B229DF7669}"/>
              </a:ext>
            </a:extLst>
          </p:cNvPr>
          <p:cNvSpPr>
            <a:spLocks xmlns:a="http://schemas.openxmlformats.org/drawingml/2006/main" noGrp="1"/>
          </p:cNvSpPr>
          <p:nvPr/>
        </p:nvSpPr>
        <p:spPr>
          <a:xfrm xmlns:a="http://schemas.openxmlformats.org/drawingml/2006/main">
            <a:off x="4648200" y="855613"/>
            <a:ext cx="4152900"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6" name="Shape 14">
            <a:extLst xmlns:a="http://schemas.openxmlformats.org/drawingml/2006/main">
              <a:ext uri="{FF2B5EF4-FFF2-40B4-BE49-F238E27FC236}">
                <a16:creationId xmlns:a16="http://schemas.microsoft.com/office/drawing/2014/main" id="{CF30A3EB-8B83-4D95-A688-B758B36FDB2F}"/>
              </a:ext>
            </a:extLst>
          </p:cNvPr>
          <p:cNvSpPr>
            <a:spLocks xmlns:a="http://schemas.openxmlformats.org/drawingml/2006/main" noGrp="1"/>
          </p:cNvSpPr>
          <p:nvPr/>
        </p:nvSpPr>
        <p:spPr>
          <a:xfrm xmlns:a="http://schemas.openxmlformats.org/drawingml/2006/main">
            <a:off x="8796338" y="850850"/>
            <a:ext cx="0" cy="3270349"/>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7" name="Shape 15">
            <a:extLst xmlns:a="http://schemas.openxmlformats.org/drawingml/2006/main">
              <a:ext uri="{FF2B5EF4-FFF2-40B4-BE49-F238E27FC236}">
                <a16:creationId xmlns:a16="http://schemas.microsoft.com/office/drawing/2014/main" id="{ECF97F66-0D0B-41B4-8E70-03DB5C699195}"/>
              </a:ext>
            </a:extLst>
          </p:cNvPr>
          <p:cNvSpPr>
            <a:spLocks xmlns:a="http://schemas.openxmlformats.org/drawingml/2006/main" noGrp="1"/>
          </p:cNvSpPr>
          <p:nvPr/>
        </p:nvSpPr>
        <p:spPr>
          <a:xfrm xmlns:a="http://schemas.openxmlformats.org/drawingml/2006/main">
            <a:off x="4648200" y="4116437"/>
            <a:ext cx="4152900"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8" name="Shape 16">
            <a:extLst xmlns:a="http://schemas.openxmlformats.org/drawingml/2006/main">
              <a:ext uri="{FF2B5EF4-FFF2-40B4-BE49-F238E27FC236}">
                <a16:creationId xmlns:a16="http://schemas.microsoft.com/office/drawing/2014/main" id="{09546767-B0FE-406B-91FA-A894376C00C0}"/>
              </a:ext>
            </a:extLst>
          </p:cNvPr>
          <p:cNvSpPr>
            <a:spLocks xmlns:a="http://schemas.openxmlformats.org/drawingml/2006/main" noGrp="1"/>
          </p:cNvSpPr>
          <p:nvPr/>
        </p:nvSpPr>
        <p:spPr>
          <a:xfrm xmlns:a="http://schemas.openxmlformats.org/drawingml/2006/main">
            <a:off x="4676775" y="850850"/>
            <a:ext cx="0" cy="3270349"/>
          </a:xfrm>
          <a:prstGeom xmlns:a="http://schemas.openxmlformats.org/drawingml/2006/main" prst="line">
            <a:avLst/>
          </a:prstGeom>
          <a:noFill xmlns:a="http://schemas.openxmlformats.org/drawingml/2006/main"/>
          <a:ln xmlns:a="http://schemas.openxmlformats.org/drawingml/2006/main" w="57150">
            <a:solidFill>
              <a:srgbClr val="1D9E91"/>
            </a:solidFill>
            <a:prstDash val="solid"/>
          </a:ln>
        </p:spPr>
      </p:sp>
      <p:sp>
        <p:nvSpPr>
          <p:cNvPr id="19" name="Text 17">
            <a:extLst xmlns:a="http://schemas.openxmlformats.org/drawingml/2006/main">
              <a:ext uri="{FF2B5EF4-FFF2-40B4-BE49-F238E27FC236}">
                <a16:creationId xmlns:a16="http://schemas.microsoft.com/office/drawing/2014/main" id="{E2223242-874A-4095-8BDB-CC62B8F426F4}"/>
              </a:ext>
            </a:extLst>
          </p:cNvPr>
          <p:cNvSpPr>
            <a:spLocks xmlns:a="http://schemas.openxmlformats.org/drawingml/2006/main" noGrp="1"/>
          </p:cNvSpPr>
          <p:nvPr/>
        </p:nvSpPr>
        <p:spPr>
          <a:xfrm xmlns:a="http://schemas.openxmlformats.org/drawingml/2006/main">
            <a:off x="4857750" y="1012775"/>
            <a:ext cx="3857054" cy="141684"/>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116"/>
              </a:lnSpc>
              <a:buNone/>
              <a:defRPr sz="900" b="1">
                <a:solidFill>
                  <a:srgbClr val="D63B4A"/>
                </a:solidFill>
                <a:latin typeface="Arial"/>
                <a:ea typeface="Arial"/>
                <a:cs typeface="Arial"/>
              </a:defRPr>
            </a:pPr>
            <a:r>
              <a:rPr sz="900" b="1">
                <a:solidFill>
                  <a:srgbClr val="D63B4A"/>
                </a:solidFill>
                <a:latin typeface="Arial"/>
                <a:ea typeface="Arial"/>
                <a:cs typeface="Arial"/>
              </a:rPr>
              <a:t>RELATED RESEARCH AND EDUCATIONAL OUTPUTS</a:t>
            </a:r>
            <a:endParaRPr sz="900"/>
          </a:p>
        </p:txBody>
      </p:sp>
      <p:sp>
        <p:nvSpPr>
          <p:cNvPr id="20" name="Text 18">
            <a:extLst xmlns:a="http://schemas.openxmlformats.org/drawingml/2006/main">
              <a:ext uri="{FF2B5EF4-FFF2-40B4-BE49-F238E27FC236}">
                <a16:creationId xmlns:a16="http://schemas.microsoft.com/office/drawing/2014/main" id="{C3E156A3-743D-40EA-9948-122C96A29726}"/>
              </a:ext>
            </a:extLst>
          </p:cNvPr>
          <p:cNvSpPr>
            <a:spLocks xmlns:a="http://schemas.openxmlformats.org/drawingml/2006/main" noGrp="1"/>
          </p:cNvSpPr>
          <p:nvPr/>
        </p:nvSpPr>
        <p:spPr>
          <a:xfrm xmlns:a="http://schemas.openxmlformats.org/drawingml/2006/main">
            <a:off x="4857750" y="1154430"/>
            <a:ext cx="3857054" cy="5524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2090"/>
              </a:lnSpc>
              <a:buNone/>
              <a:defRPr sz="1900" b="1">
                <a:solidFill>
                  <a:srgbClr val="16344F"/>
                </a:solidFill>
                <a:latin typeface="Arial"/>
                <a:ea typeface="Arial"/>
                <a:cs typeface="Arial"/>
              </a:defRPr>
            </a:pPr>
            <a:r>
              <a:rPr sz="1900" b="1">
                <a:solidFill>
                  <a:srgbClr val="16344F"/>
                </a:solidFill>
                <a:latin typeface="Arial"/>
                <a:ea typeface="Arial"/>
                <a:cs typeface="Arial"/>
              </a:rPr>
              <a:t>CS support and future research</a:t>
            </a:r>
            <a:endParaRPr sz="1900"/>
          </a:p>
        </p:txBody>
      </p:sp>
      <p:sp>
        <p:nvSpPr>
          <p:cNvPr id="21" name="Text 19">
            <a:extLst xmlns:a="http://schemas.openxmlformats.org/drawingml/2006/main">
              <a:ext uri="{FF2B5EF4-FFF2-40B4-BE49-F238E27FC236}">
                <a16:creationId xmlns:a16="http://schemas.microsoft.com/office/drawing/2014/main" id="{AAF46FAC-4476-4756-A62F-6D2D6C7A0119}"/>
              </a:ext>
            </a:extLst>
          </p:cNvPr>
          <p:cNvSpPr>
            <a:spLocks xmlns:a="http://schemas.openxmlformats.org/drawingml/2006/main" noGrp="1"/>
          </p:cNvSpPr>
          <p:nvPr/>
        </p:nvSpPr>
        <p:spPr>
          <a:xfrm xmlns:a="http://schemas.openxmlformats.org/drawingml/2006/main">
            <a:off x="5073587" y="1781175"/>
            <a:ext cx="3565588" cy="109537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CS: reference code, reading guides, and evidence.</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Future study: research questions and controls.</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Students and supervisors define capstone scope.</a:t>
            </a:r>
            <a:endParaRPr sz="1170"/>
          </a:p>
        </p:txBody>
      </p:sp>
      <p:sp>
        <p:nvSpPr>
          <p:cNvPr id="22" name="Text 20">
            <a:extLst xmlns:a="http://schemas.openxmlformats.org/drawingml/2006/main">
              <a:ext uri="{FF2B5EF4-FFF2-40B4-BE49-F238E27FC236}">
                <a16:creationId xmlns:a16="http://schemas.microsoft.com/office/drawing/2014/main" id="{A20F831B-275E-4879-85C1-5948EDE58EA1}"/>
              </a:ext>
            </a:extLst>
          </p:cNvPr>
          <p:cNvSpPr>
            <a:spLocks xmlns:a="http://schemas.openxmlformats.org/drawingml/2006/main" noGrp="1"/>
          </p:cNvSpPr>
          <p:nvPr/>
        </p:nvSpPr>
        <p:spPr>
          <a:xfrm xmlns:a="http://schemas.openxmlformats.org/drawingml/2006/main">
            <a:off x="342900" y="4235500"/>
            <a:ext cx="8458200" cy="425500"/>
          </a:xfrm>
          <a:prstGeom xmlns:a="http://schemas.openxmlformats.org/drawingml/2006/main" prst="rect">
            <a:avLst/>
          </a:prstGeom>
          <a:solidFill xmlns:a="http://schemas.openxmlformats.org/drawingml/2006/main">
            <a:srgbClr val="EEF4F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23" name="Shape 21">
            <a:extLst xmlns:a="http://schemas.openxmlformats.org/drawingml/2006/main">
              <a:ext uri="{FF2B5EF4-FFF2-40B4-BE49-F238E27FC236}">
                <a16:creationId xmlns:a16="http://schemas.microsoft.com/office/drawing/2014/main" id="{3A500A63-986D-452F-8D3B-006B3E2B51DE}"/>
              </a:ext>
            </a:extLst>
          </p:cNvPr>
          <p:cNvSpPr>
            <a:spLocks xmlns:a="http://schemas.openxmlformats.org/drawingml/2006/main" noGrp="1"/>
          </p:cNvSpPr>
          <p:nvPr/>
        </p:nvSpPr>
        <p:spPr>
          <a:xfrm xmlns:a="http://schemas.openxmlformats.org/drawingml/2006/main">
            <a:off x="371475" y="4235500"/>
            <a:ext cx="0" cy="425500"/>
          </a:xfrm>
          <a:prstGeom xmlns:a="http://schemas.openxmlformats.org/drawingml/2006/main" prst="line">
            <a:avLst/>
          </a:prstGeom>
          <a:noFill xmlns:a="http://schemas.openxmlformats.org/drawingml/2006/main"/>
          <a:ln xmlns:a="http://schemas.openxmlformats.org/drawingml/2006/main" w="57150">
            <a:solidFill>
              <a:srgbClr val="D63B4A"/>
            </a:solidFill>
            <a:prstDash val="solid"/>
          </a:ln>
        </p:spPr>
      </p:sp>
      <p:sp>
        <p:nvSpPr>
          <p:cNvPr id="24" name="Text 22">
            <a:extLst xmlns:a="http://schemas.openxmlformats.org/drawingml/2006/main">
              <a:ext uri="{FF2B5EF4-FFF2-40B4-BE49-F238E27FC236}">
                <a16:creationId xmlns:a16="http://schemas.microsoft.com/office/drawing/2014/main" id="{3F5C0131-F056-4563-A5B9-20EF0A6C0F0C}"/>
              </a:ext>
            </a:extLst>
          </p:cNvPr>
          <p:cNvSpPr>
            <a:spLocks xmlns:a="http://schemas.openxmlformats.org/drawingml/2006/main" noGrp="1"/>
          </p:cNvSpPr>
          <p:nvPr/>
        </p:nvSpPr>
        <p:spPr>
          <a:xfrm xmlns:a="http://schemas.openxmlformats.org/drawingml/2006/main">
            <a:off x="552450" y="4349800"/>
            <a:ext cx="8258175" cy="1969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550"/>
              </a:lnSpc>
              <a:buNone/>
              <a:defRPr sz="1250" b="1">
                <a:solidFill>
                  <a:srgbClr val="16344F"/>
                </a:solidFill>
                <a:latin typeface="Arial"/>
                <a:ea typeface="Arial"/>
                <a:cs typeface="Arial"/>
              </a:defRPr>
            </a:pPr>
            <a:r>
              <a:rPr sz="1250" b="1">
                <a:solidFill>
                  <a:srgbClr val="16344F"/>
                </a:solidFill>
                <a:latin typeface="Arial"/>
                <a:ea typeface="Arial"/>
                <a:cs typeface="Arial"/>
              </a:rPr>
              <a:t>Share code, schemas, and evidence while preserving decision ownership and the scope of each conclusion.</a:t>
            </a:r>
            <a:endParaRPr sz="1250"/>
          </a:p>
        </p:txBody>
      </p:sp>
      <p:sp>
        <p:nvSpPr>
          <p:cNvPr id="25" name="Text 23">
            <a:extLst xmlns:a="http://schemas.openxmlformats.org/drawingml/2006/main">
              <a:ext uri="{FF2B5EF4-FFF2-40B4-BE49-F238E27FC236}">
                <a16:creationId xmlns:a16="http://schemas.microsoft.com/office/drawing/2014/main" id="{36542798-DD5C-4E23-BC35-47F07AF9A3E6}"/>
              </a:ext>
            </a:extLst>
          </p:cNvPr>
          <p:cNvSpPr>
            <a:spLocks xmlns:a="http://schemas.openxmlformats.org/drawingml/2006/main" noGrp="1"/>
          </p:cNvSpPr>
          <p:nvPr/>
        </p:nvSpPr>
        <p:spPr>
          <a:xfrm xmlns:a="http://schemas.openxmlformats.org/drawingml/2006/main">
            <a:off x="8339328" y="4965192"/>
            <a:ext cx="502920"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60">
                <a:solidFill>
                  <a:srgbClr val="7A8794"/>
                </a:solidFill>
                <a:latin typeface="Arial"/>
                <a:ea typeface="Arial"/>
                <a:cs typeface="Arial"/>
              </a:rPr>
              <a:t>3 / 31</a:t>
            </a:r>
            <a:endParaRPr sz="660"/>
          </a:p>
        </p:txBody>
      </p:sp>
      <p:sp>
        <p:nvSpPr>
          <p:cNvPr id="26" name="Sources footer">
            <a:extLst xmlns:a="http://schemas.openxmlformats.org/drawingml/2006/main">
              <a:ext uri="{FF2B5EF4-FFF2-40B4-BE49-F238E27FC236}">
                <a16:creationId xmlns:a16="http://schemas.microsoft.com/office/drawing/2014/main" id="{E0F151B0-46A4-4F39-BD47-AB01C43FF8DC}"/>
              </a:ext>
            </a:extLst>
          </p:cNvPr>
          <p:cNvSpPr>
            <a:spLocks xmlns:a="http://schemas.openxmlformats.org/drawingml/2006/main" noGrp="1"/>
          </p:cNvSpPr>
          <p:nvPr/>
        </p:nvSpPr>
        <p:spPr>
          <a:xfrm xmlns:a="http://schemas.openxmlformats.org/drawingml/2006/main">
            <a:off x="438150" y="4924425"/>
            <a:ext cx="72961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40" b="0">
                <a:solidFill>
                  <a:srgbClr val="234D78"/>
                </a:solidFill>
                <a:latin typeface="Arial"/>
                <a:ea typeface="Arial"/>
                <a:cs typeface="Arial"/>
              </a:defRPr>
            </a:pPr>
            <a:r>
              <a:rPr sz="640" b="0">
                <a:solidFill>
                  <a:srgbClr val="234D78"/>
                </a:solidFill>
                <a:latin typeface="Arial"/>
                <a:ea typeface="Arial"/>
                <a:cs typeface="Arial"/>
                <a:hlinkClick xmlns:r="http://schemas.openxmlformats.org/officeDocument/2006/relationships" r:id="R7c1ddbcaebea4a78"/>
              </a:rPr>
              <a:t>Reader guide and sources</a:t>
            </a:r>
          </a:p>
        </p:txBody>
      </p:sp>
    </p:spTree>
    <p:extLst>
      <p:ext uri="{BB962C8B-B14F-4D97-AF65-F5344CB8AC3E}">
        <p14:creationId xmlns:p14="http://schemas.microsoft.com/office/powerpoint/2010/main" val="138992976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32E3633-E584-4663-97AA-4389F6D16B4A}"/>
              </a:ext>
            </a:extLst>
          </p:cNvPr>
          <p:cNvSpPr>
            <a:spLocks xmlns:a="http://schemas.openxmlformats.org/drawingml/2006/main" noGrp="1"/>
          </p:cNvSpPr>
          <p:nvPr/>
        </p:nvSpPr>
        <p:spPr>
          <a:xfrm xmlns:a="http://schemas.openxmlformats.org/drawingml/2006/main">
            <a:off x="0" y="0"/>
            <a:ext cx="9144000" cy="609600"/>
          </a:xfrm>
          <a:prstGeom xmlns:a="http://schemas.openxmlformats.org/drawingml/2006/main" prst="rect">
            <a:avLst/>
          </a:prstGeom>
          <a:solidFill xmlns:a="http://schemas.openxmlformats.org/drawingml/2006/main">
            <a:srgbClr val="234D7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3" name="Text 1">
            <a:extLst xmlns:a="http://schemas.openxmlformats.org/drawingml/2006/main">
              <a:ext uri="{FF2B5EF4-FFF2-40B4-BE49-F238E27FC236}">
                <a16:creationId xmlns:a16="http://schemas.microsoft.com/office/drawing/2014/main" id="{0B197A9D-5356-481D-9544-307A770702C1}"/>
              </a:ext>
            </a:extLst>
          </p:cNvPr>
          <p:cNvSpPr>
            <a:spLocks xmlns:a="http://schemas.openxmlformats.org/drawingml/2006/main" noGrp="1"/>
          </p:cNvSpPr>
          <p:nvPr/>
        </p:nvSpPr>
        <p:spPr>
          <a:xfrm xmlns:a="http://schemas.openxmlformats.org/drawingml/2006/main">
            <a:off x="330136" y="164116"/>
            <a:ext cx="6619875" cy="3238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2415"/>
              </a:lnSpc>
              <a:buNone/>
              <a:defRPr sz="2300" b="1">
                <a:solidFill>
                  <a:srgbClr val="FFFFFF"/>
                </a:solidFill>
                <a:latin typeface="Arial"/>
                <a:ea typeface="Arial"/>
                <a:cs typeface="Arial"/>
              </a:defRPr>
            </a:pPr>
            <a:r>
              <a:rPr sz="2300" b="1">
                <a:solidFill>
                  <a:srgbClr val="FFFFFF"/>
                </a:solidFill>
                <a:latin typeface="Arial"/>
                <a:ea typeface="Arial"/>
                <a:cs typeface="Arial"/>
              </a:rPr>
              <a:t>Pipeline contracts and levels of evidence</a:t>
            </a:r>
            <a:endParaRPr sz="2300"/>
          </a:p>
        </p:txBody>
      </p:sp>
      <p:sp>
        <p:nvSpPr>
          <p:cNvPr id="4" name="Text 2">
            <a:extLst xmlns:a="http://schemas.openxmlformats.org/drawingml/2006/main">
              <a:ext uri="{FF2B5EF4-FFF2-40B4-BE49-F238E27FC236}">
                <a16:creationId xmlns:a16="http://schemas.microsoft.com/office/drawing/2014/main" id="{018D2D84-CEC8-47B5-8AB9-AD46CEEE1982}"/>
              </a:ext>
            </a:extLst>
          </p:cNvPr>
          <p:cNvSpPr>
            <a:spLocks xmlns:a="http://schemas.openxmlformats.org/drawingml/2006/main" noGrp="1"/>
          </p:cNvSpPr>
          <p:nvPr/>
        </p:nvSpPr>
        <p:spPr>
          <a:xfrm xmlns:a="http://schemas.openxmlformats.org/drawingml/2006/main">
            <a:off x="7372350" y="190500"/>
            <a:ext cx="14478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r">
              <a:lnSpc>
                <a:spcPts val="1054"/>
              </a:lnSpc>
              <a:buNone/>
              <a:defRPr sz="788" b="1">
                <a:solidFill>
                  <a:srgbClr val="FFFFFF"/>
                </a:solidFill>
                <a:latin typeface="Arial"/>
                <a:ea typeface="Arial"/>
                <a:cs typeface="Arial"/>
              </a:defRPr>
            </a:pPr>
            <a:r>
              <a:rPr sz="788" b="1">
                <a:solidFill>
                  <a:srgbClr val="FFFFFF"/>
                </a:solidFill>
                <a:latin typeface="Arial"/>
                <a:ea typeface="Arial"/>
                <a:cs typeface="Arial"/>
              </a:rPr>
              <a:t>CS CAPSTONE REFERENCE</a:t>
            </a:r>
            <a:endParaRPr sz="850"/>
          </a:p>
        </p:txBody>
      </p:sp>
      <p:sp>
        <p:nvSpPr>
          <p:cNvPr id="5" name="Text 3">
            <a:extLst xmlns:a="http://schemas.openxmlformats.org/drawingml/2006/main">
              <a:ext uri="{FF2B5EF4-FFF2-40B4-BE49-F238E27FC236}">
                <a16:creationId xmlns:a16="http://schemas.microsoft.com/office/drawing/2014/main" id="{02E187D7-F4B9-4D1E-A947-25109D8EB2FE}"/>
              </a:ext>
            </a:extLst>
          </p:cNvPr>
          <p:cNvSpPr>
            <a:spLocks xmlns:a="http://schemas.openxmlformats.org/drawingml/2006/main" noGrp="1"/>
          </p:cNvSpPr>
          <p:nvPr/>
        </p:nvSpPr>
        <p:spPr>
          <a:xfrm xmlns:a="http://schemas.openxmlformats.org/drawingml/2006/main">
            <a:off x="330101" y="609600"/>
            <a:ext cx="787301" cy="38100"/>
          </a:xfrm>
          <a:prstGeom xmlns:a="http://schemas.openxmlformats.org/drawingml/2006/main" prst="rect">
            <a:avLst/>
          </a:prstGeom>
          <a:solidFill xmlns:a="http://schemas.openxmlformats.org/drawingml/2006/main">
            <a:srgbClr val="D63B4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6" name="Text 4">
            <a:extLst xmlns:a="http://schemas.openxmlformats.org/drawingml/2006/main">
              <a:ext uri="{FF2B5EF4-FFF2-40B4-BE49-F238E27FC236}">
                <a16:creationId xmlns:a16="http://schemas.microsoft.com/office/drawing/2014/main" id="{90E241D6-242E-4F93-9A99-B41D071363AD}"/>
              </a:ext>
            </a:extLst>
          </p:cNvPr>
          <p:cNvSpPr>
            <a:spLocks xmlns:a="http://schemas.openxmlformats.org/drawingml/2006/main" noGrp="1"/>
          </p:cNvSpPr>
          <p:nvPr/>
        </p:nvSpPr>
        <p:spPr>
          <a:xfrm xmlns:a="http://schemas.openxmlformats.org/drawingml/2006/main">
            <a:off x="342900" y="850850"/>
            <a:ext cx="8627364" cy="18097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426"/>
              </a:lnSpc>
              <a:buNone/>
              <a:defRPr sz="1150" b="0">
                <a:solidFill>
                  <a:srgbClr val="617286"/>
                </a:solidFill>
                <a:latin typeface="Arial"/>
                <a:ea typeface="Arial"/>
                <a:cs typeface="Arial"/>
              </a:defRPr>
            </a:pPr>
            <a:r>
              <a:rPr sz="1150" b="0">
                <a:solidFill>
                  <a:srgbClr val="617286"/>
                </a:solidFill>
                <a:latin typeface="Arial"/>
                <a:ea typeface="Arial"/>
                <a:cs typeface="Arial"/>
              </a:rPr>
              <a:t>Each stage requires its own inputs and metrics. Object pose alone is insufficient to reconstruct a human manipulation task.</a:t>
            </a:r>
            <a:endParaRPr sz="1150"/>
          </a:p>
        </p:txBody>
      </p:sp>
      <p:sp>
        <p:nvSpPr>
          <p:cNvPr id="7" name="Text 5">
            <a:extLst xmlns:a="http://schemas.openxmlformats.org/drawingml/2006/main">
              <a:ext uri="{FF2B5EF4-FFF2-40B4-BE49-F238E27FC236}">
                <a16:creationId xmlns:a16="http://schemas.microsoft.com/office/drawing/2014/main" id="{1E0D8975-768A-46B7-A5CA-D45A2F44F38C}"/>
              </a:ext>
            </a:extLst>
          </p:cNvPr>
          <p:cNvSpPr>
            <a:spLocks xmlns:a="http://schemas.openxmlformats.org/drawingml/2006/main" noGrp="1"/>
          </p:cNvSpPr>
          <p:nvPr/>
        </p:nvSpPr>
        <p:spPr>
          <a:xfrm xmlns:a="http://schemas.openxmlformats.org/drawingml/2006/main">
            <a:off x="342900" y="1323826"/>
            <a:ext cx="1809899" cy="1050727"/>
          </a:xfrm>
          <a:prstGeom xmlns:a="http://schemas.openxmlformats.org/drawingml/2006/main" prst="roundRect">
            <a:avLst>
              <a:gd name="adj" fmla="val 8461"/>
            </a:avLst>
          </a:prstGeom>
          <a:solidFill xmlns:a="http://schemas.openxmlformats.org/drawingml/2006/main">
            <a:srgbClr val="FFFFFF"/>
          </a:solidFill>
          <a:ln xmlns:a="http://schemas.openxmlformats.org/drawingml/2006/main" w="9525">
            <a:solidFill>
              <a:srgbClr val="CAD6E2"/>
            </a:solidFill>
          </a:ln>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8" name="Text 6">
            <a:extLst xmlns:a="http://schemas.openxmlformats.org/drawingml/2006/main">
              <a:ext uri="{FF2B5EF4-FFF2-40B4-BE49-F238E27FC236}">
                <a16:creationId xmlns:a16="http://schemas.microsoft.com/office/drawing/2014/main" id="{EC81E134-F10C-46CF-86EE-6E898CE2A492}"/>
              </a:ext>
            </a:extLst>
          </p:cNvPr>
          <p:cNvSpPr>
            <a:spLocks xmlns:a="http://schemas.openxmlformats.org/drawingml/2006/main" noGrp="1"/>
          </p:cNvSpPr>
          <p:nvPr/>
        </p:nvSpPr>
        <p:spPr>
          <a:xfrm xmlns:a="http://schemas.openxmlformats.org/drawingml/2006/main">
            <a:off x="451103" y="1447651"/>
            <a:ext cx="1593494" cy="4089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ctr">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Video / robot log</a:t>
            </a:r>
            <a:endParaRPr sz="1400"/>
          </a:p>
        </p:txBody>
      </p:sp>
      <p:sp>
        <p:nvSpPr>
          <p:cNvPr id="9" name="Text 7">
            <a:extLst xmlns:a="http://schemas.openxmlformats.org/drawingml/2006/main">
              <a:ext uri="{FF2B5EF4-FFF2-40B4-BE49-F238E27FC236}">
                <a16:creationId xmlns:a16="http://schemas.microsoft.com/office/drawing/2014/main" id="{AFDD075E-2DB9-4B02-BA13-B2CD5C169A3B}"/>
              </a:ext>
            </a:extLst>
          </p:cNvPr>
          <p:cNvSpPr>
            <a:spLocks xmlns:a="http://schemas.openxmlformats.org/drawingml/2006/main" noGrp="1"/>
          </p:cNvSpPr>
          <p:nvPr/>
        </p:nvSpPr>
        <p:spPr>
          <a:xfrm xmlns:a="http://schemas.openxmlformats.org/drawingml/2006/main">
            <a:off x="451103" y="1920032"/>
            <a:ext cx="1593494" cy="330696"/>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ctr">
              <a:lnSpc>
                <a:spcPts val="1302"/>
              </a:lnSpc>
              <a:buNone/>
              <a:defRPr sz="1050" b="0">
                <a:solidFill>
                  <a:srgbClr val="12263A"/>
                </a:solidFill>
                <a:latin typeface="Arial"/>
                <a:ea typeface="Arial"/>
                <a:cs typeface="Arial"/>
              </a:defRPr>
            </a:pPr>
            <a:r>
              <a:rPr sz="1050" b="0">
                <a:solidFill>
                  <a:srgbClr val="12263A"/>
                </a:solidFill>
                <a:latin typeface="Arial"/>
                <a:ea typeface="Arial"/>
                <a:cs typeface="Arial"/>
              </a:rPr>
              <a:t>RGB or RGB-D, calibration, timestamps</a:t>
            </a:r>
            <a:endParaRPr sz="1050"/>
          </a:p>
        </p:txBody>
      </p:sp>
      <p:sp>
        <p:nvSpPr>
          <p:cNvPr id="10" name="Text 8">
            <a:extLst xmlns:a="http://schemas.openxmlformats.org/drawingml/2006/main">
              <a:ext uri="{FF2B5EF4-FFF2-40B4-BE49-F238E27FC236}">
                <a16:creationId xmlns:a16="http://schemas.microsoft.com/office/drawing/2014/main" id="{5F57B0B9-FF9A-4558-BC1C-3CBB5B2ACD6B}"/>
              </a:ext>
            </a:extLst>
          </p:cNvPr>
          <p:cNvSpPr>
            <a:spLocks xmlns:a="http://schemas.openxmlformats.org/drawingml/2006/main" noGrp="1"/>
          </p:cNvSpPr>
          <p:nvPr/>
        </p:nvSpPr>
        <p:spPr>
          <a:xfrm xmlns:a="http://schemas.openxmlformats.org/drawingml/2006/main">
            <a:off x="2252268" y="1707505"/>
            <a:ext cx="207213" cy="283369"/>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2232"/>
              </a:lnSpc>
              <a:buNone/>
            </a:pPr>
            <a:r>
              <a:rPr sz="1800" b="1">
                <a:solidFill>
                  <a:srgbClr val="D63B4A"/>
                </a:solidFill>
                <a:latin typeface="Arial"/>
                <a:ea typeface="Arial"/>
                <a:cs typeface="Arial"/>
              </a:rPr>
              <a:t>→</a:t>
            </a:r>
            <a:endParaRPr sz="1800"/>
          </a:p>
        </p:txBody>
      </p:sp>
      <p:sp>
        <p:nvSpPr>
          <p:cNvPr id="11" name="Text 9">
            <a:extLst xmlns:a="http://schemas.openxmlformats.org/drawingml/2006/main">
              <a:ext uri="{FF2B5EF4-FFF2-40B4-BE49-F238E27FC236}">
                <a16:creationId xmlns:a16="http://schemas.microsoft.com/office/drawing/2014/main" id="{D63FAFAC-B437-477E-B4F3-A0280ADCBDE4}"/>
              </a:ext>
            </a:extLst>
          </p:cNvPr>
          <p:cNvSpPr>
            <a:spLocks xmlns:a="http://schemas.openxmlformats.org/drawingml/2006/main" noGrp="1"/>
          </p:cNvSpPr>
          <p:nvPr/>
        </p:nvSpPr>
        <p:spPr>
          <a:xfrm xmlns:a="http://schemas.openxmlformats.org/drawingml/2006/main">
            <a:off x="2558951" y="1426071"/>
            <a:ext cx="1810048" cy="846237"/>
          </a:xfrm>
          <a:prstGeom xmlns:a="http://schemas.openxmlformats.org/drawingml/2006/main" prst="roundRect">
            <a:avLst>
              <a:gd name="adj" fmla="val 10505"/>
            </a:avLst>
          </a:prstGeom>
          <a:solidFill xmlns:a="http://schemas.openxmlformats.org/drawingml/2006/main">
            <a:srgbClr val="FFFFFF"/>
          </a:solidFill>
          <a:ln xmlns:a="http://schemas.openxmlformats.org/drawingml/2006/main" w="9525">
            <a:solidFill>
              <a:srgbClr val="CAD6E2"/>
            </a:solidFill>
          </a:ln>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12" name="Text 10">
            <a:extLst xmlns:a="http://schemas.openxmlformats.org/drawingml/2006/main">
              <a:ext uri="{FF2B5EF4-FFF2-40B4-BE49-F238E27FC236}">
                <a16:creationId xmlns:a16="http://schemas.microsoft.com/office/drawing/2014/main" id="{AA38ED07-2B2D-4E33-8C7D-35F8059FD4B0}"/>
              </a:ext>
            </a:extLst>
          </p:cNvPr>
          <p:cNvSpPr>
            <a:spLocks xmlns:a="http://schemas.openxmlformats.org/drawingml/2006/main" noGrp="1"/>
          </p:cNvSpPr>
          <p:nvPr/>
        </p:nvSpPr>
        <p:spPr>
          <a:xfrm xmlns:a="http://schemas.openxmlformats.org/drawingml/2006/main">
            <a:off x="2667152" y="1549896"/>
            <a:ext cx="1593646"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ctr">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Pose and events</a:t>
            </a:r>
            <a:endParaRPr sz="1400"/>
          </a:p>
        </p:txBody>
      </p:sp>
      <p:sp>
        <p:nvSpPr>
          <p:cNvPr id="13" name="Text 11">
            <a:extLst xmlns:a="http://schemas.openxmlformats.org/drawingml/2006/main">
              <a:ext uri="{FF2B5EF4-FFF2-40B4-BE49-F238E27FC236}">
                <a16:creationId xmlns:a16="http://schemas.microsoft.com/office/drawing/2014/main" id="{0D6F2AD4-DE61-4788-81EF-64F3E7B3A907}"/>
              </a:ext>
            </a:extLst>
          </p:cNvPr>
          <p:cNvSpPr>
            <a:spLocks xmlns:a="http://schemas.openxmlformats.org/drawingml/2006/main" noGrp="1"/>
          </p:cNvSpPr>
          <p:nvPr/>
        </p:nvSpPr>
        <p:spPr>
          <a:xfrm xmlns:a="http://schemas.openxmlformats.org/drawingml/2006/main">
            <a:off x="2667152" y="1817787"/>
            <a:ext cx="1593646" cy="330696"/>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ctr">
              <a:lnSpc>
                <a:spcPts val="1302"/>
              </a:lnSpc>
              <a:buNone/>
              <a:defRPr sz="1050" b="0">
                <a:solidFill>
                  <a:srgbClr val="12263A"/>
                </a:solidFill>
                <a:latin typeface="Arial"/>
                <a:ea typeface="Arial"/>
                <a:cs typeface="Arial"/>
              </a:defRPr>
            </a:pPr>
            <a:r>
              <a:rPr sz="1050" b="0">
                <a:solidFill>
                  <a:srgbClr val="12263A"/>
                </a:solidFill>
                <a:latin typeface="Arial"/>
                <a:ea typeface="Arial"/>
                <a:cs typeface="Arial"/>
              </a:rPr>
              <a:t>Object/TCP poses, grasp, phases, scale</a:t>
            </a:r>
            <a:endParaRPr sz="1050"/>
          </a:p>
        </p:txBody>
      </p:sp>
      <p:sp>
        <p:nvSpPr>
          <p:cNvPr id="14" name="Text 12">
            <a:extLst xmlns:a="http://schemas.openxmlformats.org/drawingml/2006/main">
              <a:ext uri="{FF2B5EF4-FFF2-40B4-BE49-F238E27FC236}">
                <a16:creationId xmlns:a16="http://schemas.microsoft.com/office/drawing/2014/main" id="{67CB4530-BC62-454E-9BC9-AF717456C3BF}"/>
              </a:ext>
            </a:extLst>
          </p:cNvPr>
          <p:cNvSpPr>
            <a:spLocks xmlns:a="http://schemas.openxmlformats.org/drawingml/2006/main" noGrp="1"/>
          </p:cNvSpPr>
          <p:nvPr/>
        </p:nvSpPr>
        <p:spPr>
          <a:xfrm xmlns:a="http://schemas.openxmlformats.org/drawingml/2006/main">
            <a:off x="4468468" y="1707505"/>
            <a:ext cx="207213" cy="283369"/>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2232"/>
              </a:lnSpc>
              <a:buNone/>
            </a:pPr>
            <a:r>
              <a:rPr sz="1800" b="1">
                <a:solidFill>
                  <a:srgbClr val="D63B4A"/>
                </a:solidFill>
                <a:latin typeface="Arial"/>
                <a:ea typeface="Arial"/>
                <a:cs typeface="Arial"/>
              </a:rPr>
              <a:t>→</a:t>
            </a:r>
            <a:endParaRPr sz="1800"/>
          </a:p>
        </p:txBody>
      </p:sp>
      <p:sp>
        <p:nvSpPr>
          <p:cNvPr id="15" name="Text 13">
            <a:extLst xmlns:a="http://schemas.openxmlformats.org/drawingml/2006/main">
              <a:ext uri="{FF2B5EF4-FFF2-40B4-BE49-F238E27FC236}">
                <a16:creationId xmlns:a16="http://schemas.microsoft.com/office/drawing/2014/main" id="{ED24E48C-5B73-43B6-B422-C4F6C80931C9}"/>
              </a:ext>
            </a:extLst>
          </p:cNvPr>
          <p:cNvSpPr>
            <a:spLocks xmlns:a="http://schemas.openxmlformats.org/drawingml/2006/main" noGrp="1"/>
          </p:cNvSpPr>
          <p:nvPr/>
        </p:nvSpPr>
        <p:spPr>
          <a:xfrm xmlns:a="http://schemas.openxmlformats.org/drawingml/2006/main">
            <a:off x="4775150" y="1426071"/>
            <a:ext cx="1809899" cy="846237"/>
          </a:xfrm>
          <a:prstGeom xmlns:a="http://schemas.openxmlformats.org/drawingml/2006/main" prst="roundRect">
            <a:avLst>
              <a:gd name="adj" fmla="val 10505"/>
            </a:avLst>
          </a:prstGeom>
          <a:solidFill xmlns:a="http://schemas.openxmlformats.org/drawingml/2006/main">
            <a:srgbClr val="FFFFFF"/>
          </a:solidFill>
          <a:ln xmlns:a="http://schemas.openxmlformats.org/drawingml/2006/main" w="9525">
            <a:solidFill>
              <a:srgbClr val="CAD6E2"/>
            </a:solidFill>
          </a:ln>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16" name="Text 14">
            <a:extLst xmlns:a="http://schemas.openxmlformats.org/drawingml/2006/main">
              <a:ext uri="{FF2B5EF4-FFF2-40B4-BE49-F238E27FC236}">
                <a16:creationId xmlns:a16="http://schemas.microsoft.com/office/drawing/2014/main" id="{5535674F-9A9C-4012-9221-2CB6CEB9B968}"/>
              </a:ext>
            </a:extLst>
          </p:cNvPr>
          <p:cNvSpPr>
            <a:spLocks xmlns:a="http://schemas.openxmlformats.org/drawingml/2006/main" noGrp="1"/>
          </p:cNvSpPr>
          <p:nvPr/>
        </p:nvSpPr>
        <p:spPr>
          <a:xfrm xmlns:a="http://schemas.openxmlformats.org/drawingml/2006/main">
            <a:off x="4883353" y="1549896"/>
            <a:ext cx="1593494"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ctr">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Retargeting</a:t>
            </a:r>
            <a:endParaRPr sz="1400"/>
          </a:p>
        </p:txBody>
      </p:sp>
      <p:sp>
        <p:nvSpPr>
          <p:cNvPr id="17" name="Text 15">
            <a:extLst xmlns:a="http://schemas.openxmlformats.org/drawingml/2006/main">
              <a:ext uri="{FF2B5EF4-FFF2-40B4-BE49-F238E27FC236}">
                <a16:creationId xmlns:a16="http://schemas.microsoft.com/office/drawing/2014/main" id="{3714E919-3BC8-4043-9ED2-5BD1714D7017}"/>
              </a:ext>
            </a:extLst>
          </p:cNvPr>
          <p:cNvSpPr>
            <a:spLocks xmlns:a="http://schemas.openxmlformats.org/drawingml/2006/main" noGrp="1"/>
          </p:cNvSpPr>
          <p:nvPr/>
        </p:nvSpPr>
        <p:spPr>
          <a:xfrm xmlns:a="http://schemas.openxmlformats.org/drawingml/2006/main">
            <a:off x="4883353" y="1817787"/>
            <a:ext cx="1593494" cy="330696"/>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ctr">
              <a:lnSpc>
                <a:spcPts val="1302"/>
              </a:lnSpc>
              <a:buNone/>
              <a:defRPr sz="1050" b="0">
                <a:solidFill>
                  <a:srgbClr val="12263A"/>
                </a:solidFill>
                <a:latin typeface="Arial"/>
                <a:ea typeface="Arial"/>
                <a:cs typeface="Arial"/>
              </a:defRPr>
            </a:pPr>
            <a:r>
              <a:rPr sz="1050" b="0">
                <a:solidFill>
                  <a:srgbClr val="12263A"/>
                </a:solidFill>
                <a:latin typeface="Arial"/>
                <a:ea typeface="Arial"/>
                <a:cs typeface="Arial"/>
              </a:rPr>
              <a:t>Target IK, controller, contact, constraints</a:t>
            </a:r>
            <a:endParaRPr sz="1050"/>
          </a:p>
        </p:txBody>
      </p:sp>
      <p:sp>
        <p:nvSpPr>
          <p:cNvPr id="18" name="Text 16">
            <a:extLst xmlns:a="http://schemas.openxmlformats.org/drawingml/2006/main">
              <a:ext uri="{FF2B5EF4-FFF2-40B4-BE49-F238E27FC236}">
                <a16:creationId xmlns:a16="http://schemas.microsoft.com/office/drawing/2014/main" id="{A3EABE0F-2BE8-44C5-8D1F-6C7AF7122530}"/>
              </a:ext>
            </a:extLst>
          </p:cNvPr>
          <p:cNvSpPr>
            <a:spLocks xmlns:a="http://schemas.openxmlformats.org/drawingml/2006/main" noGrp="1"/>
          </p:cNvSpPr>
          <p:nvPr/>
        </p:nvSpPr>
        <p:spPr>
          <a:xfrm xmlns:a="http://schemas.openxmlformats.org/drawingml/2006/main">
            <a:off x="6684518" y="1707505"/>
            <a:ext cx="207213" cy="283369"/>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2232"/>
              </a:lnSpc>
              <a:buNone/>
            </a:pPr>
            <a:r>
              <a:rPr sz="1800" b="1">
                <a:solidFill>
                  <a:srgbClr val="D63B4A"/>
                </a:solidFill>
                <a:latin typeface="Arial"/>
                <a:ea typeface="Arial"/>
                <a:cs typeface="Arial"/>
              </a:rPr>
              <a:t>→</a:t>
            </a:r>
            <a:endParaRPr sz="1800"/>
          </a:p>
        </p:txBody>
      </p:sp>
      <p:sp>
        <p:nvSpPr>
          <p:cNvPr id="19" name="Text 17">
            <a:extLst xmlns:a="http://schemas.openxmlformats.org/drawingml/2006/main">
              <a:ext uri="{FF2B5EF4-FFF2-40B4-BE49-F238E27FC236}">
                <a16:creationId xmlns:a16="http://schemas.microsoft.com/office/drawing/2014/main" id="{F01F4A6A-0358-4C93-AFD5-406836883CEB}"/>
              </a:ext>
            </a:extLst>
          </p:cNvPr>
          <p:cNvSpPr>
            <a:spLocks xmlns:a="http://schemas.openxmlformats.org/drawingml/2006/main" noGrp="1"/>
          </p:cNvSpPr>
          <p:nvPr/>
        </p:nvSpPr>
        <p:spPr>
          <a:xfrm xmlns:a="http://schemas.openxmlformats.org/drawingml/2006/main">
            <a:off x="6991201" y="1426071"/>
            <a:ext cx="1809899" cy="846237"/>
          </a:xfrm>
          <a:prstGeom xmlns:a="http://schemas.openxmlformats.org/drawingml/2006/main" prst="roundRect">
            <a:avLst>
              <a:gd name="adj" fmla="val 10505"/>
            </a:avLst>
          </a:prstGeom>
          <a:solidFill xmlns:a="http://schemas.openxmlformats.org/drawingml/2006/main">
            <a:srgbClr val="FFFFFF"/>
          </a:solidFill>
          <a:ln xmlns:a="http://schemas.openxmlformats.org/drawingml/2006/main" w="9525">
            <a:solidFill>
              <a:srgbClr val="CAD6E2"/>
            </a:solidFill>
          </a:ln>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20" name="Text 18">
            <a:extLst xmlns:a="http://schemas.openxmlformats.org/drawingml/2006/main">
              <a:ext uri="{FF2B5EF4-FFF2-40B4-BE49-F238E27FC236}">
                <a16:creationId xmlns:a16="http://schemas.microsoft.com/office/drawing/2014/main" id="{F167F0C1-80C1-4D1F-9D86-4E92C23E96EE}"/>
              </a:ext>
            </a:extLst>
          </p:cNvPr>
          <p:cNvSpPr>
            <a:spLocks xmlns:a="http://schemas.openxmlformats.org/drawingml/2006/main" noGrp="1"/>
          </p:cNvSpPr>
          <p:nvPr/>
        </p:nvSpPr>
        <p:spPr>
          <a:xfrm xmlns:a="http://schemas.openxmlformats.org/drawingml/2006/main">
            <a:off x="7099404" y="1549896"/>
            <a:ext cx="1593494"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ctr">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Correction</a:t>
            </a:r>
            <a:endParaRPr sz="1400"/>
          </a:p>
        </p:txBody>
      </p:sp>
      <p:sp>
        <p:nvSpPr>
          <p:cNvPr id="21" name="Text 19">
            <a:extLst xmlns:a="http://schemas.openxmlformats.org/drawingml/2006/main">
              <a:ext uri="{FF2B5EF4-FFF2-40B4-BE49-F238E27FC236}">
                <a16:creationId xmlns:a16="http://schemas.microsoft.com/office/drawing/2014/main" id="{5B65571E-4FD6-4376-99C9-0CF8147E0976}"/>
              </a:ext>
            </a:extLst>
          </p:cNvPr>
          <p:cNvSpPr>
            <a:spLocks xmlns:a="http://schemas.openxmlformats.org/drawingml/2006/main" noGrp="1"/>
          </p:cNvSpPr>
          <p:nvPr/>
        </p:nvSpPr>
        <p:spPr>
          <a:xfrm xmlns:a="http://schemas.openxmlformats.org/drawingml/2006/main">
            <a:off x="7099404" y="1817787"/>
            <a:ext cx="1593494" cy="330696"/>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ctr">
              <a:lnSpc>
                <a:spcPts val="1302"/>
              </a:lnSpc>
              <a:buNone/>
              <a:defRPr sz="1050" b="0">
                <a:solidFill>
                  <a:srgbClr val="12263A"/>
                </a:solidFill>
                <a:latin typeface="Arial"/>
                <a:ea typeface="Arial"/>
                <a:cs typeface="Arial"/>
              </a:defRPr>
            </a:pPr>
            <a:r>
              <a:rPr sz="1050" b="0">
                <a:solidFill>
                  <a:srgbClr val="12263A"/>
                </a:solidFill>
                <a:latin typeface="Arial"/>
                <a:ea typeface="Arial"/>
                <a:cs typeface="Arial"/>
              </a:rPr>
              <a:t>Segment selection, editing, replay, budget</a:t>
            </a:r>
            <a:endParaRPr sz="1050"/>
          </a:p>
        </p:txBody>
      </p:sp>
      <p:sp>
        <p:nvSpPr>
          <p:cNvPr id="22" name="Text 20">
            <a:extLst xmlns:a="http://schemas.openxmlformats.org/drawingml/2006/main">
              <a:ext uri="{FF2B5EF4-FFF2-40B4-BE49-F238E27FC236}">
                <a16:creationId xmlns:a16="http://schemas.microsoft.com/office/drawing/2014/main" id="{5A394A11-D325-4E6E-9A44-87D8913AE159}"/>
              </a:ext>
            </a:extLst>
          </p:cNvPr>
          <p:cNvSpPr>
            <a:spLocks xmlns:a="http://schemas.openxmlformats.org/drawingml/2006/main" noGrp="1"/>
          </p:cNvSpPr>
          <p:nvPr/>
        </p:nvSpPr>
        <p:spPr>
          <a:xfrm xmlns:a="http://schemas.openxmlformats.org/drawingml/2006/main">
            <a:off x="342900" y="2641253"/>
            <a:ext cx="2734717" cy="1168301"/>
          </a:xfrm>
          <a:prstGeom xmlns:a="http://schemas.openxmlformats.org/drawingml/2006/main" prst="roundRect">
            <a:avLst>
              <a:gd name="adj" fmla="val 8696"/>
            </a:avLst>
          </a:prstGeom>
          <a:solidFill xmlns:a="http://schemas.openxmlformats.org/drawingml/2006/main">
            <a:srgbClr val="F7F9FC"/>
          </a:solidFill>
          <a:ln xmlns:a="http://schemas.openxmlformats.org/drawingml/2006/main" w="9525">
            <a:solidFill>
              <a:srgbClr val="CAD6E2"/>
            </a:solidFill>
          </a:ln>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23" name="Text 21">
            <a:extLst xmlns:a="http://schemas.openxmlformats.org/drawingml/2006/main">
              <a:ext uri="{FF2B5EF4-FFF2-40B4-BE49-F238E27FC236}">
                <a16:creationId xmlns:a16="http://schemas.microsoft.com/office/drawing/2014/main" id="{69B54499-5FD4-4F85-892C-4D5953F455C4}"/>
              </a:ext>
            </a:extLst>
          </p:cNvPr>
          <p:cNvSpPr>
            <a:spLocks xmlns:a="http://schemas.openxmlformats.org/drawingml/2006/main" noGrp="1"/>
          </p:cNvSpPr>
          <p:nvPr/>
        </p:nvSpPr>
        <p:spPr>
          <a:xfrm xmlns:a="http://schemas.openxmlformats.org/drawingml/2006/main">
            <a:off x="504825" y="2803178"/>
            <a:ext cx="2459084"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Perception</a:t>
            </a:r>
            <a:endParaRPr sz="1400"/>
          </a:p>
        </p:txBody>
      </p:sp>
      <p:sp>
        <p:nvSpPr>
          <p:cNvPr id="24" name="Text 22">
            <a:extLst xmlns:a="http://schemas.openxmlformats.org/drawingml/2006/main">
              <a:ext uri="{FF2B5EF4-FFF2-40B4-BE49-F238E27FC236}">
                <a16:creationId xmlns:a16="http://schemas.microsoft.com/office/drawing/2014/main" id="{15F7E2C7-FEFB-443A-934E-F1DD5900EE42}"/>
              </a:ext>
            </a:extLst>
          </p:cNvPr>
          <p:cNvSpPr>
            <a:spLocks xmlns:a="http://schemas.openxmlformats.org/drawingml/2006/main" noGrp="1"/>
          </p:cNvSpPr>
          <p:nvPr/>
        </p:nvSpPr>
        <p:spPr>
          <a:xfrm xmlns:a="http://schemas.openxmlformats.org/drawingml/2006/main">
            <a:off x="504825" y="3071068"/>
            <a:ext cx="2459084" cy="383977"/>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513"/>
              </a:lnSpc>
              <a:buNone/>
              <a:defRPr sz="1220" b="0">
                <a:solidFill>
                  <a:srgbClr val="12263A"/>
                </a:solidFill>
                <a:latin typeface="Arial"/>
                <a:ea typeface="Arial"/>
                <a:cs typeface="Arial"/>
              </a:defRPr>
            </a:pPr>
            <a:r>
              <a:rPr sz="1220" b="0">
                <a:solidFill>
                  <a:srgbClr val="12263A"/>
                </a:solidFill>
                <a:latin typeface="Arial"/>
                <a:ea typeface="Arial"/>
                <a:cs typeface="Arial"/>
              </a:rPr>
              <a:t>Pose error, coverage, quality ranking</a:t>
            </a:r>
            <a:endParaRPr sz="1220"/>
          </a:p>
        </p:txBody>
      </p:sp>
      <p:sp>
        <p:nvSpPr>
          <p:cNvPr id="25" name="Text 23">
            <a:extLst xmlns:a="http://schemas.openxmlformats.org/drawingml/2006/main">
              <a:ext uri="{FF2B5EF4-FFF2-40B4-BE49-F238E27FC236}">
                <a16:creationId xmlns:a16="http://schemas.microsoft.com/office/drawing/2014/main" id="{DF57284B-BE12-491E-8743-C97711118E7E}"/>
              </a:ext>
            </a:extLst>
          </p:cNvPr>
          <p:cNvSpPr>
            <a:spLocks xmlns:a="http://schemas.openxmlformats.org/drawingml/2006/main" noGrp="1"/>
          </p:cNvSpPr>
          <p:nvPr/>
        </p:nvSpPr>
        <p:spPr>
          <a:xfrm xmlns:a="http://schemas.openxmlformats.org/drawingml/2006/main">
            <a:off x="3204567" y="2641253"/>
            <a:ext cx="2734866" cy="1168301"/>
          </a:xfrm>
          <a:prstGeom xmlns:a="http://schemas.openxmlformats.org/drawingml/2006/main" prst="roundRect">
            <a:avLst>
              <a:gd name="adj" fmla="val 8696"/>
            </a:avLst>
          </a:prstGeom>
          <a:solidFill xmlns:a="http://schemas.openxmlformats.org/drawingml/2006/main">
            <a:srgbClr val="F7F9FC"/>
          </a:solidFill>
          <a:ln xmlns:a="http://schemas.openxmlformats.org/drawingml/2006/main" w="9525">
            <a:solidFill>
              <a:srgbClr val="CAD6E2"/>
            </a:solidFill>
          </a:ln>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26" name="Text 24">
            <a:extLst xmlns:a="http://schemas.openxmlformats.org/drawingml/2006/main">
              <a:ext uri="{FF2B5EF4-FFF2-40B4-BE49-F238E27FC236}">
                <a16:creationId xmlns:a16="http://schemas.microsoft.com/office/drawing/2014/main" id="{BEACC0B2-4289-4B8A-A869-22C6859DD056}"/>
              </a:ext>
            </a:extLst>
          </p:cNvPr>
          <p:cNvSpPr>
            <a:spLocks xmlns:a="http://schemas.openxmlformats.org/drawingml/2006/main" noGrp="1"/>
          </p:cNvSpPr>
          <p:nvPr/>
        </p:nvSpPr>
        <p:spPr>
          <a:xfrm xmlns:a="http://schemas.openxmlformats.org/drawingml/2006/main">
            <a:off x="3366492" y="2803178"/>
            <a:ext cx="2459236"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Kinematics / physics</a:t>
            </a:r>
            <a:endParaRPr sz="1400"/>
          </a:p>
        </p:txBody>
      </p:sp>
      <p:sp>
        <p:nvSpPr>
          <p:cNvPr id="27" name="Text 25">
            <a:extLst xmlns:a="http://schemas.openxmlformats.org/drawingml/2006/main">
              <a:ext uri="{FF2B5EF4-FFF2-40B4-BE49-F238E27FC236}">
                <a16:creationId xmlns:a16="http://schemas.microsoft.com/office/drawing/2014/main" id="{04372FA7-F3A4-4B0B-9FAC-1D0FB58F3918}"/>
              </a:ext>
            </a:extLst>
          </p:cNvPr>
          <p:cNvSpPr>
            <a:spLocks xmlns:a="http://schemas.openxmlformats.org/drawingml/2006/main" noGrp="1"/>
          </p:cNvSpPr>
          <p:nvPr/>
        </p:nvSpPr>
        <p:spPr>
          <a:xfrm xmlns:a="http://schemas.openxmlformats.org/drawingml/2006/main">
            <a:off x="3366492" y="3071068"/>
            <a:ext cx="2459236" cy="19198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513"/>
              </a:lnSpc>
              <a:buNone/>
              <a:defRPr sz="1220" b="0">
                <a:solidFill>
                  <a:srgbClr val="12263A"/>
                </a:solidFill>
                <a:latin typeface="Arial"/>
                <a:ea typeface="Arial"/>
                <a:cs typeface="Arial"/>
              </a:defRPr>
            </a:pPr>
            <a:r>
              <a:rPr sz="1220" b="0">
                <a:solidFill>
                  <a:srgbClr val="12263A"/>
                </a:solidFill>
                <a:latin typeface="Arial"/>
                <a:ea typeface="Arial"/>
                <a:cs typeface="Arial"/>
              </a:rPr>
              <a:t>IK residuals, failure codes, contact</a:t>
            </a:r>
            <a:endParaRPr sz="1220"/>
          </a:p>
        </p:txBody>
      </p:sp>
      <p:sp>
        <p:nvSpPr>
          <p:cNvPr id="28" name="Text 26">
            <a:extLst xmlns:a="http://schemas.openxmlformats.org/drawingml/2006/main">
              <a:ext uri="{FF2B5EF4-FFF2-40B4-BE49-F238E27FC236}">
                <a16:creationId xmlns:a16="http://schemas.microsoft.com/office/drawing/2014/main" id="{B423ED2E-9C67-4268-94FB-A6ABAE89C46F}"/>
              </a:ext>
            </a:extLst>
          </p:cNvPr>
          <p:cNvSpPr>
            <a:spLocks xmlns:a="http://schemas.openxmlformats.org/drawingml/2006/main" noGrp="1"/>
          </p:cNvSpPr>
          <p:nvPr/>
        </p:nvSpPr>
        <p:spPr>
          <a:xfrm xmlns:a="http://schemas.openxmlformats.org/drawingml/2006/main">
            <a:off x="6066383" y="2641253"/>
            <a:ext cx="2734717" cy="1168301"/>
          </a:xfrm>
          <a:prstGeom xmlns:a="http://schemas.openxmlformats.org/drawingml/2006/main" prst="roundRect">
            <a:avLst>
              <a:gd name="adj" fmla="val 8696"/>
            </a:avLst>
          </a:prstGeom>
          <a:solidFill xmlns:a="http://schemas.openxmlformats.org/drawingml/2006/main">
            <a:srgbClr val="F7F9FC"/>
          </a:solidFill>
          <a:ln xmlns:a="http://schemas.openxmlformats.org/drawingml/2006/main" w="9525">
            <a:solidFill>
              <a:srgbClr val="CAD6E2"/>
            </a:solidFill>
          </a:ln>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29" name="Text 27">
            <a:extLst xmlns:a="http://schemas.openxmlformats.org/drawingml/2006/main">
              <a:ext uri="{FF2B5EF4-FFF2-40B4-BE49-F238E27FC236}">
                <a16:creationId xmlns:a16="http://schemas.microsoft.com/office/drawing/2014/main" id="{534B6F4D-F774-4FC1-852D-C2B7DE738BDE}"/>
              </a:ext>
            </a:extLst>
          </p:cNvPr>
          <p:cNvSpPr>
            <a:spLocks xmlns:a="http://schemas.openxmlformats.org/drawingml/2006/main" noGrp="1"/>
          </p:cNvSpPr>
          <p:nvPr/>
        </p:nvSpPr>
        <p:spPr>
          <a:xfrm xmlns:a="http://schemas.openxmlformats.org/drawingml/2006/main">
            <a:off x="6228308" y="2803178"/>
            <a:ext cx="2459084"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Research endpoint</a:t>
            </a:r>
            <a:endParaRPr sz="1400"/>
          </a:p>
        </p:txBody>
      </p:sp>
      <p:sp>
        <p:nvSpPr>
          <p:cNvPr id="30" name="Text 28">
            <a:extLst xmlns:a="http://schemas.openxmlformats.org/drawingml/2006/main">
              <a:ext uri="{FF2B5EF4-FFF2-40B4-BE49-F238E27FC236}">
                <a16:creationId xmlns:a16="http://schemas.microsoft.com/office/drawing/2014/main" id="{A9D7040E-CF92-4623-9E57-A14547D0D253}"/>
              </a:ext>
            </a:extLst>
          </p:cNvPr>
          <p:cNvSpPr>
            <a:spLocks xmlns:a="http://schemas.openxmlformats.org/drawingml/2006/main" noGrp="1"/>
          </p:cNvSpPr>
          <p:nvPr/>
        </p:nvSpPr>
        <p:spPr>
          <a:xfrm xmlns:a="http://schemas.openxmlformats.org/drawingml/2006/main">
            <a:off x="6228308" y="3071068"/>
            <a:ext cx="2459084" cy="383977"/>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513"/>
              </a:lnSpc>
              <a:buNone/>
              <a:defRPr sz="1220" b="0">
                <a:solidFill>
                  <a:srgbClr val="12263A"/>
                </a:solidFill>
                <a:latin typeface="Arial"/>
                <a:ea typeface="Arial"/>
                <a:cs typeface="Arial"/>
              </a:defRPr>
            </a:pPr>
            <a:r>
              <a:rPr sz="1220" b="0">
                <a:solidFill>
                  <a:srgbClr val="12263A"/>
                </a:solidFill>
                <a:latin typeface="Arial"/>
                <a:ea typeface="Arial"/>
                <a:cs typeface="Arial"/>
              </a:rPr>
              <a:t>Task success and human supervision time</a:t>
            </a:r>
            <a:endParaRPr sz="1220"/>
          </a:p>
        </p:txBody>
      </p:sp>
      <p:sp>
        <p:nvSpPr>
          <p:cNvPr id="31" name="Text 29">
            <a:extLst xmlns:a="http://schemas.openxmlformats.org/drawingml/2006/main">
              <a:ext uri="{FF2B5EF4-FFF2-40B4-BE49-F238E27FC236}">
                <a16:creationId xmlns:a16="http://schemas.microsoft.com/office/drawing/2014/main" id="{17D93D5D-19B8-428E-8253-4BE0B9A4D78A}"/>
              </a:ext>
            </a:extLst>
          </p:cNvPr>
          <p:cNvSpPr>
            <a:spLocks xmlns:a="http://schemas.openxmlformats.org/drawingml/2006/main" noGrp="1"/>
          </p:cNvSpPr>
          <p:nvPr/>
        </p:nvSpPr>
        <p:spPr>
          <a:xfrm xmlns:a="http://schemas.openxmlformats.org/drawingml/2006/main">
            <a:off x="8339328" y="4965192"/>
            <a:ext cx="502920"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60">
                <a:solidFill>
                  <a:srgbClr val="7A8794"/>
                </a:solidFill>
                <a:latin typeface="Arial"/>
                <a:ea typeface="Arial"/>
                <a:cs typeface="Arial"/>
              </a:rPr>
              <a:t>4 / 31</a:t>
            </a:r>
            <a:endParaRPr sz="660"/>
          </a:p>
        </p:txBody>
      </p:sp>
      <p:sp>
        <p:nvSpPr>
          <p:cNvPr id="32" name="Sources footer">
            <a:extLst xmlns:a="http://schemas.openxmlformats.org/drawingml/2006/main">
              <a:ext uri="{FF2B5EF4-FFF2-40B4-BE49-F238E27FC236}">
                <a16:creationId xmlns:a16="http://schemas.microsoft.com/office/drawing/2014/main" id="{F4461885-CE98-4FEC-A836-20006DB176FD}"/>
              </a:ext>
            </a:extLst>
          </p:cNvPr>
          <p:cNvSpPr>
            <a:spLocks xmlns:a="http://schemas.openxmlformats.org/drawingml/2006/main" noGrp="1"/>
          </p:cNvSpPr>
          <p:nvPr/>
        </p:nvSpPr>
        <p:spPr>
          <a:xfrm xmlns:a="http://schemas.openxmlformats.org/drawingml/2006/main">
            <a:off x="438150" y="4924425"/>
            <a:ext cx="72961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40" b="0">
                <a:solidFill>
                  <a:srgbClr val="234D78"/>
                </a:solidFill>
                <a:latin typeface="Arial"/>
                <a:ea typeface="Arial"/>
                <a:cs typeface="Arial"/>
              </a:defRPr>
            </a:pPr>
            <a:r>
              <a:rPr sz="640" b="0">
                <a:solidFill>
                  <a:srgbClr val="234D78"/>
                </a:solidFill>
                <a:latin typeface="Arial"/>
                <a:ea typeface="Arial"/>
                <a:cs typeface="Arial"/>
                <a:hlinkClick xmlns:r="http://schemas.openxmlformats.org/officeDocument/2006/relationships" r:id="Rd2fd71fcd3a8444d"/>
              </a:rPr>
              <a:t>Reader guide and sources</a:t>
            </a:r>
          </a:p>
        </p:txBody>
      </p:sp>
    </p:spTree>
    <p:extLst>
      <p:ext uri="{BB962C8B-B14F-4D97-AF65-F5344CB8AC3E}">
        <p14:creationId xmlns:p14="http://schemas.microsoft.com/office/powerpoint/2010/main" val="1586513127"/>
      </p:ext>
    </p:extLst>
  </p:cSld>
</p:sld>
</file>

<file path=ppt/slides/slide5.xml><?xml version="1.0" encoding="utf-8"?>
<p:sld xmlns:p="http://schemas.openxmlformats.org/presentationml/2006/main">
  <p:cSld>
    <p:bg>
      <p:bgPr>
        <a:solidFill xmlns:a="http://schemas.openxmlformats.org/drawingml/2006/main">
          <a:srgbClr val="16344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4AB9C4D-1F47-44E5-B5CF-FF932821F2F1}"/>
              </a:ext>
            </a:extLst>
          </p:cNvPr>
          <p:cNvSpPr>
            <a:spLocks xmlns:a="http://schemas.openxmlformats.org/drawingml/2006/main" noGrp="1"/>
          </p:cNvSpPr>
          <p:nvPr/>
        </p:nvSpPr>
        <p:spPr>
          <a:xfrm xmlns:a="http://schemas.openxmlformats.org/drawingml/2006/main">
            <a:off x="634901" y="1865709"/>
            <a:ext cx="8031682" cy="2361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60"/>
              </a:lnSpc>
              <a:buNone/>
              <a:defRPr sz="1500" b="1">
                <a:solidFill>
                  <a:srgbClr val="62C7D6"/>
                </a:solidFill>
                <a:latin typeface="Arial"/>
                <a:ea typeface="Arial"/>
                <a:cs typeface="Arial"/>
              </a:defRPr>
            </a:pPr>
            <a:r>
              <a:rPr sz="1500" b="1">
                <a:solidFill>
                  <a:srgbClr val="62C7D6"/>
                </a:solidFill>
                <a:latin typeface="Arial"/>
                <a:ea typeface="Arial"/>
                <a:cs typeface="Arial"/>
              </a:rPr>
              <a:t>SECTION 01</a:t>
            </a:r>
            <a:endParaRPr sz="1500"/>
          </a:p>
        </p:txBody>
      </p:sp>
      <p:sp>
        <p:nvSpPr>
          <p:cNvPr id="3" name="Text 1">
            <a:extLst xmlns:a="http://schemas.openxmlformats.org/drawingml/2006/main">
              <a:ext uri="{FF2B5EF4-FFF2-40B4-BE49-F238E27FC236}">
                <a16:creationId xmlns:a16="http://schemas.microsoft.com/office/drawing/2014/main" id="{16843054-B4A4-447F-9EF6-A9930A539E65}"/>
              </a:ext>
            </a:extLst>
          </p:cNvPr>
          <p:cNvSpPr>
            <a:spLocks xmlns:a="http://schemas.openxmlformats.org/drawingml/2006/main" noGrp="1"/>
          </p:cNvSpPr>
          <p:nvPr/>
        </p:nvSpPr>
        <p:spPr>
          <a:xfrm xmlns:a="http://schemas.openxmlformats.org/drawingml/2006/main">
            <a:off x="634901" y="2216200"/>
            <a:ext cx="8031682" cy="474911"/>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3740"/>
              </a:lnSpc>
              <a:buNone/>
              <a:defRPr sz="3400" b="1">
                <a:solidFill>
                  <a:srgbClr val="FFFFFF"/>
                </a:solidFill>
                <a:latin typeface="Arial"/>
                <a:ea typeface="Arial"/>
                <a:cs typeface="Arial"/>
              </a:defRPr>
            </a:pPr>
            <a:r>
              <a:rPr sz="3400" b="1">
                <a:solidFill>
                  <a:srgbClr val="FFFFFF"/>
                </a:solidFill>
                <a:latin typeface="Arial"/>
                <a:ea typeface="Arial"/>
                <a:cs typeface="Arial"/>
              </a:rPr>
              <a:t>Simulation reference</a:t>
            </a:r>
            <a:endParaRPr sz="3400"/>
          </a:p>
        </p:txBody>
      </p:sp>
      <p:sp>
        <p:nvSpPr>
          <p:cNvPr id="4" name="Text 2">
            <a:extLst xmlns:a="http://schemas.openxmlformats.org/drawingml/2006/main">
              <a:ext uri="{FF2B5EF4-FFF2-40B4-BE49-F238E27FC236}">
                <a16:creationId xmlns:a16="http://schemas.microsoft.com/office/drawing/2014/main" id="{848132C8-103D-4202-8989-0547DB16BA07}"/>
              </a:ext>
            </a:extLst>
          </p:cNvPr>
          <p:cNvSpPr>
            <a:spLocks xmlns:a="http://schemas.openxmlformats.org/drawingml/2006/main" noGrp="1"/>
          </p:cNvSpPr>
          <p:nvPr/>
        </p:nvSpPr>
        <p:spPr>
          <a:xfrm xmlns:a="http://schemas.openxmlformats.org/drawingml/2006/main">
            <a:off x="634937" y="2805398"/>
            <a:ext cx="8031671" cy="619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60"/>
              </a:lnSpc>
              <a:buNone/>
              <a:defRPr sz="1500" b="0">
                <a:solidFill>
                  <a:srgbClr val="DDE8F2"/>
                </a:solidFill>
                <a:latin typeface="Arial"/>
                <a:ea typeface="Arial"/>
                <a:cs typeface="Arial"/>
              </a:defRPr>
            </a:pPr>
            <a:r>
              <a:rPr sz="1500" b="0">
                <a:solidFill>
                  <a:srgbClr val="DDE8F2"/>
                </a:solidFill>
                <a:latin typeface="Arial"/>
                <a:ea typeface="Arial"/>
                <a:cs typeface="Arial"/>
              </a:rPr>
              <a:t>Clean-state replay separates frame, grasp, and controller failures from video-estimation errors.</a:t>
            </a:r>
            <a:endParaRPr sz="1500"/>
          </a:p>
        </p:txBody>
      </p:sp>
      <p:sp>
        <p:nvSpPr>
          <p:cNvPr id="5" name="Text 3">
            <a:extLst xmlns:a="http://schemas.openxmlformats.org/drawingml/2006/main">
              <a:ext uri="{FF2B5EF4-FFF2-40B4-BE49-F238E27FC236}">
                <a16:creationId xmlns:a16="http://schemas.microsoft.com/office/drawing/2014/main" id="{4151C0A0-5C5B-4CD4-8096-D8BA455E6EC9}"/>
              </a:ext>
            </a:extLst>
          </p:cNvPr>
          <p:cNvSpPr>
            <a:spLocks xmlns:a="http://schemas.openxmlformats.org/drawingml/2006/main" noGrp="1"/>
          </p:cNvSpPr>
          <p:nvPr/>
        </p:nvSpPr>
        <p:spPr>
          <a:xfrm xmlns:a="http://schemas.openxmlformats.org/drawingml/2006/main">
            <a:off x="8339328" y="4965192"/>
            <a:ext cx="502920"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60">
                <a:solidFill>
                  <a:srgbClr val="7A8794"/>
                </a:solidFill>
                <a:latin typeface="Arial"/>
                <a:ea typeface="Arial"/>
                <a:cs typeface="Arial"/>
              </a:rPr>
              <a:t>5 / 31</a:t>
            </a:r>
            <a:endParaRPr sz="660"/>
          </a:p>
        </p:txBody>
      </p:sp>
      <p:sp>
        <p:nvSpPr>
          <p:cNvPr id="6" name="Sources footer">
            <a:extLst xmlns:a="http://schemas.openxmlformats.org/drawingml/2006/main">
              <a:ext uri="{FF2B5EF4-FFF2-40B4-BE49-F238E27FC236}">
                <a16:creationId xmlns:a16="http://schemas.microsoft.com/office/drawing/2014/main" id="{369F3BB8-D949-4F3F-BF9C-D043B3404631}"/>
              </a:ext>
            </a:extLst>
          </p:cNvPr>
          <p:cNvSpPr>
            <a:spLocks xmlns:a="http://schemas.openxmlformats.org/drawingml/2006/main" noGrp="1"/>
          </p:cNvSpPr>
          <p:nvPr/>
        </p:nvSpPr>
        <p:spPr>
          <a:xfrm xmlns:a="http://schemas.openxmlformats.org/drawingml/2006/main">
            <a:off x="438150" y="4924425"/>
            <a:ext cx="72961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40" b="0">
                <a:solidFill>
                  <a:srgbClr val="CAD6E2"/>
                </a:solidFill>
                <a:latin typeface="Arial"/>
                <a:ea typeface="Arial"/>
                <a:cs typeface="Arial"/>
              </a:defRPr>
            </a:pPr>
            <a:r>
              <a:rPr sz="640" b="0">
                <a:solidFill>
                  <a:srgbClr val="CAD6E2"/>
                </a:solidFill>
                <a:latin typeface="Arial"/>
                <a:ea typeface="Arial"/>
                <a:cs typeface="Arial"/>
                <a:hlinkClick xmlns:r="http://schemas.openxmlformats.org/officeDocument/2006/relationships" r:id="R9432637a03da46d2"/>
              </a:rPr>
              <a:t>Reader guide and sources</a:t>
            </a:r>
          </a:p>
        </p:txBody>
      </p:sp>
    </p:spTree>
    <p:extLst>
      <p:ext uri="{BB962C8B-B14F-4D97-AF65-F5344CB8AC3E}">
        <p14:creationId xmlns:p14="http://schemas.microsoft.com/office/powerpoint/2010/main" val="168775777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1939340-24AB-42E8-9C59-B7992D93E509}"/>
              </a:ext>
            </a:extLst>
          </p:cNvPr>
          <p:cNvSpPr>
            <a:spLocks xmlns:a="http://schemas.openxmlformats.org/drawingml/2006/main" noGrp="1"/>
          </p:cNvSpPr>
          <p:nvPr/>
        </p:nvSpPr>
        <p:spPr>
          <a:xfrm xmlns:a="http://schemas.openxmlformats.org/drawingml/2006/main">
            <a:off x="0" y="0"/>
            <a:ext cx="9144000" cy="609600"/>
          </a:xfrm>
          <a:prstGeom xmlns:a="http://schemas.openxmlformats.org/drawingml/2006/main" prst="rect">
            <a:avLst/>
          </a:prstGeom>
          <a:solidFill xmlns:a="http://schemas.openxmlformats.org/drawingml/2006/main">
            <a:srgbClr val="234D7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3" name="Text 1">
            <a:extLst xmlns:a="http://schemas.openxmlformats.org/drawingml/2006/main">
              <a:ext uri="{FF2B5EF4-FFF2-40B4-BE49-F238E27FC236}">
                <a16:creationId xmlns:a16="http://schemas.microsoft.com/office/drawing/2014/main" id="{E3179A6E-A0BB-4668-851B-331C35375731}"/>
              </a:ext>
            </a:extLst>
          </p:cNvPr>
          <p:cNvSpPr>
            <a:spLocks xmlns:a="http://schemas.openxmlformats.org/drawingml/2006/main" noGrp="1"/>
          </p:cNvSpPr>
          <p:nvPr/>
        </p:nvSpPr>
        <p:spPr>
          <a:xfrm xmlns:a="http://schemas.openxmlformats.org/drawingml/2006/main">
            <a:off x="330136" y="164116"/>
            <a:ext cx="6619875" cy="3238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2415"/>
              </a:lnSpc>
              <a:buNone/>
              <a:defRPr sz="2300" b="1">
                <a:solidFill>
                  <a:srgbClr val="FFFFFF"/>
                </a:solidFill>
                <a:latin typeface="Arial"/>
                <a:ea typeface="Arial"/>
                <a:cs typeface="Arial"/>
              </a:defRPr>
            </a:pPr>
            <a:r>
              <a:rPr sz="2300" b="1">
                <a:solidFill>
                  <a:srgbClr val="FFFFFF"/>
                </a:solidFill>
                <a:latin typeface="Arial"/>
                <a:ea typeface="Arial"/>
                <a:cs typeface="Arial"/>
              </a:rPr>
              <a:t>Input assumptions and evaluation objectives</a:t>
            </a:r>
            <a:endParaRPr sz="2300"/>
          </a:p>
        </p:txBody>
      </p:sp>
      <p:sp>
        <p:nvSpPr>
          <p:cNvPr id="4" name="Text 2">
            <a:extLst xmlns:a="http://schemas.openxmlformats.org/drawingml/2006/main">
              <a:ext uri="{FF2B5EF4-FFF2-40B4-BE49-F238E27FC236}">
                <a16:creationId xmlns:a16="http://schemas.microsoft.com/office/drawing/2014/main" id="{EA5B904E-01DD-48C7-8EBF-E2F5D44BB87F}"/>
              </a:ext>
            </a:extLst>
          </p:cNvPr>
          <p:cNvSpPr>
            <a:spLocks xmlns:a="http://schemas.openxmlformats.org/drawingml/2006/main" noGrp="1"/>
          </p:cNvSpPr>
          <p:nvPr/>
        </p:nvSpPr>
        <p:spPr>
          <a:xfrm xmlns:a="http://schemas.openxmlformats.org/drawingml/2006/main">
            <a:off x="7372350" y="190500"/>
            <a:ext cx="14478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r">
              <a:lnSpc>
                <a:spcPts val="1054"/>
              </a:lnSpc>
              <a:buNone/>
              <a:defRPr sz="788" b="1">
                <a:solidFill>
                  <a:srgbClr val="FFFFFF"/>
                </a:solidFill>
                <a:latin typeface="Arial"/>
                <a:ea typeface="Arial"/>
                <a:cs typeface="Arial"/>
              </a:defRPr>
            </a:pPr>
            <a:r>
              <a:rPr sz="788" b="1">
                <a:solidFill>
                  <a:srgbClr val="FFFFFF"/>
                </a:solidFill>
                <a:latin typeface="Arial"/>
                <a:ea typeface="Arial"/>
                <a:cs typeface="Arial"/>
              </a:rPr>
              <a:t>CS CAPSTONE REFERENCE</a:t>
            </a:r>
            <a:endParaRPr sz="850"/>
          </a:p>
        </p:txBody>
      </p:sp>
      <p:sp>
        <p:nvSpPr>
          <p:cNvPr id="5" name="Text 3">
            <a:extLst xmlns:a="http://schemas.openxmlformats.org/drawingml/2006/main">
              <a:ext uri="{FF2B5EF4-FFF2-40B4-BE49-F238E27FC236}">
                <a16:creationId xmlns:a16="http://schemas.microsoft.com/office/drawing/2014/main" id="{61127117-67E8-4693-9409-C090E10CE336}"/>
              </a:ext>
            </a:extLst>
          </p:cNvPr>
          <p:cNvSpPr>
            <a:spLocks xmlns:a="http://schemas.openxmlformats.org/drawingml/2006/main" noGrp="1"/>
          </p:cNvSpPr>
          <p:nvPr/>
        </p:nvSpPr>
        <p:spPr>
          <a:xfrm xmlns:a="http://schemas.openxmlformats.org/drawingml/2006/main">
            <a:off x="330101" y="609600"/>
            <a:ext cx="787301" cy="38100"/>
          </a:xfrm>
          <a:prstGeom xmlns:a="http://schemas.openxmlformats.org/drawingml/2006/main" prst="rect">
            <a:avLst/>
          </a:prstGeom>
          <a:solidFill xmlns:a="http://schemas.openxmlformats.org/drawingml/2006/main">
            <a:srgbClr val="D63B4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6" name="Text 4">
            <a:extLst xmlns:a="http://schemas.openxmlformats.org/drawingml/2006/main">
              <a:ext uri="{FF2B5EF4-FFF2-40B4-BE49-F238E27FC236}">
                <a16:creationId xmlns:a16="http://schemas.microsoft.com/office/drawing/2014/main" id="{FFFD2BFA-421E-4EA8-B242-5F672FFE37C9}"/>
              </a:ext>
            </a:extLst>
          </p:cNvPr>
          <p:cNvSpPr>
            <a:spLocks xmlns:a="http://schemas.openxmlformats.org/drawingml/2006/main" noGrp="1"/>
          </p:cNvSpPr>
          <p:nvPr/>
        </p:nvSpPr>
        <p:spPr>
          <a:xfrm xmlns:a="http://schemas.openxmlformats.org/drawingml/2006/main">
            <a:off x="342900" y="850850"/>
            <a:ext cx="4152900" cy="3270349"/>
          </a:xfrm>
          <a:prstGeom xmlns:a="http://schemas.openxmlformats.org/drawingml/2006/main" prst="roundRect">
            <a:avLst>
              <a:gd name="adj" fmla="val 3107"/>
            </a:avLst>
          </a:prstGeom>
          <a:solidFill xmlns:a="http://schemas.openxmlformats.org/drawingml/2006/main">
            <a:srgbClr val="EEF4F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7" name="Shape 5">
            <a:extLst xmlns:a="http://schemas.openxmlformats.org/drawingml/2006/main">
              <a:ext uri="{FF2B5EF4-FFF2-40B4-BE49-F238E27FC236}">
                <a16:creationId xmlns:a16="http://schemas.microsoft.com/office/drawing/2014/main" id="{CCFE93DD-8DC4-4CEE-8E07-329F65DCBA45}"/>
              </a:ext>
            </a:extLst>
          </p:cNvPr>
          <p:cNvSpPr>
            <a:spLocks xmlns:a="http://schemas.openxmlformats.org/drawingml/2006/main" noGrp="1"/>
          </p:cNvSpPr>
          <p:nvPr/>
        </p:nvSpPr>
        <p:spPr>
          <a:xfrm xmlns:a="http://schemas.openxmlformats.org/drawingml/2006/main">
            <a:off x="342900" y="855613"/>
            <a:ext cx="4152900"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8" name="Shape 6">
            <a:extLst xmlns:a="http://schemas.openxmlformats.org/drawingml/2006/main">
              <a:ext uri="{FF2B5EF4-FFF2-40B4-BE49-F238E27FC236}">
                <a16:creationId xmlns:a16="http://schemas.microsoft.com/office/drawing/2014/main" id="{FEDD129D-4F63-4703-AB94-826D77859447}"/>
              </a:ext>
            </a:extLst>
          </p:cNvPr>
          <p:cNvSpPr>
            <a:spLocks xmlns:a="http://schemas.openxmlformats.org/drawingml/2006/main" noGrp="1"/>
          </p:cNvSpPr>
          <p:nvPr/>
        </p:nvSpPr>
        <p:spPr>
          <a:xfrm xmlns:a="http://schemas.openxmlformats.org/drawingml/2006/main">
            <a:off x="4491038" y="850850"/>
            <a:ext cx="0" cy="3270349"/>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9" name="Shape 7">
            <a:extLst xmlns:a="http://schemas.openxmlformats.org/drawingml/2006/main">
              <a:ext uri="{FF2B5EF4-FFF2-40B4-BE49-F238E27FC236}">
                <a16:creationId xmlns:a16="http://schemas.microsoft.com/office/drawing/2014/main" id="{E76A2667-24BA-428D-A22B-82E604AF926A}"/>
              </a:ext>
            </a:extLst>
          </p:cNvPr>
          <p:cNvSpPr>
            <a:spLocks xmlns:a="http://schemas.openxmlformats.org/drawingml/2006/main" noGrp="1"/>
          </p:cNvSpPr>
          <p:nvPr/>
        </p:nvSpPr>
        <p:spPr>
          <a:xfrm xmlns:a="http://schemas.openxmlformats.org/drawingml/2006/main">
            <a:off x="342900" y="4116437"/>
            <a:ext cx="4152900"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0" name="Shape 8">
            <a:extLst xmlns:a="http://schemas.openxmlformats.org/drawingml/2006/main">
              <a:ext uri="{FF2B5EF4-FFF2-40B4-BE49-F238E27FC236}">
                <a16:creationId xmlns:a16="http://schemas.microsoft.com/office/drawing/2014/main" id="{222261DD-CBB3-42BD-89B3-5C128E5E9A2E}"/>
              </a:ext>
            </a:extLst>
          </p:cNvPr>
          <p:cNvSpPr>
            <a:spLocks xmlns:a="http://schemas.openxmlformats.org/drawingml/2006/main" noGrp="1"/>
          </p:cNvSpPr>
          <p:nvPr/>
        </p:nvSpPr>
        <p:spPr>
          <a:xfrm xmlns:a="http://schemas.openxmlformats.org/drawingml/2006/main">
            <a:off x="371475" y="850850"/>
            <a:ext cx="0" cy="3270349"/>
          </a:xfrm>
          <a:prstGeom xmlns:a="http://schemas.openxmlformats.org/drawingml/2006/main" prst="line">
            <a:avLst/>
          </a:prstGeom>
          <a:noFill xmlns:a="http://schemas.openxmlformats.org/drawingml/2006/main"/>
          <a:ln xmlns:a="http://schemas.openxmlformats.org/drawingml/2006/main" w="57150">
            <a:solidFill>
              <a:srgbClr val="234D78"/>
            </a:solidFill>
            <a:prstDash val="solid"/>
          </a:ln>
        </p:spPr>
      </p:sp>
      <p:sp>
        <p:nvSpPr>
          <p:cNvPr id="11" name="Text 9">
            <a:extLst xmlns:a="http://schemas.openxmlformats.org/drawingml/2006/main">
              <a:ext uri="{FF2B5EF4-FFF2-40B4-BE49-F238E27FC236}">
                <a16:creationId xmlns:a16="http://schemas.microsoft.com/office/drawing/2014/main" id="{49ABDF72-8638-4CBA-94CB-E615379723F9}"/>
              </a:ext>
            </a:extLst>
          </p:cNvPr>
          <p:cNvSpPr>
            <a:spLocks xmlns:a="http://schemas.openxmlformats.org/drawingml/2006/main" noGrp="1"/>
          </p:cNvSpPr>
          <p:nvPr/>
        </p:nvSpPr>
        <p:spPr>
          <a:xfrm xmlns:a="http://schemas.openxmlformats.org/drawingml/2006/main">
            <a:off x="768251" y="1063526"/>
            <a:ext cx="3565624" cy="1102519"/>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Human video or robot logs with TCP/gripper state?</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Available RGB-D, calibration, and metric CAD?</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Rigid-object tasks or richer contact interactions?</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Source of target object and goal poses?</a:t>
            </a:r>
            <a:endParaRPr sz="1170"/>
          </a:p>
        </p:txBody>
      </p:sp>
      <p:sp>
        <p:nvSpPr>
          <p:cNvPr id="12" name="Text 10">
            <a:extLst xmlns:a="http://schemas.openxmlformats.org/drawingml/2006/main">
              <a:ext uri="{FF2B5EF4-FFF2-40B4-BE49-F238E27FC236}">
                <a16:creationId xmlns:a16="http://schemas.microsoft.com/office/drawing/2014/main" id="{6A581631-DBBA-4DE2-9E34-AF5714A9EDCC}"/>
              </a:ext>
            </a:extLst>
          </p:cNvPr>
          <p:cNvSpPr>
            <a:spLocks xmlns:a="http://schemas.openxmlformats.org/drawingml/2006/main" noGrp="1"/>
          </p:cNvSpPr>
          <p:nvPr/>
        </p:nvSpPr>
        <p:spPr>
          <a:xfrm xmlns:a="http://schemas.openxmlformats.org/drawingml/2006/main">
            <a:off x="4648200" y="850850"/>
            <a:ext cx="4152900" cy="3270349"/>
          </a:xfrm>
          <a:prstGeom xmlns:a="http://schemas.openxmlformats.org/drawingml/2006/main" prst="roundRect">
            <a:avLst>
              <a:gd name="adj" fmla="val 3107"/>
            </a:avLst>
          </a:prstGeom>
          <a:solidFill xmlns:a="http://schemas.openxmlformats.org/drawingml/2006/main">
            <a:srgbClr val="EDFAF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13" name="Shape 11">
            <a:extLst xmlns:a="http://schemas.openxmlformats.org/drawingml/2006/main">
              <a:ext uri="{FF2B5EF4-FFF2-40B4-BE49-F238E27FC236}">
                <a16:creationId xmlns:a16="http://schemas.microsoft.com/office/drawing/2014/main" id="{32A5D4F6-1899-4C74-8A17-3DC0C8D59C1E}"/>
              </a:ext>
            </a:extLst>
          </p:cNvPr>
          <p:cNvSpPr>
            <a:spLocks xmlns:a="http://schemas.openxmlformats.org/drawingml/2006/main" noGrp="1"/>
          </p:cNvSpPr>
          <p:nvPr/>
        </p:nvSpPr>
        <p:spPr>
          <a:xfrm xmlns:a="http://schemas.openxmlformats.org/drawingml/2006/main">
            <a:off x="4648200" y="855613"/>
            <a:ext cx="4152900"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4" name="Shape 12">
            <a:extLst xmlns:a="http://schemas.openxmlformats.org/drawingml/2006/main">
              <a:ext uri="{FF2B5EF4-FFF2-40B4-BE49-F238E27FC236}">
                <a16:creationId xmlns:a16="http://schemas.microsoft.com/office/drawing/2014/main" id="{49B533BA-C060-4D7B-8D23-B12F5A67333B}"/>
              </a:ext>
            </a:extLst>
          </p:cNvPr>
          <p:cNvSpPr>
            <a:spLocks xmlns:a="http://schemas.openxmlformats.org/drawingml/2006/main" noGrp="1"/>
          </p:cNvSpPr>
          <p:nvPr/>
        </p:nvSpPr>
        <p:spPr>
          <a:xfrm xmlns:a="http://schemas.openxmlformats.org/drawingml/2006/main">
            <a:off x="8796338" y="850850"/>
            <a:ext cx="0" cy="3270349"/>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5" name="Shape 13">
            <a:extLst xmlns:a="http://schemas.openxmlformats.org/drawingml/2006/main">
              <a:ext uri="{FF2B5EF4-FFF2-40B4-BE49-F238E27FC236}">
                <a16:creationId xmlns:a16="http://schemas.microsoft.com/office/drawing/2014/main" id="{A84B236B-B7CF-4D1F-A165-BF2AF91BCF71}"/>
              </a:ext>
            </a:extLst>
          </p:cNvPr>
          <p:cNvSpPr>
            <a:spLocks xmlns:a="http://schemas.openxmlformats.org/drawingml/2006/main" noGrp="1"/>
          </p:cNvSpPr>
          <p:nvPr/>
        </p:nvSpPr>
        <p:spPr>
          <a:xfrm xmlns:a="http://schemas.openxmlformats.org/drawingml/2006/main">
            <a:off x="4648200" y="4116437"/>
            <a:ext cx="4152900"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6" name="Shape 14">
            <a:extLst xmlns:a="http://schemas.openxmlformats.org/drawingml/2006/main">
              <a:ext uri="{FF2B5EF4-FFF2-40B4-BE49-F238E27FC236}">
                <a16:creationId xmlns:a16="http://schemas.microsoft.com/office/drawing/2014/main" id="{8EBB213F-B5D8-4E20-928C-081D3761836B}"/>
              </a:ext>
            </a:extLst>
          </p:cNvPr>
          <p:cNvSpPr>
            <a:spLocks xmlns:a="http://schemas.openxmlformats.org/drawingml/2006/main" noGrp="1"/>
          </p:cNvSpPr>
          <p:nvPr/>
        </p:nvSpPr>
        <p:spPr>
          <a:xfrm xmlns:a="http://schemas.openxmlformats.org/drawingml/2006/main">
            <a:off x="4676775" y="850850"/>
            <a:ext cx="0" cy="3270349"/>
          </a:xfrm>
          <a:prstGeom xmlns:a="http://schemas.openxmlformats.org/drawingml/2006/main" prst="line">
            <a:avLst/>
          </a:prstGeom>
          <a:noFill xmlns:a="http://schemas.openxmlformats.org/drawingml/2006/main"/>
          <a:ln xmlns:a="http://schemas.openxmlformats.org/drawingml/2006/main" w="57150">
            <a:solidFill>
              <a:srgbClr val="1D9E91"/>
            </a:solidFill>
            <a:prstDash val="solid"/>
          </a:ln>
        </p:spPr>
      </p:sp>
      <p:sp>
        <p:nvSpPr>
          <p:cNvPr id="17" name="Text 15">
            <a:extLst xmlns:a="http://schemas.openxmlformats.org/drawingml/2006/main">
              <a:ext uri="{FF2B5EF4-FFF2-40B4-BE49-F238E27FC236}">
                <a16:creationId xmlns:a16="http://schemas.microsoft.com/office/drawing/2014/main" id="{AD54C564-DB03-49E3-ADA1-11ABD14CB037}"/>
              </a:ext>
            </a:extLst>
          </p:cNvPr>
          <p:cNvSpPr>
            <a:spLocks xmlns:a="http://schemas.openxmlformats.org/drawingml/2006/main" noGrp="1"/>
          </p:cNvSpPr>
          <p:nvPr/>
        </p:nvSpPr>
        <p:spPr>
          <a:xfrm xmlns:a="http://schemas.openxmlformats.org/drawingml/2006/main">
            <a:off x="5073551" y="1063526"/>
            <a:ext cx="3565624" cy="86171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Replay, learned-policy, or assisted-success endpoint?</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Editing time or total supervision budget?</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Independent evaluation episodes and layouts?</a:t>
            </a:r>
            <a:endParaRPr sz="1170"/>
          </a:p>
        </p:txBody>
      </p:sp>
      <p:sp>
        <p:nvSpPr>
          <p:cNvPr id="18" name="Text 16">
            <a:extLst xmlns:a="http://schemas.openxmlformats.org/drawingml/2006/main">
              <a:ext uri="{FF2B5EF4-FFF2-40B4-BE49-F238E27FC236}">
                <a16:creationId xmlns:a16="http://schemas.microsoft.com/office/drawing/2014/main" id="{820CE7B7-C625-4C1D-AC77-4F14E8FC58CE}"/>
              </a:ext>
            </a:extLst>
          </p:cNvPr>
          <p:cNvSpPr>
            <a:spLocks xmlns:a="http://schemas.openxmlformats.org/drawingml/2006/main" noGrp="1"/>
          </p:cNvSpPr>
          <p:nvPr/>
        </p:nvSpPr>
        <p:spPr>
          <a:xfrm xmlns:a="http://schemas.openxmlformats.org/drawingml/2006/main">
            <a:off x="342900" y="4235500"/>
            <a:ext cx="8458200" cy="425500"/>
          </a:xfrm>
          <a:prstGeom xmlns:a="http://schemas.openxmlformats.org/drawingml/2006/main" prst="rect">
            <a:avLst/>
          </a:prstGeom>
          <a:solidFill xmlns:a="http://schemas.openxmlformats.org/drawingml/2006/main">
            <a:srgbClr val="EEF4F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19" name="Shape 17">
            <a:extLst xmlns:a="http://schemas.openxmlformats.org/drawingml/2006/main">
              <a:ext uri="{FF2B5EF4-FFF2-40B4-BE49-F238E27FC236}">
                <a16:creationId xmlns:a16="http://schemas.microsoft.com/office/drawing/2014/main" id="{9ED1ABBA-70B4-4872-B662-3B24BC6F7309}"/>
              </a:ext>
            </a:extLst>
          </p:cNvPr>
          <p:cNvSpPr>
            <a:spLocks xmlns:a="http://schemas.openxmlformats.org/drawingml/2006/main" noGrp="1"/>
          </p:cNvSpPr>
          <p:nvPr/>
        </p:nvSpPr>
        <p:spPr>
          <a:xfrm xmlns:a="http://schemas.openxmlformats.org/drawingml/2006/main">
            <a:off x="371475" y="4235500"/>
            <a:ext cx="0" cy="425500"/>
          </a:xfrm>
          <a:prstGeom xmlns:a="http://schemas.openxmlformats.org/drawingml/2006/main" prst="line">
            <a:avLst/>
          </a:prstGeom>
          <a:noFill xmlns:a="http://schemas.openxmlformats.org/drawingml/2006/main"/>
          <a:ln xmlns:a="http://schemas.openxmlformats.org/drawingml/2006/main" w="57150">
            <a:solidFill>
              <a:srgbClr val="D63B4A"/>
            </a:solidFill>
            <a:prstDash val="solid"/>
          </a:ln>
        </p:spPr>
      </p:sp>
      <p:sp>
        <p:nvSpPr>
          <p:cNvPr id="20" name="Text 18">
            <a:extLst xmlns:a="http://schemas.openxmlformats.org/drawingml/2006/main">
              <a:ext uri="{FF2B5EF4-FFF2-40B4-BE49-F238E27FC236}">
                <a16:creationId xmlns:a16="http://schemas.microsoft.com/office/drawing/2014/main" id="{64E7E507-137A-4C7B-80BC-FBF0FA009D6A}"/>
              </a:ext>
            </a:extLst>
          </p:cNvPr>
          <p:cNvSpPr>
            <a:spLocks xmlns:a="http://schemas.openxmlformats.org/drawingml/2006/main" noGrp="1"/>
          </p:cNvSpPr>
          <p:nvPr/>
        </p:nvSpPr>
        <p:spPr>
          <a:xfrm xmlns:a="http://schemas.openxmlformats.org/drawingml/2006/main">
            <a:off x="552450" y="4349800"/>
            <a:ext cx="8258175" cy="1969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550"/>
              </a:lnSpc>
              <a:buNone/>
              <a:defRPr sz="1250" b="1">
                <a:solidFill>
                  <a:srgbClr val="16344F"/>
                </a:solidFill>
                <a:latin typeface="Arial"/>
                <a:ea typeface="Arial"/>
                <a:cs typeface="Arial"/>
              </a:defRPr>
            </a:pPr>
            <a:r>
              <a:rPr sz="1250" b="1">
                <a:solidFill>
                  <a:srgbClr val="16344F"/>
                </a:solidFill>
                <a:latin typeface="Arial"/>
                <a:ea typeface="Arial"/>
                <a:cs typeface="Arial"/>
              </a:rPr>
              <a:t>These questions guide the choice of prior work and experiments without prescribing a student project.</a:t>
            </a:r>
            <a:endParaRPr sz="1250"/>
          </a:p>
        </p:txBody>
      </p:sp>
      <p:sp>
        <p:nvSpPr>
          <p:cNvPr id="21" name="Text 19">
            <a:extLst xmlns:a="http://schemas.openxmlformats.org/drawingml/2006/main">
              <a:ext uri="{FF2B5EF4-FFF2-40B4-BE49-F238E27FC236}">
                <a16:creationId xmlns:a16="http://schemas.microsoft.com/office/drawing/2014/main" id="{0A2617E5-CF9A-4D75-8F62-FE53191A2C31}"/>
              </a:ext>
            </a:extLst>
          </p:cNvPr>
          <p:cNvSpPr>
            <a:spLocks xmlns:a="http://schemas.openxmlformats.org/drawingml/2006/main" noGrp="1"/>
          </p:cNvSpPr>
          <p:nvPr/>
        </p:nvSpPr>
        <p:spPr>
          <a:xfrm xmlns:a="http://schemas.openxmlformats.org/drawingml/2006/main">
            <a:off x="8339328" y="4965192"/>
            <a:ext cx="502920"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60">
                <a:solidFill>
                  <a:srgbClr val="7A8794"/>
                </a:solidFill>
                <a:latin typeface="Arial"/>
                <a:ea typeface="Arial"/>
                <a:cs typeface="Arial"/>
              </a:rPr>
              <a:t>6 / 31</a:t>
            </a:r>
            <a:endParaRPr sz="660"/>
          </a:p>
        </p:txBody>
      </p:sp>
      <p:sp>
        <p:nvSpPr>
          <p:cNvPr id="22" name="Sources footer">
            <a:extLst xmlns:a="http://schemas.openxmlformats.org/drawingml/2006/main">
              <a:ext uri="{FF2B5EF4-FFF2-40B4-BE49-F238E27FC236}">
                <a16:creationId xmlns:a16="http://schemas.microsoft.com/office/drawing/2014/main" id="{85664E1C-FF84-42E0-A17D-70A109B7B197}"/>
              </a:ext>
            </a:extLst>
          </p:cNvPr>
          <p:cNvSpPr>
            <a:spLocks xmlns:a="http://schemas.openxmlformats.org/drawingml/2006/main" noGrp="1"/>
          </p:cNvSpPr>
          <p:nvPr/>
        </p:nvSpPr>
        <p:spPr>
          <a:xfrm xmlns:a="http://schemas.openxmlformats.org/drawingml/2006/main">
            <a:off x="438150" y="4924425"/>
            <a:ext cx="72961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40" b="0">
                <a:solidFill>
                  <a:srgbClr val="234D78"/>
                </a:solidFill>
                <a:latin typeface="Arial"/>
                <a:ea typeface="Arial"/>
                <a:cs typeface="Arial"/>
              </a:defRPr>
            </a:pPr>
            <a:r>
              <a:rPr sz="640" b="0">
                <a:solidFill>
                  <a:srgbClr val="234D78"/>
                </a:solidFill>
                <a:latin typeface="Arial"/>
                <a:ea typeface="Arial"/>
                <a:cs typeface="Arial"/>
                <a:hlinkClick xmlns:r="http://schemas.openxmlformats.org/officeDocument/2006/relationships" r:id="R5c098f723c474b8e"/>
              </a:rPr>
              <a:t>Reader guide and sources</a:t>
            </a:r>
          </a:p>
        </p:txBody>
      </p:sp>
    </p:spTree>
    <p:extLst>
      <p:ext uri="{BB962C8B-B14F-4D97-AF65-F5344CB8AC3E}">
        <p14:creationId xmlns:p14="http://schemas.microsoft.com/office/powerpoint/2010/main" val="128630090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6CDF888-7DFF-465D-9BC8-054A7744AF9B}"/>
              </a:ext>
            </a:extLst>
          </p:cNvPr>
          <p:cNvSpPr>
            <a:spLocks xmlns:a="http://schemas.openxmlformats.org/drawingml/2006/main" noGrp="1"/>
          </p:cNvSpPr>
          <p:nvPr/>
        </p:nvSpPr>
        <p:spPr>
          <a:xfrm xmlns:a="http://schemas.openxmlformats.org/drawingml/2006/main">
            <a:off x="0" y="0"/>
            <a:ext cx="9144000" cy="609600"/>
          </a:xfrm>
          <a:prstGeom xmlns:a="http://schemas.openxmlformats.org/drawingml/2006/main" prst="rect">
            <a:avLst/>
          </a:prstGeom>
          <a:solidFill xmlns:a="http://schemas.openxmlformats.org/drawingml/2006/main">
            <a:srgbClr val="234D7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3" name="Text 1">
            <a:extLst xmlns:a="http://schemas.openxmlformats.org/drawingml/2006/main">
              <a:ext uri="{FF2B5EF4-FFF2-40B4-BE49-F238E27FC236}">
                <a16:creationId xmlns:a16="http://schemas.microsoft.com/office/drawing/2014/main" id="{504B902C-A0D4-4588-8DA2-1955C07FAF70}"/>
              </a:ext>
            </a:extLst>
          </p:cNvPr>
          <p:cNvSpPr>
            <a:spLocks xmlns:a="http://schemas.openxmlformats.org/drawingml/2006/main" noGrp="1"/>
          </p:cNvSpPr>
          <p:nvPr/>
        </p:nvSpPr>
        <p:spPr>
          <a:xfrm xmlns:a="http://schemas.openxmlformats.org/drawingml/2006/main">
            <a:off x="330136" y="164116"/>
            <a:ext cx="6619875" cy="3238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2415"/>
              </a:lnSpc>
              <a:buNone/>
              <a:defRPr sz="2300" b="1">
                <a:solidFill>
                  <a:srgbClr val="FFFFFF"/>
                </a:solidFill>
                <a:latin typeface="Arial"/>
                <a:ea typeface="Arial"/>
                <a:cs typeface="Arial"/>
              </a:defRPr>
            </a:pPr>
            <a:r>
              <a:rPr sz="2300" b="1">
                <a:solidFill>
                  <a:srgbClr val="FFFFFF"/>
                </a:solidFill>
                <a:latin typeface="Arial"/>
                <a:ea typeface="Arial"/>
                <a:cs typeface="Arial"/>
              </a:rPr>
              <a:t>Implemented MuJoCo reference</a:t>
            </a:r>
            <a:endParaRPr sz="2300"/>
          </a:p>
        </p:txBody>
      </p:sp>
      <p:sp>
        <p:nvSpPr>
          <p:cNvPr id="4" name="Text 2">
            <a:extLst xmlns:a="http://schemas.openxmlformats.org/drawingml/2006/main">
              <a:ext uri="{FF2B5EF4-FFF2-40B4-BE49-F238E27FC236}">
                <a16:creationId xmlns:a16="http://schemas.microsoft.com/office/drawing/2014/main" id="{48AA7AB1-3D98-4974-91FF-7CE974D9A383}"/>
              </a:ext>
            </a:extLst>
          </p:cNvPr>
          <p:cNvSpPr>
            <a:spLocks xmlns:a="http://schemas.openxmlformats.org/drawingml/2006/main" noGrp="1"/>
          </p:cNvSpPr>
          <p:nvPr/>
        </p:nvSpPr>
        <p:spPr>
          <a:xfrm xmlns:a="http://schemas.openxmlformats.org/drawingml/2006/main">
            <a:off x="7372350" y="190500"/>
            <a:ext cx="14478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r">
              <a:lnSpc>
                <a:spcPts val="1054"/>
              </a:lnSpc>
              <a:buNone/>
              <a:defRPr sz="788" b="1">
                <a:solidFill>
                  <a:srgbClr val="FFFFFF"/>
                </a:solidFill>
                <a:latin typeface="Arial"/>
                <a:ea typeface="Arial"/>
                <a:cs typeface="Arial"/>
              </a:defRPr>
            </a:pPr>
            <a:r>
              <a:rPr sz="788" b="1">
                <a:solidFill>
                  <a:srgbClr val="FFFFFF"/>
                </a:solidFill>
                <a:latin typeface="Arial"/>
                <a:ea typeface="Arial"/>
                <a:cs typeface="Arial"/>
              </a:rPr>
              <a:t>CS CAPSTONE REFERENCE</a:t>
            </a:r>
            <a:endParaRPr sz="850"/>
          </a:p>
        </p:txBody>
      </p:sp>
      <p:sp>
        <p:nvSpPr>
          <p:cNvPr id="5" name="Text 3">
            <a:extLst xmlns:a="http://schemas.openxmlformats.org/drawingml/2006/main">
              <a:ext uri="{FF2B5EF4-FFF2-40B4-BE49-F238E27FC236}">
                <a16:creationId xmlns:a16="http://schemas.microsoft.com/office/drawing/2014/main" id="{7702B9DB-89CA-4575-8F62-12BD95F9AA70}"/>
              </a:ext>
            </a:extLst>
          </p:cNvPr>
          <p:cNvSpPr>
            <a:spLocks xmlns:a="http://schemas.openxmlformats.org/drawingml/2006/main" noGrp="1"/>
          </p:cNvSpPr>
          <p:nvPr/>
        </p:nvSpPr>
        <p:spPr>
          <a:xfrm xmlns:a="http://schemas.openxmlformats.org/drawingml/2006/main">
            <a:off x="330101" y="609600"/>
            <a:ext cx="787301" cy="38100"/>
          </a:xfrm>
          <a:prstGeom xmlns:a="http://schemas.openxmlformats.org/drawingml/2006/main" prst="rect">
            <a:avLst/>
          </a:prstGeom>
          <a:solidFill xmlns:a="http://schemas.openxmlformats.org/drawingml/2006/main">
            <a:srgbClr val="D63B4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6" name="Text 4">
            <a:extLst xmlns:a="http://schemas.openxmlformats.org/drawingml/2006/main">
              <a:ext uri="{FF2B5EF4-FFF2-40B4-BE49-F238E27FC236}">
                <a16:creationId xmlns:a16="http://schemas.microsoft.com/office/drawing/2014/main" id="{199E6314-F661-424F-8874-FAF9AA4EA174}"/>
              </a:ext>
            </a:extLst>
          </p:cNvPr>
          <p:cNvSpPr>
            <a:spLocks xmlns:a="http://schemas.openxmlformats.org/drawingml/2006/main" noGrp="1"/>
          </p:cNvSpPr>
          <p:nvPr/>
        </p:nvSpPr>
        <p:spPr>
          <a:xfrm xmlns:a="http://schemas.openxmlformats.org/drawingml/2006/main">
            <a:off x="342900" y="850850"/>
            <a:ext cx="4379565" cy="1847850"/>
          </a:xfrm>
          <a:prstGeom xmlns:a="http://schemas.openxmlformats.org/drawingml/2006/main" prst="roundRect">
            <a:avLst>
              <a:gd name="adj" fmla="val 5498"/>
            </a:avLst>
          </a:prstGeom>
          <a:solidFill xmlns:a="http://schemas.openxmlformats.org/drawingml/2006/main">
            <a:srgbClr val="EEF4F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7" name="Shape 5">
            <a:extLst xmlns:a="http://schemas.openxmlformats.org/drawingml/2006/main">
              <a:ext uri="{FF2B5EF4-FFF2-40B4-BE49-F238E27FC236}">
                <a16:creationId xmlns:a16="http://schemas.microsoft.com/office/drawing/2014/main" id="{C65992B6-53CC-46B6-8CE3-BC94AC63CD4E}"/>
              </a:ext>
            </a:extLst>
          </p:cNvPr>
          <p:cNvSpPr>
            <a:spLocks xmlns:a="http://schemas.openxmlformats.org/drawingml/2006/main" noGrp="1"/>
          </p:cNvSpPr>
          <p:nvPr/>
        </p:nvSpPr>
        <p:spPr>
          <a:xfrm xmlns:a="http://schemas.openxmlformats.org/drawingml/2006/main">
            <a:off x="342900" y="855613"/>
            <a:ext cx="4379565"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8" name="Shape 6">
            <a:extLst xmlns:a="http://schemas.openxmlformats.org/drawingml/2006/main">
              <a:ext uri="{FF2B5EF4-FFF2-40B4-BE49-F238E27FC236}">
                <a16:creationId xmlns:a16="http://schemas.microsoft.com/office/drawing/2014/main" id="{28D214EE-F60A-412B-BD98-634AF33AF5FE}"/>
              </a:ext>
            </a:extLst>
          </p:cNvPr>
          <p:cNvSpPr>
            <a:spLocks xmlns:a="http://schemas.openxmlformats.org/drawingml/2006/main" noGrp="1"/>
          </p:cNvSpPr>
          <p:nvPr/>
        </p:nvSpPr>
        <p:spPr>
          <a:xfrm xmlns:a="http://schemas.openxmlformats.org/drawingml/2006/main">
            <a:off x="4717703" y="850850"/>
            <a:ext cx="0" cy="184785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9" name="Shape 7">
            <a:extLst xmlns:a="http://schemas.openxmlformats.org/drawingml/2006/main">
              <a:ext uri="{FF2B5EF4-FFF2-40B4-BE49-F238E27FC236}">
                <a16:creationId xmlns:a16="http://schemas.microsoft.com/office/drawing/2014/main" id="{E21494F1-5A0B-42CE-AAF0-012E27BB8E4A}"/>
              </a:ext>
            </a:extLst>
          </p:cNvPr>
          <p:cNvSpPr>
            <a:spLocks xmlns:a="http://schemas.openxmlformats.org/drawingml/2006/main" noGrp="1"/>
          </p:cNvSpPr>
          <p:nvPr/>
        </p:nvSpPr>
        <p:spPr>
          <a:xfrm xmlns:a="http://schemas.openxmlformats.org/drawingml/2006/main">
            <a:off x="342900" y="2693938"/>
            <a:ext cx="4379565"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0" name="Shape 8">
            <a:extLst xmlns:a="http://schemas.openxmlformats.org/drawingml/2006/main">
              <a:ext uri="{FF2B5EF4-FFF2-40B4-BE49-F238E27FC236}">
                <a16:creationId xmlns:a16="http://schemas.microsoft.com/office/drawing/2014/main" id="{93E16C65-62D1-4D36-BE28-D4F9E2679D70}"/>
              </a:ext>
            </a:extLst>
          </p:cNvPr>
          <p:cNvSpPr>
            <a:spLocks xmlns:a="http://schemas.openxmlformats.org/drawingml/2006/main" noGrp="1"/>
          </p:cNvSpPr>
          <p:nvPr/>
        </p:nvSpPr>
        <p:spPr>
          <a:xfrm xmlns:a="http://schemas.openxmlformats.org/drawingml/2006/main">
            <a:off x="371475" y="850850"/>
            <a:ext cx="0" cy="1847850"/>
          </a:xfrm>
          <a:prstGeom xmlns:a="http://schemas.openxmlformats.org/drawingml/2006/main" prst="line">
            <a:avLst/>
          </a:prstGeom>
          <a:noFill xmlns:a="http://schemas.openxmlformats.org/drawingml/2006/main"/>
          <a:ln xmlns:a="http://schemas.openxmlformats.org/drawingml/2006/main" w="57150">
            <a:solidFill>
              <a:srgbClr val="234D78"/>
            </a:solidFill>
            <a:prstDash val="solid"/>
          </a:ln>
        </p:spPr>
      </p:sp>
      <p:sp>
        <p:nvSpPr>
          <p:cNvPr id="11" name="Text 9">
            <a:extLst xmlns:a="http://schemas.openxmlformats.org/drawingml/2006/main">
              <a:ext uri="{FF2B5EF4-FFF2-40B4-BE49-F238E27FC236}">
                <a16:creationId xmlns:a16="http://schemas.microsoft.com/office/drawing/2014/main" id="{9FC1325C-C5F3-4813-B846-2E8CBC4DDA82}"/>
              </a:ext>
            </a:extLst>
          </p:cNvPr>
          <p:cNvSpPr>
            <a:spLocks xmlns:a="http://schemas.openxmlformats.org/drawingml/2006/main" noGrp="1"/>
          </p:cNvSpPr>
          <p:nvPr/>
        </p:nvSpPr>
        <p:spPr>
          <a:xfrm xmlns:a="http://schemas.openxmlformats.org/drawingml/2006/main">
            <a:off x="552450" y="1012775"/>
            <a:ext cx="4088252"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Implemented and tested</a:t>
            </a:r>
            <a:endParaRPr sz="1400"/>
          </a:p>
        </p:txBody>
      </p:sp>
      <p:sp>
        <p:nvSpPr>
          <p:cNvPr id="12" name="Text 10">
            <a:extLst xmlns:a="http://schemas.openxmlformats.org/drawingml/2006/main">
              <a:ext uri="{FF2B5EF4-FFF2-40B4-BE49-F238E27FC236}">
                <a16:creationId xmlns:a16="http://schemas.microsoft.com/office/drawing/2014/main" id="{499704E9-52DD-48AB-BAB9-95CF38E9B7EF}"/>
              </a:ext>
            </a:extLst>
          </p:cNvPr>
          <p:cNvSpPr>
            <a:spLocks xmlns:a="http://schemas.openxmlformats.org/drawingml/2006/main" noGrp="1"/>
          </p:cNvSpPr>
          <p:nvPr/>
        </p:nvSpPr>
        <p:spPr>
          <a:xfrm xmlns:a="http://schemas.openxmlformats.org/drawingml/2006/main">
            <a:off x="768251" y="1280666"/>
            <a:ext cx="3792289" cy="86171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Panda source and UR5e + Robotiq 2F-85 target.</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6D IK, position servos, and gravity compensation.</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Contact physics, a free-joint cube, and trial logs.</a:t>
            </a:r>
            <a:endParaRPr sz="1170"/>
          </a:p>
        </p:txBody>
      </p:sp>
      <p:sp>
        <p:nvSpPr>
          <p:cNvPr id="13" name="Text 11">
            <a:extLst xmlns:a="http://schemas.openxmlformats.org/drawingml/2006/main">
              <a:ext uri="{FF2B5EF4-FFF2-40B4-BE49-F238E27FC236}">
                <a16:creationId xmlns:a16="http://schemas.microsoft.com/office/drawing/2014/main" id="{6CF6B165-996C-4141-9416-B0B137AD06F9}"/>
              </a:ext>
            </a:extLst>
          </p:cNvPr>
          <p:cNvSpPr>
            <a:spLocks xmlns:a="http://schemas.openxmlformats.org/drawingml/2006/main" noGrp="1"/>
          </p:cNvSpPr>
          <p:nvPr/>
        </p:nvSpPr>
        <p:spPr>
          <a:xfrm xmlns:a="http://schemas.openxmlformats.org/drawingml/2006/main">
            <a:off x="342900" y="2813000"/>
            <a:ext cx="4379565" cy="1847999"/>
          </a:xfrm>
          <a:prstGeom xmlns:a="http://schemas.openxmlformats.org/drawingml/2006/main" prst="roundRect">
            <a:avLst>
              <a:gd name="adj" fmla="val 5498"/>
            </a:avLst>
          </a:prstGeom>
          <a:solidFill xmlns:a="http://schemas.openxmlformats.org/drawingml/2006/main">
            <a:srgbClr val="FFF1F3"/>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14" name="Shape 12">
            <a:extLst xmlns:a="http://schemas.openxmlformats.org/drawingml/2006/main">
              <a:ext uri="{FF2B5EF4-FFF2-40B4-BE49-F238E27FC236}">
                <a16:creationId xmlns:a16="http://schemas.microsoft.com/office/drawing/2014/main" id="{B9434EE4-4A73-44E4-AC68-5FE463CFA570}"/>
              </a:ext>
            </a:extLst>
          </p:cNvPr>
          <p:cNvSpPr>
            <a:spLocks xmlns:a="http://schemas.openxmlformats.org/drawingml/2006/main" noGrp="1"/>
          </p:cNvSpPr>
          <p:nvPr/>
        </p:nvSpPr>
        <p:spPr>
          <a:xfrm xmlns:a="http://schemas.openxmlformats.org/drawingml/2006/main">
            <a:off x="342900" y="2817763"/>
            <a:ext cx="4379565"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5" name="Shape 13">
            <a:extLst xmlns:a="http://schemas.openxmlformats.org/drawingml/2006/main">
              <a:ext uri="{FF2B5EF4-FFF2-40B4-BE49-F238E27FC236}">
                <a16:creationId xmlns:a16="http://schemas.microsoft.com/office/drawing/2014/main" id="{46127A3F-2B80-4411-8695-BDEF3417C1EB}"/>
              </a:ext>
            </a:extLst>
          </p:cNvPr>
          <p:cNvSpPr>
            <a:spLocks xmlns:a="http://schemas.openxmlformats.org/drawingml/2006/main" noGrp="1"/>
          </p:cNvSpPr>
          <p:nvPr/>
        </p:nvSpPr>
        <p:spPr>
          <a:xfrm xmlns:a="http://schemas.openxmlformats.org/drawingml/2006/main">
            <a:off x="4717703" y="2813000"/>
            <a:ext cx="0" cy="1847999"/>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6" name="Shape 14">
            <a:extLst xmlns:a="http://schemas.openxmlformats.org/drawingml/2006/main">
              <a:ext uri="{FF2B5EF4-FFF2-40B4-BE49-F238E27FC236}">
                <a16:creationId xmlns:a16="http://schemas.microsoft.com/office/drawing/2014/main" id="{D850F039-0635-4911-8CDF-57BD5851E3B8}"/>
              </a:ext>
            </a:extLst>
          </p:cNvPr>
          <p:cNvSpPr>
            <a:spLocks xmlns:a="http://schemas.openxmlformats.org/drawingml/2006/main" noGrp="1"/>
          </p:cNvSpPr>
          <p:nvPr/>
        </p:nvSpPr>
        <p:spPr>
          <a:xfrm xmlns:a="http://schemas.openxmlformats.org/drawingml/2006/main">
            <a:off x="342900" y="4656237"/>
            <a:ext cx="4379565"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7" name="Shape 15">
            <a:extLst xmlns:a="http://schemas.openxmlformats.org/drawingml/2006/main">
              <a:ext uri="{FF2B5EF4-FFF2-40B4-BE49-F238E27FC236}">
                <a16:creationId xmlns:a16="http://schemas.microsoft.com/office/drawing/2014/main" id="{0C1355CB-DA27-462B-8B96-8649974D546D}"/>
              </a:ext>
            </a:extLst>
          </p:cNvPr>
          <p:cNvSpPr>
            <a:spLocks xmlns:a="http://schemas.openxmlformats.org/drawingml/2006/main" noGrp="1"/>
          </p:cNvSpPr>
          <p:nvPr/>
        </p:nvSpPr>
        <p:spPr>
          <a:xfrm xmlns:a="http://schemas.openxmlformats.org/drawingml/2006/main">
            <a:off x="371475" y="2813000"/>
            <a:ext cx="0" cy="1847999"/>
          </a:xfrm>
          <a:prstGeom xmlns:a="http://schemas.openxmlformats.org/drawingml/2006/main" prst="line">
            <a:avLst/>
          </a:prstGeom>
          <a:noFill xmlns:a="http://schemas.openxmlformats.org/drawingml/2006/main"/>
          <a:ln xmlns:a="http://schemas.openxmlformats.org/drawingml/2006/main" w="57150">
            <a:solidFill>
              <a:srgbClr val="D63B4A"/>
            </a:solidFill>
            <a:prstDash val="solid"/>
          </a:ln>
        </p:spPr>
      </p:sp>
      <p:sp>
        <p:nvSpPr>
          <p:cNvPr id="18" name="Text 16">
            <a:extLst xmlns:a="http://schemas.openxmlformats.org/drawingml/2006/main">
              <a:ext uri="{FF2B5EF4-FFF2-40B4-BE49-F238E27FC236}">
                <a16:creationId xmlns:a16="http://schemas.microsoft.com/office/drawing/2014/main" id="{E5FC4779-06FB-4EAD-908E-600E8CABDC03}"/>
              </a:ext>
            </a:extLst>
          </p:cNvPr>
          <p:cNvSpPr>
            <a:spLocks xmlns:a="http://schemas.openxmlformats.org/drawingml/2006/main" noGrp="1"/>
          </p:cNvSpPr>
          <p:nvPr/>
        </p:nvSpPr>
        <p:spPr>
          <a:xfrm xmlns:a="http://schemas.openxmlformats.org/drawingml/2006/main">
            <a:off x="552450" y="2974925"/>
            <a:ext cx="4088252"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Scope of current evidence</a:t>
            </a:r>
            <a:endParaRPr sz="1400"/>
          </a:p>
        </p:txBody>
      </p:sp>
      <p:sp>
        <p:nvSpPr>
          <p:cNvPr id="19" name="Text 17">
            <a:extLst xmlns:a="http://schemas.openxmlformats.org/drawingml/2006/main">
              <a:ext uri="{FF2B5EF4-FFF2-40B4-BE49-F238E27FC236}">
                <a16:creationId xmlns:a16="http://schemas.microsoft.com/office/drawing/2014/main" id="{501CE8B6-9289-465A-B2B9-70434406D783}"/>
              </a:ext>
            </a:extLst>
          </p:cNvPr>
          <p:cNvSpPr>
            <a:spLocks xmlns:a="http://schemas.openxmlformats.org/drawingml/2006/main" noGrp="1"/>
          </p:cNvSpPr>
          <p:nvPr/>
        </p:nvSpPr>
        <p:spPr>
          <a:xfrm xmlns:a="http://schemas.openxmlformats.org/drawingml/2006/main">
            <a:off x="768251" y="3242816"/>
            <a:ext cx="3792289" cy="620911"/>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One cube and one source demonstration.</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Clean simulator state without video estimation.</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20 tests passed, with no skipped tests.</a:t>
            </a:r>
            <a:endParaRPr sz="1170"/>
          </a:p>
        </p:txBody>
      </p:sp>
      <p:sp>
        <p:nvSpPr>
          <p:cNvPr id="20" name="Text 18">
            <a:extLst xmlns:a="http://schemas.openxmlformats.org/drawingml/2006/main">
              <a:ext uri="{FF2B5EF4-FFF2-40B4-BE49-F238E27FC236}">
                <a16:creationId xmlns:a16="http://schemas.microsoft.com/office/drawing/2014/main" id="{5BE5A040-EB2F-4D22-BF45-0CC2F136755C}"/>
              </a:ext>
            </a:extLst>
          </p:cNvPr>
          <p:cNvSpPr>
            <a:spLocks xmlns:a="http://schemas.openxmlformats.org/drawingml/2006/main" noGrp="1"/>
          </p:cNvSpPr>
          <p:nvPr/>
        </p:nvSpPr>
        <p:spPr>
          <a:xfrm xmlns:a="http://schemas.openxmlformats.org/drawingml/2006/main">
            <a:off x="4874865" y="850850"/>
            <a:ext cx="3926235" cy="3810149"/>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19050">
            <a:solidFill>
              <a:srgbClr val="234D78"/>
            </a:solidFill>
          </a:ln>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21" name="Text 19">
            <a:extLst xmlns:a="http://schemas.openxmlformats.org/drawingml/2006/main">
              <a:ext uri="{FF2B5EF4-FFF2-40B4-BE49-F238E27FC236}">
                <a16:creationId xmlns:a16="http://schemas.microsoft.com/office/drawing/2014/main" id="{24B3B171-433F-47F7-82EF-7192C85A28DE}"/>
              </a:ext>
            </a:extLst>
          </p:cNvPr>
          <p:cNvSpPr>
            <a:spLocks xmlns:a="http://schemas.openxmlformats.org/drawingml/2006/main" noGrp="1"/>
          </p:cNvSpPr>
          <p:nvPr/>
        </p:nvSpPr>
        <p:spPr>
          <a:xfrm xmlns:a="http://schemas.openxmlformats.org/drawingml/2006/main">
            <a:off x="5010482" y="2239566"/>
            <a:ext cx="3655001" cy="3174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ctr">
              <a:lnSpc>
                <a:spcPts val="2500"/>
              </a:lnSpc>
              <a:spcAft>
                <a:spcPts val="500"/>
              </a:spcAft>
              <a:buNone/>
              <a:defRPr sz="2500" b="1">
                <a:solidFill>
                  <a:srgbClr val="234D78"/>
                </a:solidFill>
                <a:latin typeface="Arial"/>
                <a:ea typeface="Arial"/>
                <a:cs typeface="Arial"/>
              </a:defRPr>
            </a:pPr>
            <a:r>
              <a:rPr sz="2500" b="1">
                <a:solidFill>
                  <a:srgbClr val="234D78"/>
                </a:solidFill>
                <a:latin typeface="Arial"/>
                <a:ea typeface="Arial"/>
                <a:cs typeface="Arial"/>
              </a:rPr>
              <a:t>CPU reference</a:t>
            </a:r>
            <a:endParaRPr sz="2500"/>
          </a:p>
        </p:txBody>
      </p:sp>
      <p:sp>
        <p:nvSpPr>
          <p:cNvPr id="22" name="Text 20">
            <a:extLst xmlns:a="http://schemas.openxmlformats.org/drawingml/2006/main">
              <a:ext uri="{FF2B5EF4-FFF2-40B4-BE49-F238E27FC236}">
                <a16:creationId xmlns:a16="http://schemas.microsoft.com/office/drawing/2014/main" id="{6F505D63-AECD-4D83-AAC6-19347398C9F3}"/>
              </a:ext>
            </a:extLst>
          </p:cNvPr>
          <p:cNvSpPr>
            <a:spLocks xmlns:a="http://schemas.openxmlformats.org/drawingml/2006/main" noGrp="1"/>
          </p:cNvSpPr>
          <p:nvPr/>
        </p:nvSpPr>
        <p:spPr>
          <a:xfrm xmlns:a="http://schemas.openxmlformats.org/drawingml/2006/main">
            <a:off x="5010482" y="2620417"/>
            <a:ext cx="3655001"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ctr">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Clean pick-and-place</a:t>
            </a:r>
            <a:endParaRPr sz="1400"/>
          </a:p>
        </p:txBody>
      </p:sp>
      <p:sp>
        <p:nvSpPr>
          <p:cNvPr id="23" name="Text 21">
            <a:extLst xmlns:a="http://schemas.openxmlformats.org/drawingml/2006/main">
              <a:ext uri="{FF2B5EF4-FFF2-40B4-BE49-F238E27FC236}">
                <a16:creationId xmlns:a16="http://schemas.microsoft.com/office/drawing/2014/main" id="{288BC8DF-9F1C-45DB-9425-5F355A99D8C9}"/>
              </a:ext>
            </a:extLst>
          </p:cNvPr>
          <p:cNvSpPr>
            <a:spLocks xmlns:a="http://schemas.openxmlformats.org/drawingml/2006/main" noGrp="1"/>
          </p:cNvSpPr>
          <p:nvPr/>
        </p:nvSpPr>
        <p:spPr>
          <a:xfrm xmlns:a="http://schemas.openxmlformats.org/drawingml/2006/main">
            <a:off x="5010482" y="2888307"/>
            <a:ext cx="3655001" cy="383977"/>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ctr">
              <a:lnSpc>
                <a:spcPts val="1513"/>
              </a:lnSpc>
              <a:buNone/>
              <a:defRPr sz="1220" b="0">
                <a:solidFill>
                  <a:srgbClr val="12263A"/>
                </a:solidFill>
                <a:latin typeface="Arial"/>
                <a:ea typeface="Arial"/>
                <a:cs typeface="Arial"/>
              </a:defRPr>
            </a:pPr>
            <a:r>
              <a:rPr sz="1220" b="0">
                <a:solidFill>
                  <a:srgbClr val="12263A"/>
                </a:solidFill>
                <a:latin typeface="Arial"/>
                <a:ea typeface="Arial"/>
                <a:cs typeface="Arial"/>
              </a:rPr>
              <a:t>50 development and 100 held-out target layouts. Pinned Menagerie models with a hash receipt.</a:t>
            </a:r>
            <a:endParaRPr sz="1220"/>
          </a:p>
        </p:txBody>
      </p:sp>
      <p:sp>
        <p:nvSpPr>
          <p:cNvPr id="24" name="Text 22">
            <a:extLst xmlns:a="http://schemas.openxmlformats.org/drawingml/2006/main">
              <a:ext uri="{FF2B5EF4-FFF2-40B4-BE49-F238E27FC236}">
                <a16:creationId xmlns:a16="http://schemas.microsoft.com/office/drawing/2014/main" id="{4B591CBB-8551-495A-9111-A8CB99EB4781}"/>
              </a:ext>
            </a:extLst>
          </p:cNvPr>
          <p:cNvSpPr>
            <a:spLocks xmlns:a="http://schemas.openxmlformats.org/drawingml/2006/main" noGrp="1"/>
          </p:cNvSpPr>
          <p:nvPr/>
        </p:nvSpPr>
        <p:spPr>
          <a:xfrm xmlns:a="http://schemas.openxmlformats.org/drawingml/2006/main">
            <a:off x="8339328" y="4965192"/>
            <a:ext cx="502920"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60">
                <a:solidFill>
                  <a:srgbClr val="7A8794"/>
                </a:solidFill>
                <a:latin typeface="Arial"/>
                <a:ea typeface="Arial"/>
                <a:cs typeface="Arial"/>
              </a:rPr>
              <a:t>7 / 31</a:t>
            </a:r>
            <a:endParaRPr sz="660"/>
          </a:p>
        </p:txBody>
      </p:sp>
      <p:sp>
        <p:nvSpPr>
          <p:cNvPr id="25" name="Sources footer">
            <a:extLst xmlns:a="http://schemas.openxmlformats.org/drawingml/2006/main">
              <a:ext uri="{FF2B5EF4-FFF2-40B4-BE49-F238E27FC236}">
                <a16:creationId xmlns:a16="http://schemas.microsoft.com/office/drawing/2014/main" id="{C6DE72E5-7EC4-4D48-ABD6-76DF5A8FAAE9}"/>
              </a:ext>
            </a:extLst>
          </p:cNvPr>
          <p:cNvSpPr>
            <a:spLocks xmlns:a="http://schemas.openxmlformats.org/drawingml/2006/main" noGrp="1"/>
          </p:cNvSpPr>
          <p:nvPr/>
        </p:nvSpPr>
        <p:spPr>
          <a:xfrm xmlns:a="http://schemas.openxmlformats.org/drawingml/2006/main">
            <a:off x="438150" y="4924425"/>
            <a:ext cx="72961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40" b="0">
                <a:solidFill>
                  <a:srgbClr val="234D78"/>
                </a:solidFill>
                <a:latin typeface="Arial"/>
                <a:ea typeface="Arial"/>
                <a:cs typeface="Arial"/>
              </a:defRPr>
            </a:pPr>
            <a:r>
              <a:rPr sz="640" b="0">
                <a:solidFill>
                  <a:srgbClr val="234D78"/>
                </a:solidFill>
                <a:latin typeface="Arial"/>
                <a:ea typeface="Arial"/>
                <a:cs typeface="Arial"/>
                <a:hlinkClick xmlns:r="http://schemas.openxmlformats.org/officeDocument/2006/relationships" r:id="R74cff25783c34e17"/>
              </a:rPr>
              <a:t>Reader guide and sources</a:t>
            </a:r>
          </a:p>
        </p:txBody>
      </p:sp>
    </p:spTree>
    <p:extLst>
      <p:ext uri="{BB962C8B-B14F-4D97-AF65-F5344CB8AC3E}">
        <p14:creationId xmlns:p14="http://schemas.microsoft.com/office/powerpoint/2010/main" val="141280280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7CC1852-1DC3-4934-A6BC-5ED3209EFCEA}"/>
              </a:ext>
            </a:extLst>
          </p:cNvPr>
          <p:cNvSpPr>
            <a:spLocks xmlns:a="http://schemas.openxmlformats.org/drawingml/2006/main" noGrp="1"/>
          </p:cNvSpPr>
          <p:nvPr/>
        </p:nvSpPr>
        <p:spPr>
          <a:xfrm xmlns:a="http://schemas.openxmlformats.org/drawingml/2006/main">
            <a:off x="0" y="0"/>
            <a:ext cx="9144000" cy="609600"/>
          </a:xfrm>
          <a:prstGeom xmlns:a="http://schemas.openxmlformats.org/drawingml/2006/main" prst="rect">
            <a:avLst/>
          </a:prstGeom>
          <a:solidFill xmlns:a="http://schemas.openxmlformats.org/drawingml/2006/main">
            <a:srgbClr val="234D7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3" name="Text 1">
            <a:extLst xmlns:a="http://schemas.openxmlformats.org/drawingml/2006/main">
              <a:ext uri="{FF2B5EF4-FFF2-40B4-BE49-F238E27FC236}">
                <a16:creationId xmlns:a16="http://schemas.microsoft.com/office/drawing/2014/main" id="{449C0408-011B-4F54-8F69-BD5D38FC1799}"/>
              </a:ext>
            </a:extLst>
          </p:cNvPr>
          <p:cNvSpPr>
            <a:spLocks xmlns:a="http://schemas.openxmlformats.org/drawingml/2006/main" noGrp="1"/>
          </p:cNvSpPr>
          <p:nvPr/>
        </p:nvSpPr>
        <p:spPr>
          <a:xfrm xmlns:a="http://schemas.openxmlformats.org/drawingml/2006/main">
            <a:off x="330136" y="164116"/>
            <a:ext cx="6619875" cy="3238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2415"/>
              </a:lnSpc>
              <a:buNone/>
              <a:defRPr sz="2300" b="1">
                <a:solidFill>
                  <a:srgbClr val="FFFFFF"/>
                </a:solidFill>
                <a:latin typeface="Arial"/>
                <a:ea typeface="Arial"/>
                <a:cs typeface="Arial"/>
              </a:defRPr>
            </a:pPr>
            <a:r>
              <a:rPr sz="2300" b="1">
                <a:solidFill>
                  <a:srgbClr val="FFFFFF"/>
                </a:solidFill>
                <a:latin typeface="Arial"/>
                <a:ea typeface="Arial"/>
                <a:cs typeface="Arial"/>
              </a:rPr>
              <a:t>Isaac and larger vision models</a:t>
            </a:r>
            <a:endParaRPr sz="2300"/>
          </a:p>
        </p:txBody>
      </p:sp>
      <p:sp>
        <p:nvSpPr>
          <p:cNvPr id="4" name="Text 2">
            <a:extLst xmlns:a="http://schemas.openxmlformats.org/drawingml/2006/main">
              <a:ext uri="{FF2B5EF4-FFF2-40B4-BE49-F238E27FC236}">
                <a16:creationId xmlns:a16="http://schemas.microsoft.com/office/drawing/2014/main" id="{D3CA220D-4228-4019-89A2-0CBE5CF2111C}"/>
              </a:ext>
            </a:extLst>
          </p:cNvPr>
          <p:cNvSpPr>
            <a:spLocks xmlns:a="http://schemas.openxmlformats.org/drawingml/2006/main" noGrp="1"/>
          </p:cNvSpPr>
          <p:nvPr/>
        </p:nvSpPr>
        <p:spPr>
          <a:xfrm xmlns:a="http://schemas.openxmlformats.org/drawingml/2006/main">
            <a:off x="7372350" y="190500"/>
            <a:ext cx="14478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r">
              <a:lnSpc>
                <a:spcPts val="1054"/>
              </a:lnSpc>
              <a:buNone/>
              <a:defRPr sz="788" b="1">
                <a:solidFill>
                  <a:srgbClr val="FFFFFF"/>
                </a:solidFill>
                <a:latin typeface="Arial"/>
                <a:ea typeface="Arial"/>
                <a:cs typeface="Arial"/>
              </a:defRPr>
            </a:pPr>
            <a:r>
              <a:rPr sz="788" b="1">
                <a:solidFill>
                  <a:srgbClr val="FFFFFF"/>
                </a:solidFill>
                <a:latin typeface="Arial"/>
                <a:ea typeface="Arial"/>
                <a:cs typeface="Arial"/>
              </a:rPr>
              <a:t>CS CAPSTONE REFERENCE</a:t>
            </a:r>
            <a:endParaRPr sz="850"/>
          </a:p>
        </p:txBody>
      </p:sp>
      <p:sp>
        <p:nvSpPr>
          <p:cNvPr id="5" name="Text 3">
            <a:extLst xmlns:a="http://schemas.openxmlformats.org/drawingml/2006/main">
              <a:ext uri="{FF2B5EF4-FFF2-40B4-BE49-F238E27FC236}">
                <a16:creationId xmlns:a16="http://schemas.microsoft.com/office/drawing/2014/main" id="{1CC3649E-4B0E-420D-9B2D-8C86E88844B2}"/>
              </a:ext>
            </a:extLst>
          </p:cNvPr>
          <p:cNvSpPr>
            <a:spLocks xmlns:a="http://schemas.openxmlformats.org/drawingml/2006/main" noGrp="1"/>
          </p:cNvSpPr>
          <p:nvPr/>
        </p:nvSpPr>
        <p:spPr>
          <a:xfrm xmlns:a="http://schemas.openxmlformats.org/drawingml/2006/main">
            <a:off x="330101" y="609600"/>
            <a:ext cx="787301" cy="38100"/>
          </a:xfrm>
          <a:prstGeom xmlns:a="http://schemas.openxmlformats.org/drawingml/2006/main" prst="rect">
            <a:avLst/>
          </a:prstGeom>
          <a:solidFill xmlns:a="http://schemas.openxmlformats.org/drawingml/2006/main">
            <a:srgbClr val="D63B4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6" name="Text 4">
            <a:extLst xmlns:a="http://schemas.openxmlformats.org/drawingml/2006/main">
              <a:ext uri="{FF2B5EF4-FFF2-40B4-BE49-F238E27FC236}">
                <a16:creationId xmlns:a16="http://schemas.microsoft.com/office/drawing/2014/main" id="{7D3B11F3-B795-4C6A-BD33-BE9323173F6A}"/>
              </a:ext>
            </a:extLst>
          </p:cNvPr>
          <p:cNvSpPr>
            <a:spLocks xmlns:a="http://schemas.openxmlformats.org/drawingml/2006/main" noGrp="1"/>
          </p:cNvSpPr>
          <p:nvPr/>
        </p:nvSpPr>
        <p:spPr>
          <a:xfrm xmlns:a="http://schemas.openxmlformats.org/drawingml/2006/main">
            <a:off x="342900" y="850850"/>
            <a:ext cx="4152900" cy="3810149"/>
          </a:xfrm>
          <a:prstGeom xmlns:a="http://schemas.openxmlformats.org/drawingml/2006/main" prst="roundRect">
            <a:avLst>
              <a:gd name="adj" fmla="val 2667"/>
            </a:avLst>
          </a:prstGeom>
          <a:solidFill xmlns:a="http://schemas.openxmlformats.org/drawingml/2006/main">
            <a:srgbClr val="EDFAF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7" name="Shape 5">
            <a:extLst xmlns:a="http://schemas.openxmlformats.org/drawingml/2006/main">
              <a:ext uri="{FF2B5EF4-FFF2-40B4-BE49-F238E27FC236}">
                <a16:creationId xmlns:a16="http://schemas.microsoft.com/office/drawing/2014/main" id="{B54DB4A8-61AE-4CB7-95A8-EA80BB842A61}"/>
              </a:ext>
            </a:extLst>
          </p:cNvPr>
          <p:cNvSpPr>
            <a:spLocks xmlns:a="http://schemas.openxmlformats.org/drawingml/2006/main" noGrp="1"/>
          </p:cNvSpPr>
          <p:nvPr/>
        </p:nvSpPr>
        <p:spPr>
          <a:xfrm xmlns:a="http://schemas.openxmlformats.org/drawingml/2006/main">
            <a:off x="342900" y="855613"/>
            <a:ext cx="4152900"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8" name="Shape 6">
            <a:extLst xmlns:a="http://schemas.openxmlformats.org/drawingml/2006/main">
              <a:ext uri="{FF2B5EF4-FFF2-40B4-BE49-F238E27FC236}">
                <a16:creationId xmlns:a16="http://schemas.microsoft.com/office/drawing/2014/main" id="{47128C36-5E6B-420F-862B-73ADB4896710}"/>
              </a:ext>
            </a:extLst>
          </p:cNvPr>
          <p:cNvSpPr>
            <a:spLocks xmlns:a="http://schemas.openxmlformats.org/drawingml/2006/main" noGrp="1"/>
          </p:cNvSpPr>
          <p:nvPr/>
        </p:nvSpPr>
        <p:spPr>
          <a:xfrm xmlns:a="http://schemas.openxmlformats.org/drawingml/2006/main">
            <a:off x="4491038" y="850850"/>
            <a:ext cx="0" cy="3810149"/>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9" name="Shape 7">
            <a:extLst xmlns:a="http://schemas.openxmlformats.org/drawingml/2006/main">
              <a:ext uri="{FF2B5EF4-FFF2-40B4-BE49-F238E27FC236}">
                <a16:creationId xmlns:a16="http://schemas.microsoft.com/office/drawing/2014/main" id="{44724538-EC65-416F-BEB9-595B05EC5941}"/>
              </a:ext>
            </a:extLst>
          </p:cNvPr>
          <p:cNvSpPr>
            <a:spLocks xmlns:a="http://schemas.openxmlformats.org/drawingml/2006/main" noGrp="1"/>
          </p:cNvSpPr>
          <p:nvPr/>
        </p:nvSpPr>
        <p:spPr>
          <a:xfrm xmlns:a="http://schemas.openxmlformats.org/drawingml/2006/main">
            <a:off x="342900" y="4656237"/>
            <a:ext cx="4152900"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0" name="Shape 8">
            <a:extLst xmlns:a="http://schemas.openxmlformats.org/drawingml/2006/main">
              <a:ext uri="{FF2B5EF4-FFF2-40B4-BE49-F238E27FC236}">
                <a16:creationId xmlns:a16="http://schemas.microsoft.com/office/drawing/2014/main" id="{E020FF57-C273-4C13-A670-3FB27A0CDB77}"/>
              </a:ext>
            </a:extLst>
          </p:cNvPr>
          <p:cNvSpPr>
            <a:spLocks xmlns:a="http://schemas.openxmlformats.org/drawingml/2006/main" noGrp="1"/>
          </p:cNvSpPr>
          <p:nvPr/>
        </p:nvSpPr>
        <p:spPr>
          <a:xfrm xmlns:a="http://schemas.openxmlformats.org/drawingml/2006/main">
            <a:off x="371475" y="850850"/>
            <a:ext cx="0" cy="3810149"/>
          </a:xfrm>
          <a:prstGeom xmlns:a="http://schemas.openxmlformats.org/drawingml/2006/main" prst="line">
            <a:avLst/>
          </a:prstGeom>
          <a:noFill xmlns:a="http://schemas.openxmlformats.org/drawingml/2006/main"/>
          <a:ln xmlns:a="http://schemas.openxmlformats.org/drawingml/2006/main" w="57150">
            <a:solidFill>
              <a:srgbClr val="1D9E91"/>
            </a:solidFill>
            <a:prstDash val="solid"/>
          </a:ln>
        </p:spPr>
      </p:sp>
      <p:sp>
        <p:nvSpPr>
          <p:cNvPr id="11" name="Text 9">
            <a:extLst xmlns:a="http://schemas.openxmlformats.org/drawingml/2006/main">
              <a:ext uri="{FF2B5EF4-FFF2-40B4-BE49-F238E27FC236}">
                <a16:creationId xmlns:a16="http://schemas.microsoft.com/office/drawing/2014/main" id="{EC88C10D-3412-44B6-9B31-B67C55B7237E}"/>
              </a:ext>
            </a:extLst>
          </p:cNvPr>
          <p:cNvSpPr>
            <a:spLocks xmlns:a="http://schemas.openxmlformats.org/drawingml/2006/main" noGrp="1"/>
          </p:cNvSpPr>
          <p:nvPr/>
        </p:nvSpPr>
        <p:spPr>
          <a:xfrm xmlns:a="http://schemas.openxmlformats.org/drawingml/2006/main">
            <a:off x="552450" y="1012775"/>
            <a:ext cx="3857054"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Potential benefits to establish</a:t>
            </a:r>
            <a:endParaRPr sz="1400"/>
          </a:p>
        </p:txBody>
      </p:sp>
      <p:sp>
        <p:nvSpPr>
          <p:cNvPr id="12" name="Text 10">
            <a:extLst xmlns:a="http://schemas.openxmlformats.org/drawingml/2006/main">
              <a:ext uri="{FF2B5EF4-FFF2-40B4-BE49-F238E27FC236}">
                <a16:creationId xmlns:a16="http://schemas.microsoft.com/office/drawing/2014/main" id="{DE0DD99B-6325-45EA-808E-C85A3E10A1E4}"/>
              </a:ext>
            </a:extLst>
          </p:cNvPr>
          <p:cNvSpPr>
            <a:spLocks xmlns:a="http://schemas.openxmlformats.org/drawingml/2006/main" noGrp="1"/>
          </p:cNvSpPr>
          <p:nvPr/>
        </p:nvSpPr>
        <p:spPr>
          <a:xfrm xmlns:a="http://schemas.openxmlformats.org/drawingml/2006/main">
            <a:off x="768251" y="1280666"/>
            <a:ext cx="3565624" cy="129257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Rendering or sensing beyond the CPU baseline.</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Parallel environments or dexterous tasks.</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Mimic/learning for a defined policy endpoint.</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Reproducible controllers and input contracts.</a:t>
            </a:r>
            <a:endParaRPr sz="1170"/>
          </a:p>
        </p:txBody>
      </p:sp>
      <p:sp>
        <p:nvSpPr>
          <p:cNvPr id="13" name="Text 11">
            <a:extLst xmlns:a="http://schemas.openxmlformats.org/drawingml/2006/main">
              <a:ext uri="{FF2B5EF4-FFF2-40B4-BE49-F238E27FC236}">
                <a16:creationId xmlns:a16="http://schemas.microsoft.com/office/drawing/2014/main" id="{494E46B9-879F-4C55-8B9B-ED25C093624C}"/>
              </a:ext>
            </a:extLst>
          </p:cNvPr>
          <p:cNvSpPr>
            <a:spLocks xmlns:a="http://schemas.openxmlformats.org/drawingml/2006/main" noGrp="1"/>
          </p:cNvSpPr>
          <p:nvPr/>
        </p:nvSpPr>
        <p:spPr>
          <a:xfrm xmlns:a="http://schemas.openxmlformats.org/drawingml/2006/main">
            <a:off x="4648200" y="850850"/>
            <a:ext cx="4152900" cy="3810149"/>
          </a:xfrm>
          <a:prstGeom xmlns:a="http://schemas.openxmlformats.org/drawingml/2006/main" prst="roundRect">
            <a:avLst>
              <a:gd name="adj" fmla="val 2667"/>
            </a:avLst>
          </a:prstGeom>
          <a:solidFill xmlns:a="http://schemas.openxmlformats.org/drawingml/2006/main">
            <a:srgbClr val="FFF8E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14" name="Shape 12">
            <a:extLst xmlns:a="http://schemas.openxmlformats.org/drawingml/2006/main">
              <a:ext uri="{FF2B5EF4-FFF2-40B4-BE49-F238E27FC236}">
                <a16:creationId xmlns:a16="http://schemas.microsoft.com/office/drawing/2014/main" id="{206B037B-1D01-4773-B2C9-5CE97DC4667A}"/>
              </a:ext>
            </a:extLst>
          </p:cNvPr>
          <p:cNvSpPr>
            <a:spLocks xmlns:a="http://schemas.openxmlformats.org/drawingml/2006/main" noGrp="1"/>
          </p:cNvSpPr>
          <p:nvPr/>
        </p:nvSpPr>
        <p:spPr>
          <a:xfrm xmlns:a="http://schemas.openxmlformats.org/drawingml/2006/main">
            <a:off x="4648200" y="855613"/>
            <a:ext cx="4152900"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5" name="Shape 13">
            <a:extLst xmlns:a="http://schemas.openxmlformats.org/drawingml/2006/main">
              <a:ext uri="{FF2B5EF4-FFF2-40B4-BE49-F238E27FC236}">
                <a16:creationId xmlns:a16="http://schemas.microsoft.com/office/drawing/2014/main" id="{372DA8D6-5988-4218-8CCA-9E86580EDBD4}"/>
              </a:ext>
            </a:extLst>
          </p:cNvPr>
          <p:cNvSpPr>
            <a:spLocks xmlns:a="http://schemas.openxmlformats.org/drawingml/2006/main" noGrp="1"/>
          </p:cNvSpPr>
          <p:nvPr/>
        </p:nvSpPr>
        <p:spPr>
          <a:xfrm xmlns:a="http://schemas.openxmlformats.org/drawingml/2006/main">
            <a:off x="8796338" y="850850"/>
            <a:ext cx="0" cy="3810149"/>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6" name="Shape 14">
            <a:extLst xmlns:a="http://schemas.openxmlformats.org/drawingml/2006/main">
              <a:ext uri="{FF2B5EF4-FFF2-40B4-BE49-F238E27FC236}">
                <a16:creationId xmlns:a16="http://schemas.microsoft.com/office/drawing/2014/main" id="{F4D80FF9-373A-47DC-971A-E03F23D3634C}"/>
              </a:ext>
            </a:extLst>
          </p:cNvPr>
          <p:cNvSpPr>
            <a:spLocks xmlns:a="http://schemas.openxmlformats.org/drawingml/2006/main" noGrp="1"/>
          </p:cNvSpPr>
          <p:nvPr/>
        </p:nvSpPr>
        <p:spPr>
          <a:xfrm xmlns:a="http://schemas.openxmlformats.org/drawingml/2006/main">
            <a:off x="4648200" y="4656237"/>
            <a:ext cx="4152900"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7" name="Shape 15">
            <a:extLst xmlns:a="http://schemas.openxmlformats.org/drawingml/2006/main">
              <a:ext uri="{FF2B5EF4-FFF2-40B4-BE49-F238E27FC236}">
                <a16:creationId xmlns:a16="http://schemas.microsoft.com/office/drawing/2014/main" id="{EB3CED6E-DE52-4189-8EFE-5B2ED743C8C8}"/>
              </a:ext>
            </a:extLst>
          </p:cNvPr>
          <p:cNvSpPr>
            <a:spLocks xmlns:a="http://schemas.openxmlformats.org/drawingml/2006/main" noGrp="1"/>
          </p:cNvSpPr>
          <p:nvPr/>
        </p:nvSpPr>
        <p:spPr>
          <a:xfrm xmlns:a="http://schemas.openxmlformats.org/drawingml/2006/main">
            <a:off x="4676775" y="850850"/>
            <a:ext cx="0" cy="3810149"/>
          </a:xfrm>
          <a:prstGeom xmlns:a="http://schemas.openxmlformats.org/drawingml/2006/main" prst="line">
            <a:avLst/>
          </a:prstGeom>
          <a:noFill xmlns:a="http://schemas.openxmlformats.org/drawingml/2006/main"/>
          <a:ln xmlns:a="http://schemas.openxmlformats.org/drawingml/2006/main" w="57150">
            <a:solidFill>
              <a:srgbClr val="E8A525"/>
            </a:solidFill>
            <a:prstDash val="solid"/>
          </a:ln>
        </p:spPr>
      </p:sp>
      <p:sp>
        <p:nvSpPr>
          <p:cNvPr id="18" name="Text 16">
            <a:extLst xmlns:a="http://schemas.openxmlformats.org/drawingml/2006/main">
              <a:ext uri="{FF2B5EF4-FFF2-40B4-BE49-F238E27FC236}">
                <a16:creationId xmlns:a16="http://schemas.microsoft.com/office/drawing/2014/main" id="{945D3246-6489-4E45-B902-6DF344C8E438}"/>
              </a:ext>
            </a:extLst>
          </p:cNvPr>
          <p:cNvSpPr>
            <a:spLocks xmlns:a="http://schemas.openxmlformats.org/drawingml/2006/main" noGrp="1"/>
          </p:cNvSpPr>
          <p:nvPr/>
        </p:nvSpPr>
        <p:spPr>
          <a:xfrm xmlns:a="http://schemas.openxmlformats.org/drawingml/2006/main">
            <a:off x="4857750" y="1012775"/>
            <a:ext cx="3857054"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Resource requirements and fallback</a:t>
            </a:r>
            <a:endParaRPr sz="1400"/>
          </a:p>
        </p:txBody>
      </p:sp>
      <p:sp>
        <p:nvSpPr>
          <p:cNvPr id="19" name="Text 17">
            <a:extLst xmlns:a="http://schemas.openxmlformats.org/drawingml/2006/main">
              <a:ext uri="{FF2B5EF4-FFF2-40B4-BE49-F238E27FC236}">
                <a16:creationId xmlns:a16="http://schemas.microsoft.com/office/drawing/2014/main" id="{FE6FE178-AC22-4141-A97D-560AE794D0BC}"/>
              </a:ext>
            </a:extLst>
          </p:cNvPr>
          <p:cNvSpPr>
            <a:spLocks xmlns:a="http://schemas.openxmlformats.org/drawingml/2006/main" noGrp="1"/>
          </p:cNvSpPr>
          <p:nvPr/>
        </p:nvSpPr>
        <p:spPr>
          <a:xfrm xmlns:a="http://schemas.openxmlformats.org/drawingml/2006/main">
            <a:off x="5073551" y="1280666"/>
            <a:ext cx="3565624" cy="105176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Pin compatible software, models, and drivers.</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Measure memory and runtime on a small input.</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Retain CPU replay for failure diagnosis.</a:t>
            </a:r>
            <a:endParaRPr sz="1170"/>
          </a:p>
        </p:txBody>
      </p:sp>
      <p:sp>
        <p:nvSpPr>
          <p:cNvPr id="20" name="Text 18">
            <a:extLst xmlns:a="http://schemas.openxmlformats.org/drawingml/2006/main">
              <a:ext uri="{FF2B5EF4-FFF2-40B4-BE49-F238E27FC236}">
                <a16:creationId xmlns:a16="http://schemas.microsoft.com/office/drawing/2014/main" id="{7D238F00-C7A0-4CDA-A23D-15A0F8C10F23}"/>
              </a:ext>
            </a:extLst>
          </p:cNvPr>
          <p:cNvSpPr>
            <a:spLocks xmlns:a="http://schemas.openxmlformats.org/drawingml/2006/main" noGrp="1"/>
          </p:cNvSpPr>
          <p:nvPr/>
        </p:nvSpPr>
        <p:spPr>
          <a:xfrm xmlns:a="http://schemas.openxmlformats.org/drawingml/2006/main">
            <a:off x="4857750" y="2383185"/>
            <a:ext cx="3857054" cy="2896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140"/>
              </a:lnSpc>
              <a:buNone/>
              <a:defRPr sz="950" b="1">
                <a:solidFill>
                  <a:srgbClr val="617286"/>
                </a:solidFill>
                <a:latin typeface="Arial"/>
                <a:ea typeface="Arial"/>
                <a:cs typeface="Arial"/>
              </a:defRPr>
            </a:pPr>
            <a:r>
              <a:rPr sz="950" b="1">
                <a:solidFill>
                  <a:srgbClr val="617286"/>
                </a:solidFill>
                <a:latin typeface="Arial"/>
                <a:ea typeface="Arial"/>
                <a:cs typeface="Arial"/>
              </a:rPr>
              <a:t>Neither reference currently requires GPU rental. New vision or cloud workflows require a separate feasibility pilot.</a:t>
            </a:r>
            <a:endParaRPr sz="950"/>
          </a:p>
        </p:txBody>
      </p:sp>
      <p:sp>
        <p:nvSpPr>
          <p:cNvPr id="21" name="Text 19">
            <a:extLst xmlns:a="http://schemas.openxmlformats.org/drawingml/2006/main">
              <a:ext uri="{FF2B5EF4-FFF2-40B4-BE49-F238E27FC236}">
                <a16:creationId xmlns:a16="http://schemas.microsoft.com/office/drawing/2014/main" id="{2AC4B58F-60F2-4F18-881A-F4B22D9B026E}"/>
              </a:ext>
            </a:extLst>
          </p:cNvPr>
          <p:cNvSpPr>
            <a:spLocks xmlns:a="http://schemas.openxmlformats.org/drawingml/2006/main" noGrp="1"/>
          </p:cNvSpPr>
          <p:nvPr/>
        </p:nvSpPr>
        <p:spPr>
          <a:xfrm xmlns:a="http://schemas.openxmlformats.org/drawingml/2006/main">
            <a:off x="8339328" y="4965192"/>
            <a:ext cx="502920"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60">
                <a:solidFill>
                  <a:srgbClr val="7A8794"/>
                </a:solidFill>
                <a:latin typeface="Arial"/>
                <a:ea typeface="Arial"/>
                <a:cs typeface="Arial"/>
              </a:rPr>
              <a:t>8 / 31</a:t>
            </a:r>
            <a:endParaRPr sz="660"/>
          </a:p>
        </p:txBody>
      </p:sp>
      <p:sp>
        <p:nvSpPr>
          <p:cNvPr id="22" name="Sources footer">
            <a:extLst xmlns:a="http://schemas.openxmlformats.org/drawingml/2006/main">
              <a:ext uri="{FF2B5EF4-FFF2-40B4-BE49-F238E27FC236}">
                <a16:creationId xmlns:a16="http://schemas.microsoft.com/office/drawing/2014/main" id="{CB002DDE-D189-4178-9F2D-FB5ED3D444D1}"/>
              </a:ext>
            </a:extLst>
          </p:cNvPr>
          <p:cNvSpPr>
            <a:spLocks xmlns:a="http://schemas.openxmlformats.org/drawingml/2006/main" noGrp="1"/>
          </p:cNvSpPr>
          <p:nvPr/>
        </p:nvSpPr>
        <p:spPr>
          <a:xfrm xmlns:a="http://schemas.openxmlformats.org/drawingml/2006/main">
            <a:off x="438150" y="4924425"/>
            <a:ext cx="72961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40" b="0">
                <a:solidFill>
                  <a:srgbClr val="234D78"/>
                </a:solidFill>
                <a:latin typeface="Arial"/>
                <a:ea typeface="Arial"/>
                <a:cs typeface="Arial"/>
              </a:defRPr>
            </a:pPr>
            <a:r>
              <a:rPr sz="640" b="0">
                <a:solidFill>
                  <a:srgbClr val="234D78"/>
                </a:solidFill>
                <a:latin typeface="Arial"/>
                <a:ea typeface="Arial"/>
                <a:cs typeface="Arial"/>
                <a:hlinkClick xmlns:r="http://schemas.openxmlformats.org/officeDocument/2006/relationships" r:id="R303d978dfcaf449f"/>
              </a:rPr>
              <a:t>Reader guide and sources</a:t>
            </a:r>
          </a:p>
        </p:txBody>
      </p:sp>
    </p:spTree>
    <p:extLst>
      <p:ext uri="{BB962C8B-B14F-4D97-AF65-F5344CB8AC3E}">
        <p14:creationId xmlns:p14="http://schemas.microsoft.com/office/powerpoint/2010/main" val="147169372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E8E2EFD-FB5C-417E-9F7F-1B964A0B16C0}"/>
              </a:ext>
            </a:extLst>
          </p:cNvPr>
          <p:cNvSpPr>
            <a:spLocks xmlns:a="http://schemas.openxmlformats.org/drawingml/2006/main" noGrp="1"/>
          </p:cNvSpPr>
          <p:nvPr/>
        </p:nvSpPr>
        <p:spPr>
          <a:xfrm xmlns:a="http://schemas.openxmlformats.org/drawingml/2006/main">
            <a:off x="0" y="0"/>
            <a:ext cx="9144000" cy="609600"/>
          </a:xfrm>
          <a:prstGeom xmlns:a="http://schemas.openxmlformats.org/drawingml/2006/main" prst="rect">
            <a:avLst/>
          </a:prstGeom>
          <a:solidFill xmlns:a="http://schemas.openxmlformats.org/drawingml/2006/main">
            <a:srgbClr val="234D7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3" name="Text 1">
            <a:extLst xmlns:a="http://schemas.openxmlformats.org/drawingml/2006/main">
              <a:ext uri="{FF2B5EF4-FFF2-40B4-BE49-F238E27FC236}">
                <a16:creationId xmlns:a16="http://schemas.microsoft.com/office/drawing/2014/main" id="{95F147A5-89D3-472D-A532-9978CD2D792D}"/>
              </a:ext>
            </a:extLst>
          </p:cNvPr>
          <p:cNvSpPr>
            <a:spLocks xmlns:a="http://schemas.openxmlformats.org/drawingml/2006/main" noGrp="1"/>
          </p:cNvSpPr>
          <p:nvPr/>
        </p:nvSpPr>
        <p:spPr>
          <a:xfrm xmlns:a="http://schemas.openxmlformats.org/drawingml/2006/main">
            <a:off x="330136" y="164116"/>
            <a:ext cx="6619875" cy="3238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2415"/>
              </a:lnSpc>
              <a:buNone/>
              <a:defRPr sz="2300" b="1">
                <a:solidFill>
                  <a:srgbClr val="FFFFFF"/>
                </a:solidFill>
                <a:latin typeface="Arial"/>
                <a:ea typeface="Arial"/>
                <a:cs typeface="Arial"/>
              </a:defRPr>
            </a:pPr>
            <a:r>
              <a:rPr sz="2300" b="1">
                <a:solidFill>
                  <a:srgbClr val="FFFFFF"/>
                </a:solidFill>
                <a:latin typeface="Arial"/>
                <a:ea typeface="Arial"/>
                <a:cs typeface="Arial"/>
              </a:rPr>
              <a:t>Evidence-based expansion of the reference</a:t>
            </a:r>
            <a:endParaRPr sz="2300"/>
          </a:p>
        </p:txBody>
      </p:sp>
      <p:sp>
        <p:nvSpPr>
          <p:cNvPr id="4" name="Text 2">
            <a:extLst xmlns:a="http://schemas.openxmlformats.org/drawingml/2006/main">
              <a:ext uri="{FF2B5EF4-FFF2-40B4-BE49-F238E27FC236}">
                <a16:creationId xmlns:a16="http://schemas.microsoft.com/office/drawing/2014/main" id="{2F02C755-7B89-4225-A169-BEA4975EA234}"/>
              </a:ext>
            </a:extLst>
          </p:cNvPr>
          <p:cNvSpPr>
            <a:spLocks xmlns:a="http://schemas.openxmlformats.org/drawingml/2006/main" noGrp="1"/>
          </p:cNvSpPr>
          <p:nvPr/>
        </p:nvSpPr>
        <p:spPr>
          <a:xfrm xmlns:a="http://schemas.openxmlformats.org/drawingml/2006/main">
            <a:off x="7372350" y="190500"/>
            <a:ext cx="14478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r">
              <a:lnSpc>
                <a:spcPts val="1054"/>
              </a:lnSpc>
              <a:buNone/>
              <a:defRPr sz="788" b="1">
                <a:solidFill>
                  <a:srgbClr val="FFFFFF"/>
                </a:solidFill>
                <a:latin typeface="Arial"/>
                <a:ea typeface="Arial"/>
                <a:cs typeface="Arial"/>
              </a:defRPr>
            </a:pPr>
            <a:r>
              <a:rPr sz="788" b="1">
                <a:solidFill>
                  <a:srgbClr val="FFFFFF"/>
                </a:solidFill>
                <a:latin typeface="Arial"/>
                <a:ea typeface="Arial"/>
                <a:cs typeface="Arial"/>
              </a:rPr>
              <a:t>CS CAPSTONE REFERENCE</a:t>
            </a:r>
            <a:endParaRPr sz="850"/>
          </a:p>
        </p:txBody>
      </p:sp>
      <p:sp>
        <p:nvSpPr>
          <p:cNvPr id="5" name="Text 3">
            <a:extLst xmlns:a="http://schemas.openxmlformats.org/drawingml/2006/main">
              <a:ext uri="{FF2B5EF4-FFF2-40B4-BE49-F238E27FC236}">
                <a16:creationId xmlns:a16="http://schemas.microsoft.com/office/drawing/2014/main" id="{2DAB2F1B-93A3-4854-AD93-2D7F05651AC8}"/>
              </a:ext>
            </a:extLst>
          </p:cNvPr>
          <p:cNvSpPr>
            <a:spLocks xmlns:a="http://schemas.openxmlformats.org/drawingml/2006/main" noGrp="1"/>
          </p:cNvSpPr>
          <p:nvPr/>
        </p:nvSpPr>
        <p:spPr>
          <a:xfrm xmlns:a="http://schemas.openxmlformats.org/drawingml/2006/main">
            <a:off x="330101" y="609600"/>
            <a:ext cx="787301" cy="38100"/>
          </a:xfrm>
          <a:prstGeom xmlns:a="http://schemas.openxmlformats.org/drawingml/2006/main" prst="rect">
            <a:avLst/>
          </a:prstGeom>
          <a:solidFill xmlns:a="http://schemas.openxmlformats.org/drawingml/2006/main">
            <a:srgbClr val="D63B4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43" name="Text 41">
            <a:extLst xmlns:a="http://schemas.openxmlformats.org/drawingml/2006/main">
              <a:ext uri="{FF2B5EF4-FFF2-40B4-BE49-F238E27FC236}">
                <a16:creationId xmlns:a16="http://schemas.microsoft.com/office/drawing/2014/main" id="{4DECA5D8-332D-40AB-AA83-D1963F5A2A88}"/>
              </a:ext>
            </a:extLst>
          </p:cNvPr>
          <p:cNvSpPr>
            <a:spLocks xmlns:a="http://schemas.openxmlformats.org/drawingml/2006/main" noGrp="1"/>
          </p:cNvSpPr>
          <p:nvPr/>
        </p:nvSpPr>
        <p:spPr>
          <a:xfrm xmlns:a="http://schemas.openxmlformats.org/drawingml/2006/main">
            <a:off x="8339328" y="4965192"/>
            <a:ext cx="502920"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60">
                <a:solidFill>
                  <a:srgbClr val="7A8794"/>
                </a:solidFill>
                <a:latin typeface="Arial"/>
                <a:ea typeface="Arial"/>
                <a:cs typeface="Arial"/>
              </a:rPr>
              <a:t>9 / 31</a:t>
            </a:r>
            <a:endParaRPr sz="660"/>
          </a:p>
        </p:txBody>
      </p:sp>
      <p:graphicFrame>
        <p:nvGraphicFramePr>
          <p:cNvPr id="52" name=""/>
          <p:cNvGraphicFramePr/>
          <p:nvPr/>
        </p:nvGraphicFramePr>
        <p:xfrm>
          <a:off xmlns:a="http://schemas.openxmlformats.org/drawingml/2006/main" x="342900" y="1000125"/>
          <a:ext xmlns:a="http://schemas.openxmlformats.org/drawingml/2006/main" cx="8458200" cy="2571750"/>
        </p:xfrm>
        <a:graphic xmlns:a="http://schemas.openxmlformats.org/drawingml/2006/main">
          <a:graphicData uri="http://schemas.openxmlformats.org/drawingml/2006/table">
            <a:tbl>
              <a:tblPr firstRow="1" bandRow="0"/>
              <a:tblGrid>
                <a:gridCol w="1428750"/>
                <a:gridCol w="1714500"/>
                <a:gridCol w="2857500"/>
                <a:gridCol w="2457450"/>
              </a:tblGrid>
              <a:tr h="642938">
                <a:tc>
                  <a:txBody>
                    <a:bodyPr wrap="square">
                      <a:noAutofit/>
                    </a:bodyPr>
                    <a:lstStyle/>
                    <a:p>
                      <a:r>
                        <a:rPr sz="1125" b="1">
                          <a:solidFill>
                            <a:srgbClr val="FFFFFF"/>
                          </a:solidFill>
                          <a:latin typeface="Arial"/>
                          <a:ea typeface="Arial"/>
                          <a:cs typeface="Arial"/>
                        </a:rPr>
                        <a:t>Stage</a:t>
                      </a:r>
                    </a:p>
                  </a:txBody>
                  <a:tcPr marL="91440" marR="91440" marT="45720" marB="45720" anchor="ctr">
                    <a:solidFill>
                      <a:srgbClr val="234D78"/>
                    </a:solidFill>
                  </a:tcPr>
                </a:tc>
                <a:tc>
                  <a:txBody>
                    <a:bodyPr wrap="square">
                      <a:noAutofit/>
                    </a:bodyPr>
                    <a:lstStyle/>
                    <a:p>
                      <a:r>
                        <a:rPr sz="1125" b="1">
                          <a:solidFill>
                            <a:srgbClr val="FFFFFF"/>
                          </a:solidFill>
                          <a:latin typeface="Arial"/>
                          <a:ea typeface="Arial"/>
                          <a:cs typeface="Arial"/>
                        </a:rPr>
                        <a:t>Experimental basis</a:t>
                      </a:r>
                    </a:p>
                  </a:txBody>
                  <a:tcPr marL="91440" marR="91440" marT="45720" marB="45720" anchor="ctr">
                    <a:solidFill>
                      <a:srgbClr val="234D78"/>
                    </a:solidFill>
                  </a:tcPr>
                </a:tc>
                <a:tc>
                  <a:txBody>
                    <a:bodyPr wrap="square">
                      <a:noAutofit/>
                    </a:bodyPr>
                    <a:lstStyle/>
                    <a:p>
                      <a:r>
                        <a:rPr sz="1125" b="1">
                          <a:solidFill>
                            <a:srgbClr val="FFFFFF"/>
                          </a:solidFill>
                          <a:latin typeface="Arial"/>
                          <a:ea typeface="Arial"/>
                          <a:cs typeface="Arial"/>
                        </a:rPr>
                        <a:t>Required evidence</a:t>
                      </a:r>
                    </a:p>
                  </a:txBody>
                  <a:tcPr marL="91440" marR="91440" marT="45720" marB="45720" anchor="ctr">
                    <a:solidFill>
                      <a:srgbClr val="234D78"/>
                    </a:solidFill>
                  </a:tcPr>
                </a:tc>
                <a:tc>
                  <a:txBody>
                    <a:bodyPr wrap="square">
                      <a:noAutofit/>
                    </a:bodyPr>
                    <a:lstStyle/>
                    <a:p>
                      <a:r>
                        <a:rPr sz="1125" b="1">
                          <a:solidFill>
                            <a:srgbClr val="FFFFFF"/>
                          </a:solidFill>
                          <a:latin typeface="Arial"/>
                          <a:ea typeface="Arial"/>
                          <a:cs typeface="Arial"/>
                        </a:rPr>
                        <a:t>Current status</a:t>
                      </a:r>
                    </a:p>
                  </a:txBody>
                  <a:tcPr marL="91440" marR="91440" marT="45720" marB="45720" anchor="ctr">
                    <a:solidFill>
                      <a:srgbClr val="234D78"/>
                    </a:solidFill>
                  </a:tcPr>
                </a:tc>
              </a:tr>
              <a:tr h="642938">
                <a:tc>
                  <a:txBody>
                    <a:bodyPr wrap="square">
                      <a:noAutofit/>
                    </a:bodyPr>
                    <a:lstStyle/>
                    <a:p>
                      <a:r>
                        <a:rPr sz="1140" b="1">
                          <a:solidFill>
                            <a:srgbClr val="12263A"/>
                          </a:solidFill>
                          <a:latin typeface="Arial"/>
                          <a:ea typeface="Arial"/>
                          <a:cs typeface="Arial"/>
                        </a:rPr>
                        <a:t>P0 · Clean</a:t>
                      </a:r>
                    </a:p>
                  </a:txBody>
                  <a:tcPr marL="91440" marR="91440" marT="45720" marB="45720" anchor="ctr">
                    <a:solidFill>
                      <a:srgbClr val="FFFFFF"/>
                    </a:solidFill>
                  </a:tcPr>
                </a:tc>
                <a:tc>
                  <a:txBody>
                    <a:bodyPr wrap="square">
                      <a:noAutofit/>
                    </a:bodyPr>
                    <a:lstStyle/>
                    <a:p>
                      <a:r>
                        <a:rPr sz="1140" b="0">
                          <a:solidFill>
                            <a:srgbClr val="12263A"/>
                          </a:solidFill>
                          <a:latin typeface="Arial"/>
                          <a:ea typeface="Arial"/>
                          <a:cs typeface="Arial"/>
                        </a:rPr>
                        <a:t>MuJoCo on CPU</a:t>
                      </a:r>
                    </a:p>
                  </a:txBody>
                  <a:tcPr marL="91440" marR="91440" marT="45720" marB="45720" anchor="ctr">
                    <a:solidFill>
                      <a:srgbClr val="FFFFFF"/>
                    </a:solidFill>
                  </a:tcPr>
                </a:tc>
                <a:tc>
                  <a:txBody>
                    <a:bodyPr wrap="square">
                      <a:noAutofit/>
                    </a:bodyPr>
                    <a:lstStyle/>
                    <a:p>
                      <a:r>
                        <a:rPr sz="1140" b="0">
                          <a:solidFill>
                            <a:srgbClr val="12263A"/>
                          </a:solidFill>
                          <a:latin typeface="Arial"/>
                          <a:ea typeface="Arial"/>
                          <a:cs typeface="Arial"/>
                        </a:rPr>
                        <a:t>Grasp, transport, release, and logs</a:t>
                      </a:r>
                    </a:p>
                  </a:txBody>
                  <a:tcPr marL="91440" marR="91440" marT="45720" marB="45720" anchor="ctr">
                    <a:solidFill>
                      <a:srgbClr val="FFFFFF"/>
                    </a:solidFill>
                  </a:tcPr>
                </a:tc>
                <a:tc>
                  <a:txBody>
                    <a:bodyPr wrap="square">
                      <a:noAutofit/>
                    </a:bodyPr>
                    <a:lstStyle/>
                    <a:p>
                      <a:r>
                        <a:rPr sz="1140" b="0">
                          <a:solidFill>
                            <a:srgbClr val="12263A"/>
                          </a:solidFill>
                          <a:latin typeface="Arial"/>
                          <a:ea typeface="Arial"/>
                          <a:cs typeface="Arial"/>
                        </a:rPr>
                        <a:t>Measured: cube / 1 demo</a:t>
                      </a:r>
                    </a:p>
                  </a:txBody>
                  <a:tcPr marL="91440" marR="91440" marT="45720" marB="45720" anchor="ctr">
                    <a:solidFill>
                      <a:srgbClr val="FFFFFF"/>
                    </a:solidFill>
                  </a:tcPr>
                </a:tc>
              </a:tr>
              <a:tr h="642938">
                <a:tc>
                  <a:txBody>
                    <a:bodyPr wrap="square">
                      <a:noAutofit/>
                    </a:bodyPr>
                    <a:lstStyle/>
                    <a:p>
                      <a:r>
                        <a:rPr sz="1140" b="1">
                          <a:solidFill>
                            <a:srgbClr val="12263A"/>
                          </a:solidFill>
                          <a:latin typeface="Arial"/>
                          <a:ea typeface="Arial"/>
                          <a:cs typeface="Arial"/>
                        </a:rPr>
                        <a:t>P1 · Noisy</a:t>
                      </a:r>
                    </a:p>
                  </a:txBody>
                  <a:tcPr marL="91440" marR="91440" marT="45720" marB="45720" anchor="ctr">
                    <a:solidFill>
                      <a:srgbClr val="F7F9FC"/>
                    </a:solidFill>
                  </a:tcPr>
                </a:tc>
                <a:tc>
                  <a:txBody>
                    <a:bodyPr wrap="square">
                      <a:noAutofit/>
                    </a:bodyPr>
                    <a:lstStyle/>
                    <a:p>
                      <a:r>
                        <a:rPr sz="1140" b="0">
                          <a:solidFill>
                            <a:srgbClr val="12263A"/>
                          </a:solidFill>
                          <a:latin typeface="Arial"/>
                          <a:ea typeface="Arial"/>
                          <a:cs typeface="Arial"/>
                        </a:rPr>
                        <a:t>State noise + calibrated video</a:t>
                      </a:r>
                    </a:p>
                  </a:txBody>
                  <a:tcPr marL="91440" marR="91440" marT="45720" marB="45720" anchor="ctr">
                    <a:solidFill>
                      <a:srgbClr val="F7F9FC"/>
                    </a:solidFill>
                  </a:tcPr>
                </a:tc>
                <a:tc>
                  <a:txBody>
                    <a:bodyPr wrap="square">
                      <a:noAutofit/>
                    </a:bodyPr>
                    <a:lstStyle/>
                    <a:p>
                      <a:r>
                        <a:rPr sz="1140" b="0">
                          <a:solidFill>
                            <a:srgbClr val="12263A"/>
                          </a:solidFill>
                          <a:latin typeface="Arial"/>
                          <a:ea typeface="Arial"/>
                          <a:cs typeface="Arial"/>
                        </a:rPr>
                        <a:t>Noisy inputs affect plan and success</a:t>
                      </a:r>
                    </a:p>
                  </a:txBody>
                  <a:tcPr marL="91440" marR="91440" marT="45720" marB="45720" anchor="ctr">
                    <a:solidFill>
                      <a:srgbClr val="F7F9FC"/>
                    </a:solidFill>
                  </a:tcPr>
                </a:tc>
                <a:tc>
                  <a:txBody>
                    <a:bodyPr wrap="square">
                      <a:noAutofit/>
                    </a:bodyPr>
                    <a:lstStyle/>
                    <a:p>
                      <a:r>
                        <a:rPr sz="1140" b="0">
                          <a:solidFill>
                            <a:srgbClr val="12263A"/>
                          </a:solidFill>
                          <a:latin typeface="Arial"/>
                          <a:ea typeface="Arial"/>
                          <a:cs typeface="Arial"/>
                        </a:rPr>
                        <a:t>Integration proposed</a:t>
                      </a:r>
                    </a:p>
                  </a:txBody>
                  <a:tcPr marL="91440" marR="91440" marT="45720" marB="45720" anchor="ctr">
                    <a:solidFill>
                      <a:srgbClr val="F7F9FC"/>
                    </a:solidFill>
                  </a:tcPr>
                </a:tc>
              </a:tr>
              <a:tr h="642938">
                <a:tc>
                  <a:txBody>
                    <a:bodyPr wrap="square">
                      <a:noAutofit/>
                    </a:bodyPr>
                    <a:lstStyle/>
                    <a:p>
                      <a:r>
                        <a:rPr sz="1140" b="1">
                          <a:solidFill>
                            <a:srgbClr val="12263A"/>
                          </a:solidFill>
                          <a:latin typeface="Arial"/>
                          <a:ea typeface="Arial"/>
                          <a:cs typeface="Arial"/>
                        </a:rPr>
                        <a:t>P2 · Learning</a:t>
                      </a:r>
                    </a:p>
                  </a:txBody>
                  <a:tcPr marL="91440" marR="91440" marT="45720" marB="45720" anchor="ctr">
                    <a:solidFill>
                      <a:srgbClr val="FFFFFF"/>
                    </a:solidFill>
                  </a:tcPr>
                </a:tc>
                <a:tc>
                  <a:txBody>
                    <a:bodyPr wrap="square">
                      <a:noAutofit/>
                    </a:bodyPr>
                    <a:lstStyle/>
                    <a:p>
                      <a:r>
                        <a:rPr sz="1140" b="0">
                          <a:solidFill>
                            <a:srgbClr val="12263A"/>
                          </a:solidFill>
                          <a:latin typeface="Arial"/>
                          <a:ea typeface="Arial"/>
                          <a:cs typeface="Arial"/>
                        </a:rPr>
                        <a:t>ACT / Diffusion / Isaac as needed</a:t>
                      </a:r>
                    </a:p>
                  </a:txBody>
                  <a:tcPr marL="91440" marR="91440" marT="45720" marB="45720" anchor="ctr">
                    <a:solidFill>
                      <a:srgbClr val="FFFFFF"/>
                    </a:solidFill>
                  </a:tcPr>
                </a:tc>
                <a:tc>
                  <a:txBody>
                    <a:bodyPr wrap="square">
                      <a:noAutofit/>
                    </a:bodyPr>
                    <a:lstStyle/>
                    <a:p>
                      <a:r>
                        <a:rPr sz="1140" b="0">
                          <a:solidFill>
                            <a:srgbClr val="12263A"/>
                          </a:solidFill>
                          <a:latin typeface="Arial"/>
                          <a:ea typeface="Arial"/>
                          <a:cs typeface="Arial"/>
                        </a:rPr>
                        <a:t>Defined endpoint and usable data</a:t>
                      </a:r>
                    </a:p>
                  </a:txBody>
                  <a:tcPr marL="91440" marR="91440" marT="45720" marB="45720" anchor="ctr">
                    <a:solidFill>
                      <a:srgbClr val="FFFFFF"/>
                    </a:solidFill>
                  </a:tcPr>
                </a:tc>
                <a:tc>
                  <a:txBody>
                    <a:bodyPr wrap="square">
                      <a:noAutofit/>
                    </a:bodyPr>
                    <a:lstStyle/>
                    <a:p>
                      <a:r>
                        <a:rPr sz="1140" b="0">
                          <a:solidFill>
                            <a:srgbClr val="12263A"/>
                          </a:solidFill>
                          <a:latin typeface="Arial"/>
                          <a:ea typeface="Arial"/>
                          <a:cs typeface="Arial"/>
                        </a:rPr>
                        <a:t>Optional future stage</a:t>
                      </a:r>
                    </a:p>
                  </a:txBody>
                  <a:tcPr marL="91440" marR="91440" marT="45720" marB="45720" anchor="ctr">
                    <a:solidFill>
                      <a:srgbClr val="FFFFFF"/>
                    </a:solidFill>
                  </a:tcPr>
                </a:tc>
              </a:tr>
            </a:tbl>
          </a:graphicData>
        </a:graphic>
      </p:graphicFrame>
      <p:sp>
        <p:nvSpPr>
          <p:cNvPr id="45" name="Table caveat">
            <a:extLst xmlns:a="http://schemas.openxmlformats.org/drawingml/2006/main">
              <a:ext uri="{FF2B5EF4-FFF2-40B4-BE49-F238E27FC236}">
                <a16:creationId xmlns:a16="http://schemas.microsoft.com/office/drawing/2014/main" id="{50C61BEA-AB76-438C-8C02-95BD0E6DA769}"/>
              </a:ext>
            </a:extLst>
          </p:cNvPr>
          <p:cNvSpPr>
            <a:spLocks xmlns:a="http://schemas.openxmlformats.org/drawingml/2006/main" noGrp="1"/>
          </p:cNvSpPr>
          <p:nvPr/>
        </p:nvSpPr>
        <p:spPr>
          <a:xfrm xmlns:a="http://schemas.openxmlformats.org/drawingml/2006/main">
            <a:off x="400050" y="3829050"/>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12263A"/>
                </a:solidFill>
                <a:latin typeface="Arial"/>
                <a:ea typeface="Arial"/>
                <a:cs typeface="Arial"/>
              </a:defRPr>
            </a:pPr>
            <a:r>
              <a:rPr sz="1140" b="1">
                <a:solidFill>
                  <a:srgbClr val="12263A"/>
                </a:solidFill>
                <a:latin typeface="Arial"/>
                <a:ea typeface="Arial"/>
                <a:cs typeface="Arial"/>
              </a:rPr>
              <a:t>P0 is available. P1 requires physics integration. P2 depends on a learning or scale endpoint.</a:t>
            </a:r>
          </a:p>
        </p:txBody>
      </p:sp>
      <p:sp>
        <p:nvSpPr>
          <p:cNvPr id="46" name="Sources footer">
            <a:extLst xmlns:a="http://schemas.openxmlformats.org/drawingml/2006/main">
              <a:ext uri="{FF2B5EF4-FFF2-40B4-BE49-F238E27FC236}">
                <a16:creationId xmlns:a16="http://schemas.microsoft.com/office/drawing/2014/main" id="{0CC97018-88BE-4643-8BDF-D015A8F808F5}"/>
              </a:ext>
            </a:extLst>
          </p:cNvPr>
          <p:cNvSpPr>
            <a:spLocks xmlns:a="http://schemas.openxmlformats.org/drawingml/2006/main" noGrp="1"/>
          </p:cNvSpPr>
          <p:nvPr/>
        </p:nvSpPr>
        <p:spPr>
          <a:xfrm xmlns:a="http://schemas.openxmlformats.org/drawingml/2006/main">
            <a:off x="438150" y="4924425"/>
            <a:ext cx="72961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40" b="0">
                <a:solidFill>
                  <a:srgbClr val="234D78"/>
                </a:solidFill>
                <a:latin typeface="Arial"/>
                <a:ea typeface="Arial"/>
                <a:cs typeface="Arial"/>
              </a:defRPr>
            </a:pPr>
            <a:r>
              <a:rPr sz="640" b="0">
                <a:solidFill>
                  <a:srgbClr val="234D78"/>
                </a:solidFill>
                <a:latin typeface="Arial"/>
                <a:ea typeface="Arial"/>
                <a:cs typeface="Arial"/>
                <a:hlinkClick xmlns:r="http://schemas.openxmlformats.org/officeDocument/2006/relationships" r:id="Rb0fdc3e31fa94593"/>
              </a:rPr>
              <a:t>Reader guide and sources</a:t>
            </a:r>
          </a:p>
        </p:txBody>
      </p:sp>
    </p:spTree>
    <p:extLst>
      <p:ext uri="{BB962C8B-B14F-4D97-AF65-F5344CB8AC3E}">
        <p14:creationId xmlns:p14="http://schemas.microsoft.com/office/powerpoint/2010/main" val="1144190862"/>
      </p:ext>
    </p:extLst>
  </p:cSld>
</p:sld>
</file>

<file path=ppt/slides/slide10.xml><?xml version="1.0" encoding="utf-8"?>
<p:sld xmlns:p="http://schemas.openxmlformats.org/presentationml/2006/main">
  <p:cSld>
    <p:bg>
      <p:bgPr>
        <a:solidFill xmlns:a="http://schemas.openxmlformats.org/drawingml/2006/main">
          <a:srgbClr val="16344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566AB7B-BA93-4AAA-8B4C-633F25FC5809}"/>
              </a:ext>
            </a:extLst>
          </p:cNvPr>
          <p:cNvSpPr>
            <a:spLocks xmlns:a="http://schemas.openxmlformats.org/drawingml/2006/main" noGrp="1"/>
          </p:cNvSpPr>
          <p:nvPr/>
        </p:nvSpPr>
        <p:spPr>
          <a:xfrm xmlns:a="http://schemas.openxmlformats.org/drawingml/2006/main">
            <a:off x="634901" y="1983730"/>
            <a:ext cx="8031682" cy="2361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60"/>
              </a:lnSpc>
              <a:buNone/>
              <a:defRPr sz="1500" b="1">
                <a:solidFill>
                  <a:srgbClr val="62C7D6"/>
                </a:solidFill>
                <a:latin typeface="Arial"/>
                <a:ea typeface="Arial"/>
                <a:cs typeface="Arial"/>
              </a:defRPr>
            </a:pPr>
            <a:r>
              <a:rPr sz="1500" b="1">
                <a:solidFill>
                  <a:srgbClr val="62C7D6"/>
                </a:solidFill>
                <a:latin typeface="Arial"/>
                <a:ea typeface="Arial"/>
                <a:cs typeface="Arial"/>
              </a:rPr>
              <a:t>SECTION 02</a:t>
            </a:r>
            <a:endParaRPr sz="1500"/>
          </a:p>
        </p:txBody>
      </p:sp>
      <p:sp>
        <p:nvSpPr>
          <p:cNvPr id="3" name="Text 1">
            <a:extLst xmlns:a="http://schemas.openxmlformats.org/drawingml/2006/main">
              <a:ext uri="{FF2B5EF4-FFF2-40B4-BE49-F238E27FC236}">
                <a16:creationId xmlns:a16="http://schemas.microsoft.com/office/drawing/2014/main" id="{2CB6AFB9-CCCD-4E42-B53F-278A16B312AE}"/>
              </a:ext>
            </a:extLst>
          </p:cNvPr>
          <p:cNvSpPr>
            <a:spLocks xmlns:a="http://schemas.openxmlformats.org/drawingml/2006/main" noGrp="1"/>
          </p:cNvSpPr>
          <p:nvPr/>
        </p:nvSpPr>
        <p:spPr>
          <a:xfrm xmlns:a="http://schemas.openxmlformats.org/drawingml/2006/main">
            <a:off x="634901" y="2334220"/>
            <a:ext cx="8031682" cy="474911"/>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3740"/>
              </a:lnSpc>
              <a:buNone/>
              <a:defRPr sz="3400" b="1">
                <a:solidFill>
                  <a:srgbClr val="FFFFFF"/>
                </a:solidFill>
                <a:latin typeface="Arial"/>
                <a:ea typeface="Arial"/>
                <a:cs typeface="Arial"/>
              </a:defRPr>
            </a:pPr>
            <a:r>
              <a:rPr sz="3400" b="1">
                <a:solidFill>
                  <a:srgbClr val="FFFFFF"/>
                </a:solidFill>
                <a:latin typeface="Arial"/>
                <a:ea typeface="Arial"/>
                <a:cs typeface="Arial"/>
              </a:rPr>
              <a:t>Literature and research gap</a:t>
            </a:r>
            <a:endParaRPr sz="3400"/>
          </a:p>
        </p:txBody>
      </p:sp>
      <p:sp>
        <p:nvSpPr>
          <p:cNvPr id="4" name="Text 2">
            <a:extLst xmlns:a="http://schemas.openxmlformats.org/drawingml/2006/main">
              <a:ext uri="{FF2B5EF4-FFF2-40B4-BE49-F238E27FC236}">
                <a16:creationId xmlns:a16="http://schemas.microsoft.com/office/drawing/2014/main" id="{9F964936-8AFB-447E-A004-AE302A17009F}"/>
              </a:ext>
            </a:extLst>
          </p:cNvPr>
          <p:cNvSpPr>
            <a:spLocks xmlns:a="http://schemas.openxmlformats.org/drawingml/2006/main" noGrp="1"/>
          </p:cNvSpPr>
          <p:nvPr/>
        </p:nvSpPr>
        <p:spPr>
          <a:xfrm xmlns:a="http://schemas.openxmlformats.org/drawingml/2006/main">
            <a:off x="634937" y="2923413"/>
            <a:ext cx="8031671" cy="619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60"/>
              </a:lnSpc>
              <a:buNone/>
              <a:defRPr sz="1500" b="0">
                <a:solidFill>
                  <a:srgbClr val="DDE8F2"/>
                </a:solidFill>
                <a:latin typeface="Arial"/>
                <a:ea typeface="Arial"/>
                <a:cs typeface="Arial"/>
              </a:defRPr>
            </a:pPr>
            <a:r>
              <a:rPr sz="1500" b="0">
                <a:solidFill>
                  <a:srgbClr val="DDE8F2"/>
                </a:solidFill>
                <a:latin typeface="Arial"/>
                <a:ea typeface="Arial"/>
                <a:cs typeface="Arial"/>
              </a:rPr>
              <a:t>Individual components have precedents. A contribution requires a specific protocol and empirical evidence.</a:t>
            </a:r>
            <a:endParaRPr sz="1500"/>
          </a:p>
        </p:txBody>
      </p:sp>
      <p:sp>
        <p:nvSpPr>
          <p:cNvPr id="5" name="Text 3">
            <a:extLst xmlns:a="http://schemas.openxmlformats.org/drawingml/2006/main">
              <a:ext uri="{FF2B5EF4-FFF2-40B4-BE49-F238E27FC236}">
                <a16:creationId xmlns:a16="http://schemas.microsoft.com/office/drawing/2014/main" id="{2E8351B1-6462-49C3-9A27-72654FA98768}"/>
              </a:ext>
            </a:extLst>
          </p:cNvPr>
          <p:cNvSpPr>
            <a:spLocks xmlns:a="http://schemas.openxmlformats.org/drawingml/2006/main" noGrp="1"/>
          </p:cNvSpPr>
          <p:nvPr/>
        </p:nvSpPr>
        <p:spPr>
          <a:xfrm xmlns:a="http://schemas.openxmlformats.org/drawingml/2006/main">
            <a:off x="8339328" y="4965192"/>
            <a:ext cx="502920"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60">
                <a:solidFill>
                  <a:srgbClr val="7A8794"/>
                </a:solidFill>
                <a:latin typeface="Arial"/>
                <a:ea typeface="Arial"/>
                <a:cs typeface="Arial"/>
              </a:rPr>
              <a:t>10 / 31</a:t>
            </a:r>
            <a:endParaRPr sz="660"/>
          </a:p>
        </p:txBody>
      </p:sp>
      <p:sp>
        <p:nvSpPr>
          <p:cNvPr id="6" name="Sources footer">
            <a:extLst xmlns:a="http://schemas.openxmlformats.org/drawingml/2006/main">
              <a:ext uri="{FF2B5EF4-FFF2-40B4-BE49-F238E27FC236}">
                <a16:creationId xmlns:a16="http://schemas.microsoft.com/office/drawing/2014/main" id="{D07F54FA-543A-413D-9209-E61F4112FF8B}"/>
              </a:ext>
            </a:extLst>
          </p:cNvPr>
          <p:cNvSpPr>
            <a:spLocks xmlns:a="http://schemas.openxmlformats.org/drawingml/2006/main" noGrp="1"/>
          </p:cNvSpPr>
          <p:nvPr/>
        </p:nvSpPr>
        <p:spPr>
          <a:xfrm xmlns:a="http://schemas.openxmlformats.org/drawingml/2006/main">
            <a:off x="438150" y="4924425"/>
            <a:ext cx="72961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40" b="0">
                <a:solidFill>
                  <a:srgbClr val="CAD6E2"/>
                </a:solidFill>
                <a:latin typeface="Arial"/>
                <a:ea typeface="Arial"/>
                <a:cs typeface="Arial"/>
              </a:defRPr>
            </a:pPr>
            <a:r>
              <a:rPr sz="640" b="0">
                <a:solidFill>
                  <a:srgbClr val="CAD6E2"/>
                </a:solidFill>
                <a:latin typeface="Arial"/>
                <a:ea typeface="Arial"/>
                <a:cs typeface="Arial"/>
                <a:hlinkClick xmlns:r="http://schemas.openxmlformats.org/officeDocument/2006/relationships" r:id="R473b5da603f54b42"/>
              </a:rPr>
              <a:t>Reader guide and sources</a:t>
            </a:r>
          </a:p>
        </p:txBody>
      </p:sp>
    </p:spTree>
    <p:extLst>
      <p:ext uri="{BB962C8B-B14F-4D97-AF65-F5344CB8AC3E}">
        <p14:creationId xmlns:p14="http://schemas.microsoft.com/office/powerpoint/2010/main" val="134687450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87AF66E-6CFB-4230-A07D-DC628DC21C05}"/>
              </a:ext>
            </a:extLst>
          </p:cNvPr>
          <p:cNvSpPr>
            <a:spLocks xmlns:a="http://schemas.openxmlformats.org/drawingml/2006/main" noGrp="1"/>
          </p:cNvSpPr>
          <p:nvPr/>
        </p:nvSpPr>
        <p:spPr>
          <a:xfrm xmlns:a="http://schemas.openxmlformats.org/drawingml/2006/main">
            <a:off x="0" y="0"/>
            <a:ext cx="9144000" cy="609600"/>
          </a:xfrm>
          <a:prstGeom xmlns:a="http://schemas.openxmlformats.org/drawingml/2006/main" prst="rect">
            <a:avLst/>
          </a:prstGeom>
          <a:solidFill xmlns:a="http://schemas.openxmlformats.org/drawingml/2006/main">
            <a:srgbClr val="234D7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3" name="Text 1">
            <a:extLst xmlns:a="http://schemas.openxmlformats.org/drawingml/2006/main">
              <a:ext uri="{FF2B5EF4-FFF2-40B4-BE49-F238E27FC236}">
                <a16:creationId xmlns:a16="http://schemas.microsoft.com/office/drawing/2014/main" id="{CC4E6898-745B-4871-899A-8ECA658E5BD2}"/>
              </a:ext>
            </a:extLst>
          </p:cNvPr>
          <p:cNvSpPr>
            <a:spLocks xmlns:a="http://schemas.openxmlformats.org/drawingml/2006/main" noGrp="1"/>
          </p:cNvSpPr>
          <p:nvPr/>
        </p:nvSpPr>
        <p:spPr>
          <a:xfrm xmlns:a="http://schemas.openxmlformats.org/drawingml/2006/main">
            <a:off x="330136" y="164116"/>
            <a:ext cx="6619875" cy="3238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2415"/>
              </a:lnSpc>
              <a:buNone/>
              <a:defRPr sz="2300" b="1">
                <a:solidFill>
                  <a:srgbClr val="FFFFFF"/>
                </a:solidFill>
                <a:latin typeface="Arial"/>
                <a:ea typeface="Arial"/>
                <a:cs typeface="Arial"/>
              </a:defRPr>
            </a:pPr>
            <a:r>
              <a:rPr sz="2300" b="1">
                <a:solidFill>
                  <a:srgbClr val="FFFFFF"/>
                </a:solidFill>
                <a:latin typeface="Arial"/>
                <a:ea typeface="Arial"/>
                <a:cs typeface="Arial"/>
              </a:rPr>
              <a:t>Replay and imitation learning</a:t>
            </a:r>
            <a:endParaRPr sz="2300"/>
          </a:p>
        </p:txBody>
      </p:sp>
      <p:sp>
        <p:nvSpPr>
          <p:cNvPr id="4" name="Text 2">
            <a:extLst xmlns:a="http://schemas.openxmlformats.org/drawingml/2006/main">
              <a:ext uri="{FF2B5EF4-FFF2-40B4-BE49-F238E27FC236}">
                <a16:creationId xmlns:a16="http://schemas.microsoft.com/office/drawing/2014/main" id="{83DF58CF-B767-4346-850A-AEF13DA587CF}"/>
              </a:ext>
            </a:extLst>
          </p:cNvPr>
          <p:cNvSpPr>
            <a:spLocks xmlns:a="http://schemas.openxmlformats.org/drawingml/2006/main" noGrp="1"/>
          </p:cNvSpPr>
          <p:nvPr/>
        </p:nvSpPr>
        <p:spPr>
          <a:xfrm xmlns:a="http://schemas.openxmlformats.org/drawingml/2006/main">
            <a:off x="7372350" y="190500"/>
            <a:ext cx="14478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r">
              <a:lnSpc>
                <a:spcPts val="1054"/>
              </a:lnSpc>
              <a:buNone/>
              <a:defRPr sz="788" b="1">
                <a:solidFill>
                  <a:srgbClr val="FFFFFF"/>
                </a:solidFill>
                <a:latin typeface="Arial"/>
                <a:ea typeface="Arial"/>
                <a:cs typeface="Arial"/>
              </a:defRPr>
            </a:pPr>
            <a:r>
              <a:rPr sz="788" b="1">
                <a:solidFill>
                  <a:srgbClr val="FFFFFF"/>
                </a:solidFill>
                <a:latin typeface="Arial"/>
                <a:ea typeface="Arial"/>
                <a:cs typeface="Arial"/>
              </a:rPr>
              <a:t>CS CAPSTONE REFERENCE</a:t>
            </a:r>
            <a:endParaRPr sz="850"/>
          </a:p>
        </p:txBody>
      </p:sp>
      <p:sp>
        <p:nvSpPr>
          <p:cNvPr id="5" name="Text 3">
            <a:extLst xmlns:a="http://schemas.openxmlformats.org/drawingml/2006/main">
              <a:ext uri="{FF2B5EF4-FFF2-40B4-BE49-F238E27FC236}">
                <a16:creationId xmlns:a16="http://schemas.microsoft.com/office/drawing/2014/main" id="{1FB45668-B916-49DD-8B13-F2D1E463EB2A}"/>
              </a:ext>
            </a:extLst>
          </p:cNvPr>
          <p:cNvSpPr>
            <a:spLocks xmlns:a="http://schemas.openxmlformats.org/drawingml/2006/main" noGrp="1"/>
          </p:cNvSpPr>
          <p:nvPr/>
        </p:nvSpPr>
        <p:spPr>
          <a:xfrm xmlns:a="http://schemas.openxmlformats.org/drawingml/2006/main">
            <a:off x="330101" y="609600"/>
            <a:ext cx="787301" cy="38100"/>
          </a:xfrm>
          <a:prstGeom xmlns:a="http://schemas.openxmlformats.org/drawingml/2006/main" prst="rect">
            <a:avLst/>
          </a:prstGeom>
          <a:solidFill xmlns:a="http://schemas.openxmlformats.org/drawingml/2006/main">
            <a:srgbClr val="D63B4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6" name="Text 4">
            <a:extLst xmlns:a="http://schemas.openxmlformats.org/drawingml/2006/main">
              <a:ext uri="{FF2B5EF4-FFF2-40B4-BE49-F238E27FC236}">
                <a16:creationId xmlns:a16="http://schemas.microsoft.com/office/drawing/2014/main" id="{40838307-BF9E-4B95-9137-136636A20A80}"/>
              </a:ext>
            </a:extLst>
          </p:cNvPr>
          <p:cNvSpPr>
            <a:spLocks xmlns:a="http://schemas.openxmlformats.org/drawingml/2006/main" noGrp="1"/>
          </p:cNvSpPr>
          <p:nvPr/>
        </p:nvSpPr>
        <p:spPr>
          <a:xfrm xmlns:a="http://schemas.openxmlformats.org/drawingml/2006/main">
            <a:off x="342900" y="953095"/>
            <a:ext cx="1809899" cy="846237"/>
          </a:xfrm>
          <a:prstGeom xmlns:a="http://schemas.openxmlformats.org/drawingml/2006/main" prst="roundRect">
            <a:avLst>
              <a:gd name="adj" fmla="val 10505"/>
            </a:avLst>
          </a:prstGeom>
          <a:solidFill xmlns:a="http://schemas.openxmlformats.org/drawingml/2006/main">
            <a:srgbClr val="FFFFFF"/>
          </a:solidFill>
          <a:ln xmlns:a="http://schemas.openxmlformats.org/drawingml/2006/main" w="9525">
            <a:solidFill>
              <a:srgbClr val="CAD6E2"/>
            </a:solidFill>
          </a:ln>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7" name="Text 5">
            <a:extLst xmlns:a="http://schemas.openxmlformats.org/drawingml/2006/main">
              <a:ext uri="{FF2B5EF4-FFF2-40B4-BE49-F238E27FC236}">
                <a16:creationId xmlns:a16="http://schemas.microsoft.com/office/drawing/2014/main" id="{768D932C-850A-48F2-9E54-EE5FFE8AC5D5}"/>
              </a:ext>
            </a:extLst>
          </p:cNvPr>
          <p:cNvSpPr>
            <a:spLocks xmlns:a="http://schemas.openxmlformats.org/drawingml/2006/main" noGrp="1"/>
          </p:cNvSpPr>
          <p:nvPr/>
        </p:nvSpPr>
        <p:spPr>
          <a:xfrm xmlns:a="http://schemas.openxmlformats.org/drawingml/2006/main">
            <a:off x="451103" y="1076920"/>
            <a:ext cx="1593494"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ctr">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Demonstration</a:t>
            </a:r>
            <a:endParaRPr sz="1400"/>
          </a:p>
        </p:txBody>
      </p:sp>
      <p:sp>
        <p:nvSpPr>
          <p:cNvPr id="8" name="Text 6">
            <a:extLst xmlns:a="http://schemas.openxmlformats.org/drawingml/2006/main">
              <a:ext uri="{FF2B5EF4-FFF2-40B4-BE49-F238E27FC236}">
                <a16:creationId xmlns:a16="http://schemas.microsoft.com/office/drawing/2014/main" id="{805304C4-5B59-4043-A57E-2FA3537F248B}"/>
              </a:ext>
            </a:extLst>
          </p:cNvPr>
          <p:cNvSpPr>
            <a:spLocks xmlns:a="http://schemas.openxmlformats.org/drawingml/2006/main" noGrp="1"/>
          </p:cNvSpPr>
          <p:nvPr/>
        </p:nvSpPr>
        <p:spPr>
          <a:xfrm xmlns:a="http://schemas.openxmlformats.org/drawingml/2006/main">
            <a:off x="451103" y="1344811"/>
            <a:ext cx="1593494" cy="330696"/>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ctr">
              <a:lnSpc>
                <a:spcPts val="1302"/>
              </a:lnSpc>
              <a:buNone/>
              <a:defRPr sz="1050" b="0">
                <a:solidFill>
                  <a:srgbClr val="12263A"/>
                </a:solidFill>
                <a:latin typeface="Arial"/>
                <a:ea typeface="Arial"/>
                <a:cs typeface="Arial"/>
              </a:defRPr>
            </a:pPr>
            <a:r>
              <a:rPr sz="1050" b="0">
                <a:solidFill>
                  <a:srgbClr val="12263A"/>
                </a:solidFill>
                <a:latin typeface="Arial"/>
                <a:ea typeface="Arial"/>
                <a:cs typeface="Arial"/>
              </a:rPr>
              <a:t>Observations, actions, timestamps, labels</a:t>
            </a:r>
            <a:endParaRPr sz="1050"/>
          </a:p>
        </p:txBody>
      </p:sp>
      <p:sp>
        <p:nvSpPr>
          <p:cNvPr id="9" name="Text 7">
            <a:extLst xmlns:a="http://schemas.openxmlformats.org/drawingml/2006/main">
              <a:ext uri="{FF2B5EF4-FFF2-40B4-BE49-F238E27FC236}">
                <a16:creationId xmlns:a16="http://schemas.microsoft.com/office/drawing/2014/main" id="{5F41CD7D-E44E-4CDA-992C-8A53D10EA55E}"/>
              </a:ext>
            </a:extLst>
          </p:cNvPr>
          <p:cNvSpPr>
            <a:spLocks xmlns:a="http://schemas.openxmlformats.org/drawingml/2006/main" noGrp="1"/>
          </p:cNvSpPr>
          <p:nvPr/>
        </p:nvSpPr>
        <p:spPr>
          <a:xfrm xmlns:a="http://schemas.openxmlformats.org/drawingml/2006/main">
            <a:off x="2252268" y="1234529"/>
            <a:ext cx="207213" cy="283369"/>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2232"/>
              </a:lnSpc>
              <a:buNone/>
            </a:pPr>
            <a:r>
              <a:rPr sz="1800" b="1">
                <a:solidFill>
                  <a:srgbClr val="D63B4A"/>
                </a:solidFill>
                <a:latin typeface="Arial"/>
                <a:ea typeface="Arial"/>
                <a:cs typeface="Arial"/>
              </a:rPr>
              <a:t>→</a:t>
            </a:r>
            <a:endParaRPr sz="1800"/>
          </a:p>
        </p:txBody>
      </p:sp>
      <p:sp>
        <p:nvSpPr>
          <p:cNvPr id="10" name="Text 8">
            <a:extLst xmlns:a="http://schemas.openxmlformats.org/drawingml/2006/main">
              <a:ext uri="{FF2B5EF4-FFF2-40B4-BE49-F238E27FC236}">
                <a16:creationId xmlns:a16="http://schemas.microsoft.com/office/drawing/2014/main" id="{DF68E398-1F8C-48F6-99E4-6041F137490A}"/>
              </a:ext>
            </a:extLst>
          </p:cNvPr>
          <p:cNvSpPr>
            <a:spLocks xmlns:a="http://schemas.openxmlformats.org/drawingml/2006/main" noGrp="1"/>
          </p:cNvSpPr>
          <p:nvPr/>
        </p:nvSpPr>
        <p:spPr>
          <a:xfrm xmlns:a="http://schemas.openxmlformats.org/drawingml/2006/main">
            <a:off x="2558951" y="953095"/>
            <a:ext cx="1810048" cy="846237"/>
          </a:xfrm>
          <a:prstGeom xmlns:a="http://schemas.openxmlformats.org/drawingml/2006/main" prst="roundRect">
            <a:avLst>
              <a:gd name="adj" fmla="val 10505"/>
            </a:avLst>
          </a:prstGeom>
          <a:solidFill xmlns:a="http://schemas.openxmlformats.org/drawingml/2006/main">
            <a:srgbClr val="FFFFFF"/>
          </a:solidFill>
          <a:ln xmlns:a="http://schemas.openxmlformats.org/drawingml/2006/main" w="9525">
            <a:solidFill>
              <a:srgbClr val="CAD6E2"/>
            </a:solidFill>
          </a:ln>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11" name="Text 9">
            <a:extLst xmlns:a="http://schemas.openxmlformats.org/drawingml/2006/main">
              <a:ext uri="{FF2B5EF4-FFF2-40B4-BE49-F238E27FC236}">
                <a16:creationId xmlns:a16="http://schemas.microsoft.com/office/drawing/2014/main" id="{34E7BA1E-48B4-43F1-8C10-8CEF54F89099}"/>
              </a:ext>
            </a:extLst>
          </p:cNvPr>
          <p:cNvSpPr>
            <a:spLocks xmlns:a="http://schemas.openxmlformats.org/drawingml/2006/main" noGrp="1"/>
          </p:cNvSpPr>
          <p:nvPr/>
        </p:nvSpPr>
        <p:spPr>
          <a:xfrm xmlns:a="http://schemas.openxmlformats.org/drawingml/2006/main">
            <a:off x="2667152" y="1076920"/>
            <a:ext cx="1593646"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ctr">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Behavior cloning</a:t>
            </a:r>
            <a:endParaRPr sz="1400"/>
          </a:p>
        </p:txBody>
      </p:sp>
      <p:sp>
        <p:nvSpPr>
          <p:cNvPr id="12" name="Text 10">
            <a:extLst xmlns:a="http://schemas.openxmlformats.org/drawingml/2006/main">
              <a:ext uri="{FF2B5EF4-FFF2-40B4-BE49-F238E27FC236}">
                <a16:creationId xmlns:a16="http://schemas.microsoft.com/office/drawing/2014/main" id="{B46564FF-07C2-40CA-ADD3-DA068FD0C586}"/>
              </a:ext>
            </a:extLst>
          </p:cNvPr>
          <p:cNvSpPr>
            <a:spLocks xmlns:a="http://schemas.openxmlformats.org/drawingml/2006/main" noGrp="1"/>
          </p:cNvSpPr>
          <p:nvPr/>
        </p:nvSpPr>
        <p:spPr>
          <a:xfrm xmlns:a="http://schemas.openxmlformats.org/drawingml/2006/main">
            <a:off x="2667152" y="1344811"/>
            <a:ext cx="1593646" cy="330696"/>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ctr">
              <a:lnSpc>
                <a:spcPts val="1302"/>
              </a:lnSpc>
              <a:buNone/>
              <a:defRPr sz="1050" b="0">
                <a:solidFill>
                  <a:srgbClr val="12263A"/>
                </a:solidFill>
                <a:latin typeface="Arial"/>
                <a:ea typeface="Arial"/>
                <a:cs typeface="Arial"/>
              </a:defRPr>
            </a:pPr>
            <a:r>
              <a:rPr sz="1050" b="0">
                <a:solidFill>
                  <a:srgbClr val="12263A"/>
                </a:solidFill>
                <a:latin typeface="Arial"/>
                <a:ea typeface="Arial"/>
                <a:cs typeface="Arial"/>
              </a:rPr>
              <a:t>Learn actions from recorded observations</a:t>
            </a:r>
            <a:endParaRPr sz="1050"/>
          </a:p>
        </p:txBody>
      </p:sp>
      <p:sp>
        <p:nvSpPr>
          <p:cNvPr id="13" name="Text 11">
            <a:extLst xmlns:a="http://schemas.openxmlformats.org/drawingml/2006/main">
              <a:ext uri="{FF2B5EF4-FFF2-40B4-BE49-F238E27FC236}">
                <a16:creationId xmlns:a16="http://schemas.microsoft.com/office/drawing/2014/main" id="{58BBC755-E699-44A1-99E5-1E4C67341166}"/>
              </a:ext>
            </a:extLst>
          </p:cNvPr>
          <p:cNvSpPr>
            <a:spLocks xmlns:a="http://schemas.openxmlformats.org/drawingml/2006/main" noGrp="1"/>
          </p:cNvSpPr>
          <p:nvPr/>
        </p:nvSpPr>
        <p:spPr>
          <a:xfrm xmlns:a="http://schemas.openxmlformats.org/drawingml/2006/main">
            <a:off x="4468468" y="1234529"/>
            <a:ext cx="207213" cy="283369"/>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2232"/>
              </a:lnSpc>
              <a:buNone/>
            </a:pPr>
            <a:r>
              <a:rPr sz="1800" b="1">
                <a:solidFill>
                  <a:srgbClr val="D63B4A"/>
                </a:solidFill>
                <a:latin typeface="Arial"/>
                <a:ea typeface="Arial"/>
                <a:cs typeface="Arial"/>
              </a:rPr>
              <a:t>→</a:t>
            </a:r>
            <a:endParaRPr sz="1800"/>
          </a:p>
        </p:txBody>
      </p:sp>
      <p:sp>
        <p:nvSpPr>
          <p:cNvPr id="14" name="Text 12">
            <a:extLst xmlns:a="http://schemas.openxmlformats.org/drawingml/2006/main">
              <a:ext uri="{FF2B5EF4-FFF2-40B4-BE49-F238E27FC236}">
                <a16:creationId xmlns:a16="http://schemas.microsoft.com/office/drawing/2014/main" id="{CB3A2DC0-1626-4921-8EAE-3127A56793B5}"/>
              </a:ext>
            </a:extLst>
          </p:cNvPr>
          <p:cNvSpPr>
            <a:spLocks xmlns:a="http://schemas.openxmlformats.org/drawingml/2006/main" noGrp="1"/>
          </p:cNvSpPr>
          <p:nvPr/>
        </p:nvSpPr>
        <p:spPr>
          <a:xfrm xmlns:a="http://schemas.openxmlformats.org/drawingml/2006/main">
            <a:off x="4775150" y="850850"/>
            <a:ext cx="1809899" cy="1050727"/>
          </a:xfrm>
          <a:prstGeom xmlns:a="http://schemas.openxmlformats.org/drawingml/2006/main" prst="roundRect">
            <a:avLst>
              <a:gd name="adj" fmla="val 8461"/>
            </a:avLst>
          </a:prstGeom>
          <a:solidFill xmlns:a="http://schemas.openxmlformats.org/drawingml/2006/main">
            <a:srgbClr val="FFFFFF"/>
          </a:solidFill>
          <a:ln xmlns:a="http://schemas.openxmlformats.org/drawingml/2006/main" w="9525">
            <a:solidFill>
              <a:srgbClr val="CAD6E2"/>
            </a:solidFill>
          </a:ln>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15" name="Text 13">
            <a:extLst xmlns:a="http://schemas.openxmlformats.org/drawingml/2006/main">
              <a:ext uri="{FF2B5EF4-FFF2-40B4-BE49-F238E27FC236}">
                <a16:creationId xmlns:a16="http://schemas.microsoft.com/office/drawing/2014/main" id="{1B3495EF-FF35-4059-9FEE-6EB2837D8F3E}"/>
              </a:ext>
            </a:extLst>
          </p:cNvPr>
          <p:cNvSpPr>
            <a:spLocks xmlns:a="http://schemas.openxmlformats.org/drawingml/2006/main" noGrp="1"/>
          </p:cNvSpPr>
          <p:nvPr/>
        </p:nvSpPr>
        <p:spPr>
          <a:xfrm xmlns:a="http://schemas.openxmlformats.org/drawingml/2006/main">
            <a:off x="4883353" y="974675"/>
            <a:ext cx="1593494" cy="4089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ctr">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Policy rollout</a:t>
            </a:r>
            <a:endParaRPr sz="1400"/>
          </a:p>
        </p:txBody>
      </p:sp>
      <p:sp>
        <p:nvSpPr>
          <p:cNvPr id="16" name="Text 14">
            <a:extLst xmlns:a="http://schemas.openxmlformats.org/drawingml/2006/main">
              <a:ext uri="{FF2B5EF4-FFF2-40B4-BE49-F238E27FC236}">
                <a16:creationId xmlns:a16="http://schemas.microsoft.com/office/drawing/2014/main" id="{E6DB1FC3-4E6C-44C8-8CFB-A05FF5AD32B5}"/>
              </a:ext>
            </a:extLst>
          </p:cNvPr>
          <p:cNvSpPr>
            <a:spLocks xmlns:a="http://schemas.openxmlformats.org/drawingml/2006/main" noGrp="1"/>
          </p:cNvSpPr>
          <p:nvPr/>
        </p:nvSpPr>
        <p:spPr>
          <a:xfrm xmlns:a="http://schemas.openxmlformats.org/drawingml/2006/main">
            <a:off x="4883353" y="1447056"/>
            <a:ext cx="1593494" cy="330696"/>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ctr">
              <a:lnSpc>
                <a:spcPts val="1302"/>
              </a:lnSpc>
              <a:buNone/>
              <a:defRPr sz="1050" b="0">
                <a:solidFill>
                  <a:srgbClr val="12263A"/>
                </a:solidFill>
                <a:latin typeface="Arial"/>
                <a:ea typeface="Arial"/>
                <a:cs typeface="Arial"/>
              </a:defRPr>
            </a:pPr>
            <a:r>
              <a:rPr sz="1050" b="0">
                <a:solidFill>
                  <a:srgbClr val="12263A"/>
                </a:solidFill>
                <a:latin typeface="Arial"/>
                <a:ea typeface="Arial"/>
                <a:cs typeface="Arial"/>
              </a:rPr>
              <a:t>The policy encounters a shifted state distribution</a:t>
            </a:r>
            <a:endParaRPr sz="1050"/>
          </a:p>
        </p:txBody>
      </p:sp>
      <p:sp>
        <p:nvSpPr>
          <p:cNvPr id="17" name="Text 15">
            <a:extLst xmlns:a="http://schemas.openxmlformats.org/drawingml/2006/main">
              <a:ext uri="{FF2B5EF4-FFF2-40B4-BE49-F238E27FC236}">
                <a16:creationId xmlns:a16="http://schemas.microsoft.com/office/drawing/2014/main" id="{E602BF1A-79F6-40C1-8CC1-A6A27AA0A2E9}"/>
              </a:ext>
            </a:extLst>
          </p:cNvPr>
          <p:cNvSpPr>
            <a:spLocks xmlns:a="http://schemas.openxmlformats.org/drawingml/2006/main" noGrp="1"/>
          </p:cNvSpPr>
          <p:nvPr/>
        </p:nvSpPr>
        <p:spPr>
          <a:xfrm xmlns:a="http://schemas.openxmlformats.org/drawingml/2006/main">
            <a:off x="6684518" y="1234529"/>
            <a:ext cx="207213" cy="283369"/>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2232"/>
              </a:lnSpc>
              <a:buNone/>
            </a:pPr>
            <a:r>
              <a:rPr sz="1800" b="1">
                <a:solidFill>
                  <a:srgbClr val="D63B4A"/>
                </a:solidFill>
                <a:latin typeface="Arial"/>
                <a:ea typeface="Arial"/>
                <a:cs typeface="Arial"/>
              </a:rPr>
              <a:t>→</a:t>
            </a:r>
            <a:endParaRPr sz="1800"/>
          </a:p>
        </p:txBody>
      </p:sp>
      <p:sp>
        <p:nvSpPr>
          <p:cNvPr id="18" name="Text 16">
            <a:extLst xmlns:a="http://schemas.openxmlformats.org/drawingml/2006/main">
              <a:ext uri="{FF2B5EF4-FFF2-40B4-BE49-F238E27FC236}">
                <a16:creationId xmlns:a16="http://schemas.microsoft.com/office/drawing/2014/main" id="{7753DD5A-362E-4026-A224-2B5D2FFA84A4}"/>
              </a:ext>
            </a:extLst>
          </p:cNvPr>
          <p:cNvSpPr>
            <a:spLocks xmlns:a="http://schemas.openxmlformats.org/drawingml/2006/main" noGrp="1"/>
          </p:cNvSpPr>
          <p:nvPr/>
        </p:nvSpPr>
        <p:spPr>
          <a:xfrm xmlns:a="http://schemas.openxmlformats.org/drawingml/2006/main">
            <a:off x="6991201" y="850850"/>
            <a:ext cx="1809899" cy="1050727"/>
          </a:xfrm>
          <a:prstGeom xmlns:a="http://schemas.openxmlformats.org/drawingml/2006/main" prst="roundRect">
            <a:avLst>
              <a:gd name="adj" fmla="val 8461"/>
            </a:avLst>
          </a:prstGeom>
          <a:solidFill xmlns:a="http://schemas.openxmlformats.org/drawingml/2006/main">
            <a:srgbClr val="FFFFFF"/>
          </a:solidFill>
          <a:ln xmlns:a="http://schemas.openxmlformats.org/drawingml/2006/main" w="9525">
            <a:solidFill>
              <a:srgbClr val="CAD6E2"/>
            </a:solidFill>
          </a:ln>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19" name="Text 17">
            <a:extLst xmlns:a="http://schemas.openxmlformats.org/drawingml/2006/main">
              <a:ext uri="{FF2B5EF4-FFF2-40B4-BE49-F238E27FC236}">
                <a16:creationId xmlns:a16="http://schemas.microsoft.com/office/drawing/2014/main" id="{AF794DFC-45DF-40AF-9806-2589DFEBC118}"/>
              </a:ext>
            </a:extLst>
          </p:cNvPr>
          <p:cNvSpPr>
            <a:spLocks xmlns:a="http://schemas.openxmlformats.org/drawingml/2006/main" noGrp="1"/>
          </p:cNvSpPr>
          <p:nvPr/>
        </p:nvSpPr>
        <p:spPr>
          <a:xfrm xmlns:a="http://schemas.openxmlformats.org/drawingml/2006/main">
            <a:off x="7099404" y="974675"/>
            <a:ext cx="1593494" cy="4089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ctr">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Correction data</a:t>
            </a:r>
            <a:endParaRPr sz="1400"/>
          </a:p>
        </p:txBody>
      </p:sp>
      <p:sp>
        <p:nvSpPr>
          <p:cNvPr id="20" name="Text 18">
            <a:extLst xmlns:a="http://schemas.openxmlformats.org/drawingml/2006/main">
              <a:ext uri="{FF2B5EF4-FFF2-40B4-BE49-F238E27FC236}">
                <a16:creationId xmlns:a16="http://schemas.microsoft.com/office/drawing/2014/main" id="{5B23B985-37CB-4B0F-A601-64683B0A5A5A}"/>
              </a:ext>
            </a:extLst>
          </p:cNvPr>
          <p:cNvSpPr>
            <a:spLocks xmlns:a="http://schemas.openxmlformats.org/drawingml/2006/main" noGrp="1"/>
          </p:cNvSpPr>
          <p:nvPr/>
        </p:nvSpPr>
        <p:spPr>
          <a:xfrm xmlns:a="http://schemas.openxmlformats.org/drawingml/2006/main">
            <a:off x="7099404" y="1447056"/>
            <a:ext cx="1593494" cy="330696"/>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ctr">
              <a:lnSpc>
                <a:spcPts val="1302"/>
              </a:lnSpc>
              <a:buNone/>
              <a:defRPr sz="1050" b="0">
                <a:solidFill>
                  <a:srgbClr val="12263A"/>
                </a:solidFill>
                <a:latin typeface="Arial"/>
                <a:ea typeface="Arial"/>
                <a:cs typeface="Arial"/>
              </a:defRPr>
            </a:pPr>
            <a:r>
              <a:rPr sz="1050" b="0">
                <a:solidFill>
                  <a:srgbClr val="12263A"/>
                </a:solidFill>
                <a:latin typeface="Arial"/>
                <a:ea typeface="Arial"/>
                <a:cs typeface="Arial"/>
              </a:rPr>
              <a:t>Interventions with context and outcomes</a:t>
            </a:r>
            <a:endParaRPr sz="1050"/>
          </a:p>
        </p:txBody>
      </p:sp>
      <p:sp>
        <p:nvSpPr>
          <p:cNvPr id="21" name="Text 19">
            <a:extLst xmlns:a="http://schemas.openxmlformats.org/drawingml/2006/main">
              <a:ext uri="{FF2B5EF4-FFF2-40B4-BE49-F238E27FC236}">
                <a16:creationId xmlns:a16="http://schemas.microsoft.com/office/drawing/2014/main" id="{6B98468C-C197-46B4-B04B-34948C2EC1F7}"/>
              </a:ext>
            </a:extLst>
          </p:cNvPr>
          <p:cNvSpPr>
            <a:spLocks xmlns:a="http://schemas.openxmlformats.org/drawingml/2006/main" noGrp="1"/>
          </p:cNvSpPr>
          <p:nvPr/>
        </p:nvSpPr>
        <p:spPr>
          <a:xfrm xmlns:a="http://schemas.openxmlformats.org/drawingml/2006/main">
            <a:off x="342900" y="2168277"/>
            <a:ext cx="2734717" cy="2492722"/>
          </a:xfrm>
          <a:prstGeom xmlns:a="http://schemas.openxmlformats.org/drawingml/2006/main" prst="roundRect">
            <a:avLst>
              <a:gd name="adj" fmla="val 4076"/>
            </a:avLst>
          </a:prstGeom>
          <a:solidFill xmlns:a="http://schemas.openxmlformats.org/drawingml/2006/main">
            <a:srgbClr val="EEF4F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22" name="Shape 20">
            <a:extLst xmlns:a="http://schemas.openxmlformats.org/drawingml/2006/main">
              <a:ext uri="{FF2B5EF4-FFF2-40B4-BE49-F238E27FC236}">
                <a16:creationId xmlns:a16="http://schemas.microsoft.com/office/drawing/2014/main" id="{17061742-C44D-4815-B7B7-C0528518634D}"/>
              </a:ext>
            </a:extLst>
          </p:cNvPr>
          <p:cNvSpPr>
            <a:spLocks xmlns:a="http://schemas.openxmlformats.org/drawingml/2006/main" noGrp="1"/>
          </p:cNvSpPr>
          <p:nvPr/>
        </p:nvSpPr>
        <p:spPr>
          <a:xfrm xmlns:a="http://schemas.openxmlformats.org/drawingml/2006/main">
            <a:off x="342900" y="2173039"/>
            <a:ext cx="2734717"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23" name="Shape 21">
            <a:extLst xmlns:a="http://schemas.openxmlformats.org/drawingml/2006/main">
              <a:ext uri="{FF2B5EF4-FFF2-40B4-BE49-F238E27FC236}">
                <a16:creationId xmlns:a16="http://schemas.microsoft.com/office/drawing/2014/main" id="{33AA4B87-237D-4ACE-82E0-711DB6B1861F}"/>
              </a:ext>
            </a:extLst>
          </p:cNvPr>
          <p:cNvSpPr>
            <a:spLocks xmlns:a="http://schemas.openxmlformats.org/drawingml/2006/main" noGrp="1"/>
          </p:cNvSpPr>
          <p:nvPr/>
        </p:nvSpPr>
        <p:spPr>
          <a:xfrm xmlns:a="http://schemas.openxmlformats.org/drawingml/2006/main">
            <a:off x="3072854" y="2168277"/>
            <a:ext cx="0" cy="2492722"/>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24" name="Shape 22">
            <a:extLst xmlns:a="http://schemas.openxmlformats.org/drawingml/2006/main">
              <a:ext uri="{FF2B5EF4-FFF2-40B4-BE49-F238E27FC236}">
                <a16:creationId xmlns:a16="http://schemas.microsoft.com/office/drawing/2014/main" id="{B20EC95A-DB8A-4773-B33C-393FE8EC9B97}"/>
              </a:ext>
            </a:extLst>
          </p:cNvPr>
          <p:cNvSpPr>
            <a:spLocks xmlns:a="http://schemas.openxmlformats.org/drawingml/2006/main" noGrp="1"/>
          </p:cNvSpPr>
          <p:nvPr/>
        </p:nvSpPr>
        <p:spPr>
          <a:xfrm xmlns:a="http://schemas.openxmlformats.org/drawingml/2006/main">
            <a:off x="342900" y="4656237"/>
            <a:ext cx="2734717"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25" name="Shape 23">
            <a:extLst xmlns:a="http://schemas.openxmlformats.org/drawingml/2006/main">
              <a:ext uri="{FF2B5EF4-FFF2-40B4-BE49-F238E27FC236}">
                <a16:creationId xmlns:a16="http://schemas.microsoft.com/office/drawing/2014/main" id="{167A6098-1F53-4F24-9D53-5ABA859C6D60}"/>
              </a:ext>
            </a:extLst>
          </p:cNvPr>
          <p:cNvSpPr>
            <a:spLocks xmlns:a="http://schemas.openxmlformats.org/drawingml/2006/main" noGrp="1"/>
          </p:cNvSpPr>
          <p:nvPr/>
        </p:nvSpPr>
        <p:spPr>
          <a:xfrm xmlns:a="http://schemas.openxmlformats.org/drawingml/2006/main">
            <a:off x="371475" y="2168277"/>
            <a:ext cx="0" cy="2492722"/>
          </a:xfrm>
          <a:prstGeom xmlns:a="http://schemas.openxmlformats.org/drawingml/2006/main" prst="line">
            <a:avLst/>
          </a:prstGeom>
          <a:noFill xmlns:a="http://schemas.openxmlformats.org/drawingml/2006/main"/>
          <a:ln xmlns:a="http://schemas.openxmlformats.org/drawingml/2006/main" w="57150">
            <a:solidFill>
              <a:srgbClr val="234D78"/>
            </a:solidFill>
            <a:prstDash val="solid"/>
          </a:ln>
        </p:spPr>
      </p:sp>
      <p:sp>
        <p:nvSpPr>
          <p:cNvPr id="26" name="Text 24">
            <a:extLst xmlns:a="http://schemas.openxmlformats.org/drawingml/2006/main">
              <a:ext uri="{FF2B5EF4-FFF2-40B4-BE49-F238E27FC236}">
                <a16:creationId xmlns:a16="http://schemas.microsoft.com/office/drawing/2014/main" id="{7752B763-A6EC-4FA9-9805-E444560BED58}"/>
              </a:ext>
            </a:extLst>
          </p:cNvPr>
          <p:cNvSpPr>
            <a:spLocks xmlns:a="http://schemas.openxmlformats.org/drawingml/2006/main" noGrp="1"/>
          </p:cNvSpPr>
          <p:nvPr/>
        </p:nvSpPr>
        <p:spPr>
          <a:xfrm xmlns:a="http://schemas.openxmlformats.org/drawingml/2006/main">
            <a:off x="552450" y="2330202"/>
            <a:ext cx="2410507"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ACT</a:t>
            </a:r>
            <a:endParaRPr sz="1400"/>
          </a:p>
        </p:txBody>
      </p:sp>
      <p:sp>
        <p:nvSpPr>
          <p:cNvPr id="27" name="Text 25">
            <a:extLst xmlns:a="http://schemas.openxmlformats.org/drawingml/2006/main">
              <a:ext uri="{FF2B5EF4-FFF2-40B4-BE49-F238E27FC236}">
                <a16:creationId xmlns:a16="http://schemas.microsoft.com/office/drawing/2014/main" id="{196E454F-6990-4524-9EE1-4C6E4D8D510F}"/>
              </a:ext>
            </a:extLst>
          </p:cNvPr>
          <p:cNvSpPr>
            <a:spLocks xmlns:a="http://schemas.openxmlformats.org/drawingml/2006/main" noGrp="1"/>
          </p:cNvSpPr>
          <p:nvPr/>
        </p:nvSpPr>
        <p:spPr>
          <a:xfrm xmlns:a="http://schemas.openxmlformats.org/drawingml/2006/main">
            <a:off x="552450" y="2598093"/>
            <a:ext cx="2410507" cy="57596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513"/>
              </a:lnSpc>
              <a:buNone/>
              <a:defRPr sz="1220" b="0">
                <a:solidFill>
                  <a:srgbClr val="12263A"/>
                </a:solidFill>
                <a:latin typeface="Arial"/>
                <a:ea typeface="Arial"/>
                <a:cs typeface="Arial"/>
              </a:defRPr>
            </a:pPr>
            <a:r>
              <a:rPr sz="1220" b="0">
                <a:solidFill>
                  <a:srgbClr val="12263A"/>
                </a:solidFill>
                <a:latin typeface="Arial"/>
                <a:ea typeface="Arial"/>
                <a:cs typeface="Arial"/>
              </a:rPr>
              <a:t>Action chunks are an option when the task requires a policy learned from demonstrations.</a:t>
            </a:r>
            <a:endParaRPr sz="1220"/>
          </a:p>
        </p:txBody>
      </p:sp>
      <p:sp>
        <p:nvSpPr>
          <p:cNvPr id="28" name="Text 26">
            <a:extLst xmlns:a="http://schemas.openxmlformats.org/drawingml/2006/main">
              <a:ext uri="{FF2B5EF4-FFF2-40B4-BE49-F238E27FC236}">
                <a16:creationId xmlns:a16="http://schemas.microsoft.com/office/drawing/2014/main" id="{F784C6D4-F886-4127-8FDB-5F853C4E8EDE}"/>
              </a:ext>
            </a:extLst>
          </p:cNvPr>
          <p:cNvSpPr>
            <a:spLocks xmlns:a="http://schemas.openxmlformats.org/drawingml/2006/main" noGrp="1"/>
          </p:cNvSpPr>
          <p:nvPr/>
        </p:nvSpPr>
        <p:spPr>
          <a:xfrm xmlns:a="http://schemas.openxmlformats.org/drawingml/2006/main">
            <a:off x="3204567" y="2168277"/>
            <a:ext cx="2734866" cy="2492722"/>
          </a:xfrm>
          <a:prstGeom xmlns:a="http://schemas.openxmlformats.org/drawingml/2006/main" prst="roundRect">
            <a:avLst>
              <a:gd name="adj" fmla="val 4076"/>
            </a:avLst>
          </a:prstGeom>
          <a:solidFill xmlns:a="http://schemas.openxmlformats.org/drawingml/2006/main">
            <a:srgbClr val="EDFAF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29" name="Shape 27">
            <a:extLst xmlns:a="http://schemas.openxmlformats.org/drawingml/2006/main">
              <a:ext uri="{FF2B5EF4-FFF2-40B4-BE49-F238E27FC236}">
                <a16:creationId xmlns:a16="http://schemas.microsoft.com/office/drawing/2014/main" id="{A88E82B7-782C-48AC-96A7-3D555E72E7E1}"/>
              </a:ext>
            </a:extLst>
          </p:cNvPr>
          <p:cNvSpPr>
            <a:spLocks xmlns:a="http://schemas.openxmlformats.org/drawingml/2006/main" noGrp="1"/>
          </p:cNvSpPr>
          <p:nvPr/>
        </p:nvSpPr>
        <p:spPr>
          <a:xfrm xmlns:a="http://schemas.openxmlformats.org/drawingml/2006/main">
            <a:off x="3204567" y="2173039"/>
            <a:ext cx="2734866"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30" name="Shape 28">
            <a:extLst xmlns:a="http://schemas.openxmlformats.org/drawingml/2006/main">
              <a:ext uri="{FF2B5EF4-FFF2-40B4-BE49-F238E27FC236}">
                <a16:creationId xmlns:a16="http://schemas.microsoft.com/office/drawing/2014/main" id="{EBF670C9-EF74-4CB0-A267-D76978E8EE67}"/>
              </a:ext>
            </a:extLst>
          </p:cNvPr>
          <p:cNvSpPr>
            <a:spLocks xmlns:a="http://schemas.openxmlformats.org/drawingml/2006/main" noGrp="1"/>
          </p:cNvSpPr>
          <p:nvPr/>
        </p:nvSpPr>
        <p:spPr>
          <a:xfrm xmlns:a="http://schemas.openxmlformats.org/drawingml/2006/main">
            <a:off x="5934670" y="2168277"/>
            <a:ext cx="0" cy="2492722"/>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31" name="Shape 29">
            <a:extLst xmlns:a="http://schemas.openxmlformats.org/drawingml/2006/main">
              <a:ext uri="{FF2B5EF4-FFF2-40B4-BE49-F238E27FC236}">
                <a16:creationId xmlns:a16="http://schemas.microsoft.com/office/drawing/2014/main" id="{5E4F5248-BAB6-4267-AFD8-ADC277856B05}"/>
              </a:ext>
            </a:extLst>
          </p:cNvPr>
          <p:cNvSpPr>
            <a:spLocks xmlns:a="http://schemas.openxmlformats.org/drawingml/2006/main" noGrp="1"/>
          </p:cNvSpPr>
          <p:nvPr/>
        </p:nvSpPr>
        <p:spPr>
          <a:xfrm xmlns:a="http://schemas.openxmlformats.org/drawingml/2006/main">
            <a:off x="3204567" y="4656237"/>
            <a:ext cx="2734866"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32" name="Shape 30">
            <a:extLst xmlns:a="http://schemas.openxmlformats.org/drawingml/2006/main">
              <a:ext uri="{FF2B5EF4-FFF2-40B4-BE49-F238E27FC236}">
                <a16:creationId xmlns:a16="http://schemas.microsoft.com/office/drawing/2014/main" id="{929B00DE-A75F-420C-A986-50F850697173}"/>
              </a:ext>
            </a:extLst>
          </p:cNvPr>
          <p:cNvSpPr>
            <a:spLocks xmlns:a="http://schemas.openxmlformats.org/drawingml/2006/main" noGrp="1"/>
          </p:cNvSpPr>
          <p:nvPr/>
        </p:nvSpPr>
        <p:spPr>
          <a:xfrm xmlns:a="http://schemas.openxmlformats.org/drawingml/2006/main">
            <a:off x="3233142" y="2168277"/>
            <a:ext cx="0" cy="2492722"/>
          </a:xfrm>
          <a:prstGeom xmlns:a="http://schemas.openxmlformats.org/drawingml/2006/main" prst="line">
            <a:avLst/>
          </a:prstGeom>
          <a:noFill xmlns:a="http://schemas.openxmlformats.org/drawingml/2006/main"/>
          <a:ln xmlns:a="http://schemas.openxmlformats.org/drawingml/2006/main" w="57150">
            <a:solidFill>
              <a:srgbClr val="1D9E91"/>
            </a:solidFill>
            <a:prstDash val="solid"/>
          </a:ln>
        </p:spPr>
      </p:sp>
      <p:sp>
        <p:nvSpPr>
          <p:cNvPr id="33" name="Text 31">
            <a:extLst xmlns:a="http://schemas.openxmlformats.org/drawingml/2006/main">
              <a:ext uri="{FF2B5EF4-FFF2-40B4-BE49-F238E27FC236}">
                <a16:creationId xmlns:a16="http://schemas.microsoft.com/office/drawing/2014/main" id="{117C12BB-3C1B-42DB-A516-631731D47E41}"/>
              </a:ext>
            </a:extLst>
          </p:cNvPr>
          <p:cNvSpPr>
            <a:spLocks xmlns:a="http://schemas.openxmlformats.org/drawingml/2006/main" noGrp="1"/>
          </p:cNvSpPr>
          <p:nvPr/>
        </p:nvSpPr>
        <p:spPr>
          <a:xfrm xmlns:a="http://schemas.openxmlformats.org/drawingml/2006/main">
            <a:off x="3414117" y="2330202"/>
            <a:ext cx="2410658"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Diffusion Policy</a:t>
            </a:r>
            <a:endParaRPr sz="1400"/>
          </a:p>
        </p:txBody>
      </p:sp>
      <p:sp>
        <p:nvSpPr>
          <p:cNvPr id="34" name="Text 32">
            <a:extLst xmlns:a="http://schemas.openxmlformats.org/drawingml/2006/main">
              <a:ext uri="{FF2B5EF4-FFF2-40B4-BE49-F238E27FC236}">
                <a16:creationId xmlns:a16="http://schemas.microsoft.com/office/drawing/2014/main" id="{EC23F0DD-42F5-419A-A521-1263DE230C0C}"/>
              </a:ext>
            </a:extLst>
          </p:cNvPr>
          <p:cNvSpPr>
            <a:spLocks xmlns:a="http://schemas.openxmlformats.org/drawingml/2006/main" noGrp="1"/>
          </p:cNvSpPr>
          <p:nvPr/>
        </p:nvSpPr>
        <p:spPr>
          <a:xfrm xmlns:a="http://schemas.openxmlformats.org/drawingml/2006/main">
            <a:off x="3414117" y="2598093"/>
            <a:ext cx="2410658" cy="57596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513"/>
              </a:lnSpc>
              <a:buNone/>
              <a:defRPr sz="1220" b="0">
                <a:solidFill>
                  <a:srgbClr val="12263A"/>
                </a:solidFill>
                <a:latin typeface="Arial"/>
                <a:ea typeface="Arial"/>
                <a:cs typeface="Arial"/>
              </a:defRPr>
            </a:pPr>
            <a:r>
              <a:rPr sz="1220" b="0">
                <a:solidFill>
                  <a:srgbClr val="12263A"/>
                </a:solidFill>
                <a:latin typeface="Arial"/>
                <a:ea typeface="Arial"/>
                <a:cs typeface="Arial"/>
              </a:rPr>
              <a:t>A model of action distributions. Training requires a suitable schema and a defined endpoint.</a:t>
            </a:r>
            <a:endParaRPr sz="1220"/>
          </a:p>
        </p:txBody>
      </p:sp>
      <p:sp>
        <p:nvSpPr>
          <p:cNvPr id="35" name="Text 33">
            <a:extLst xmlns:a="http://schemas.openxmlformats.org/drawingml/2006/main">
              <a:ext uri="{FF2B5EF4-FFF2-40B4-BE49-F238E27FC236}">
                <a16:creationId xmlns:a16="http://schemas.microsoft.com/office/drawing/2014/main" id="{B248A1A8-826D-4595-B176-CDA9FEAB5DFB}"/>
              </a:ext>
            </a:extLst>
          </p:cNvPr>
          <p:cNvSpPr>
            <a:spLocks xmlns:a="http://schemas.openxmlformats.org/drawingml/2006/main" noGrp="1"/>
          </p:cNvSpPr>
          <p:nvPr/>
        </p:nvSpPr>
        <p:spPr>
          <a:xfrm xmlns:a="http://schemas.openxmlformats.org/drawingml/2006/main">
            <a:off x="6066383" y="2168277"/>
            <a:ext cx="2734717" cy="2492722"/>
          </a:xfrm>
          <a:prstGeom xmlns:a="http://schemas.openxmlformats.org/drawingml/2006/main" prst="roundRect">
            <a:avLst>
              <a:gd name="adj" fmla="val 4076"/>
            </a:avLst>
          </a:prstGeom>
          <a:solidFill xmlns:a="http://schemas.openxmlformats.org/drawingml/2006/main">
            <a:srgbClr val="FFF8E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36" name="Shape 34">
            <a:extLst xmlns:a="http://schemas.openxmlformats.org/drawingml/2006/main">
              <a:ext uri="{FF2B5EF4-FFF2-40B4-BE49-F238E27FC236}">
                <a16:creationId xmlns:a16="http://schemas.microsoft.com/office/drawing/2014/main" id="{5538F239-9EA7-4622-AB87-BFBB09EBF7B2}"/>
              </a:ext>
            </a:extLst>
          </p:cNvPr>
          <p:cNvSpPr>
            <a:spLocks xmlns:a="http://schemas.openxmlformats.org/drawingml/2006/main" noGrp="1"/>
          </p:cNvSpPr>
          <p:nvPr/>
        </p:nvSpPr>
        <p:spPr>
          <a:xfrm xmlns:a="http://schemas.openxmlformats.org/drawingml/2006/main">
            <a:off x="6066383" y="2173039"/>
            <a:ext cx="2734717"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37" name="Shape 35">
            <a:extLst xmlns:a="http://schemas.openxmlformats.org/drawingml/2006/main">
              <a:ext uri="{FF2B5EF4-FFF2-40B4-BE49-F238E27FC236}">
                <a16:creationId xmlns:a16="http://schemas.microsoft.com/office/drawing/2014/main" id="{B544795C-D76B-4D05-9D7A-9D10FB0B7C1B}"/>
              </a:ext>
            </a:extLst>
          </p:cNvPr>
          <p:cNvSpPr>
            <a:spLocks xmlns:a="http://schemas.openxmlformats.org/drawingml/2006/main" noGrp="1"/>
          </p:cNvSpPr>
          <p:nvPr/>
        </p:nvSpPr>
        <p:spPr>
          <a:xfrm xmlns:a="http://schemas.openxmlformats.org/drawingml/2006/main">
            <a:off x="8796338" y="2168277"/>
            <a:ext cx="0" cy="2492722"/>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38" name="Shape 36">
            <a:extLst xmlns:a="http://schemas.openxmlformats.org/drawingml/2006/main">
              <a:ext uri="{FF2B5EF4-FFF2-40B4-BE49-F238E27FC236}">
                <a16:creationId xmlns:a16="http://schemas.microsoft.com/office/drawing/2014/main" id="{9139BD5E-CE45-4303-9621-BEC999BF4555}"/>
              </a:ext>
            </a:extLst>
          </p:cNvPr>
          <p:cNvSpPr>
            <a:spLocks xmlns:a="http://schemas.openxmlformats.org/drawingml/2006/main" noGrp="1"/>
          </p:cNvSpPr>
          <p:nvPr/>
        </p:nvSpPr>
        <p:spPr>
          <a:xfrm xmlns:a="http://schemas.openxmlformats.org/drawingml/2006/main">
            <a:off x="6066383" y="4656237"/>
            <a:ext cx="2734717"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39" name="Shape 37">
            <a:extLst xmlns:a="http://schemas.openxmlformats.org/drawingml/2006/main">
              <a:ext uri="{FF2B5EF4-FFF2-40B4-BE49-F238E27FC236}">
                <a16:creationId xmlns:a16="http://schemas.microsoft.com/office/drawing/2014/main" id="{A81DE6D3-7530-4FD3-9E13-96F48569E3DC}"/>
              </a:ext>
            </a:extLst>
          </p:cNvPr>
          <p:cNvSpPr>
            <a:spLocks xmlns:a="http://schemas.openxmlformats.org/drawingml/2006/main" noGrp="1"/>
          </p:cNvSpPr>
          <p:nvPr/>
        </p:nvSpPr>
        <p:spPr>
          <a:xfrm xmlns:a="http://schemas.openxmlformats.org/drawingml/2006/main">
            <a:off x="6094958" y="2168277"/>
            <a:ext cx="0" cy="2492722"/>
          </a:xfrm>
          <a:prstGeom xmlns:a="http://schemas.openxmlformats.org/drawingml/2006/main" prst="line">
            <a:avLst/>
          </a:prstGeom>
          <a:noFill xmlns:a="http://schemas.openxmlformats.org/drawingml/2006/main"/>
          <a:ln xmlns:a="http://schemas.openxmlformats.org/drawingml/2006/main" w="57150">
            <a:solidFill>
              <a:srgbClr val="E8A525"/>
            </a:solidFill>
            <a:prstDash val="solid"/>
          </a:ln>
        </p:spPr>
      </p:sp>
      <p:sp>
        <p:nvSpPr>
          <p:cNvPr id="40" name="Text 38">
            <a:extLst xmlns:a="http://schemas.openxmlformats.org/drawingml/2006/main">
              <a:ext uri="{FF2B5EF4-FFF2-40B4-BE49-F238E27FC236}">
                <a16:creationId xmlns:a16="http://schemas.microsoft.com/office/drawing/2014/main" id="{22CFE66F-1E7A-4138-A476-AD339ABD7E0D}"/>
              </a:ext>
            </a:extLst>
          </p:cNvPr>
          <p:cNvSpPr>
            <a:spLocks xmlns:a="http://schemas.openxmlformats.org/drawingml/2006/main" noGrp="1"/>
          </p:cNvSpPr>
          <p:nvPr/>
        </p:nvSpPr>
        <p:spPr>
          <a:xfrm xmlns:a="http://schemas.openxmlformats.org/drawingml/2006/main">
            <a:off x="6275933" y="2330202"/>
            <a:ext cx="2410507"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MimicGen</a:t>
            </a:r>
            <a:endParaRPr sz="1400"/>
          </a:p>
        </p:txBody>
      </p:sp>
      <p:sp>
        <p:nvSpPr>
          <p:cNvPr id="41" name="Text 39">
            <a:extLst xmlns:a="http://schemas.openxmlformats.org/drawingml/2006/main">
              <a:ext uri="{FF2B5EF4-FFF2-40B4-BE49-F238E27FC236}">
                <a16:creationId xmlns:a16="http://schemas.microsoft.com/office/drawing/2014/main" id="{D27D91F3-DAD6-481F-92BA-FA6BB1EA7558}"/>
              </a:ext>
            </a:extLst>
          </p:cNvPr>
          <p:cNvSpPr>
            <a:spLocks xmlns:a="http://schemas.openxmlformats.org/drawingml/2006/main" noGrp="1"/>
          </p:cNvSpPr>
          <p:nvPr/>
        </p:nvSpPr>
        <p:spPr>
          <a:xfrm xmlns:a="http://schemas.openxmlformats.org/drawingml/2006/main">
            <a:off x="6275933" y="2598093"/>
            <a:ext cx="2410507" cy="57596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513"/>
              </a:lnSpc>
              <a:buNone/>
              <a:defRPr sz="1220" b="0">
                <a:solidFill>
                  <a:srgbClr val="12263A"/>
                </a:solidFill>
                <a:latin typeface="Arial"/>
                <a:ea typeface="Arial"/>
                <a:cs typeface="Arial"/>
              </a:defRPr>
            </a:pPr>
            <a:r>
              <a:rPr sz="1220" b="0">
                <a:solidFill>
                  <a:srgbClr val="12263A"/>
                </a:solidFill>
                <a:latin typeface="Arial"/>
                <a:ea typeface="Arial"/>
                <a:cs typeface="Arial"/>
              </a:rPr>
              <a:t>A precedent for object-relative demonstration generation. Examine sensitivity to pose noise.</a:t>
            </a:r>
            <a:endParaRPr sz="1220"/>
          </a:p>
        </p:txBody>
      </p:sp>
      <p:sp>
        <p:nvSpPr>
          <p:cNvPr id="42" name="Text 40">
            <a:extLst xmlns:a="http://schemas.openxmlformats.org/drawingml/2006/main">
              <a:ext uri="{FF2B5EF4-FFF2-40B4-BE49-F238E27FC236}">
                <a16:creationId xmlns:a16="http://schemas.microsoft.com/office/drawing/2014/main" id="{C02BDE8B-6518-4343-AE2C-B690EAB601E6}"/>
              </a:ext>
            </a:extLst>
          </p:cNvPr>
          <p:cNvSpPr>
            <a:spLocks xmlns:a="http://schemas.openxmlformats.org/drawingml/2006/main" noGrp="1"/>
          </p:cNvSpPr>
          <p:nvPr/>
        </p:nvSpPr>
        <p:spPr>
          <a:xfrm xmlns:a="http://schemas.openxmlformats.org/drawingml/2006/main">
            <a:off x="8339328" y="4965192"/>
            <a:ext cx="502920"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60">
                <a:solidFill>
                  <a:srgbClr val="7A8794"/>
                </a:solidFill>
                <a:latin typeface="Arial"/>
                <a:ea typeface="Arial"/>
                <a:cs typeface="Arial"/>
              </a:rPr>
              <a:t>11 / 31</a:t>
            </a:r>
            <a:endParaRPr sz="660"/>
          </a:p>
        </p:txBody>
      </p:sp>
      <p:sp>
        <p:nvSpPr>
          <p:cNvPr id="43" name="Sources footer">
            <a:extLst xmlns:a="http://schemas.openxmlformats.org/drawingml/2006/main">
              <a:ext uri="{FF2B5EF4-FFF2-40B4-BE49-F238E27FC236}">
                <a16:creationId xmlns:a16="http://schemas.microsoft.com/office/drawing/2014/main" id="{DF007240-2DF9-4707-AB65-34BA9458C611}"/>
              </a:ext>
            </a:extLst>
          </p:cNvPr>
          <p:cNvSpPr>
            <a:spLocks xmlns:a="http://schemas.openxmlformats.org/drawingml/2006/main" noGrp="1"/>
          </p:cNvSpPr>
          <p:nvPr/>
        </p:nvSpPr>
        <p:spPr>
          <a:xfrm xmlns:a="http://schemas.openxmlformats.org/drawingml/2006/main">
            <a:off x="438150" y="4924425"/>
            <a:ext cx="72961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40" b="0">
                <a:solidFill>
                  <a:srgbClr val="234D78"/>
                </a:solidFill>
                <a:latin typeface="Arial"/>
                <a:ea typeface="Arial"/>
                <a:cs typeface="Arial"/>
              </a:defRPr>
            </a:pPr>
            <a:r>
              <a:rPr sz="640" b="0">
                <a:solidFill>
                  <a:srgbClr val="234D78"/>
                </a:solidFill>
                <a:latin typeface="Arial"/>
                <a:ea typeface="Arial"/>
                <a:cs typeface="Arial"/>
                <a:hlinkClick xmlns:r="http://schemas.openxmlformats.org/officeDocument/2006/relationships" r:id="Rc7e8dd236e76401a"/>
              </a:rPr>
              <a:t>Reader guide and sources</a:t>
            </a:r>
          </a:p>
        </p:txBody>
      </p:sp>
    </p:spTree>
    <p:extLst>
      <p:ext uri="{BB962C8B-B14F-4D97-AF65-F5344CB8AC3E}">
        <p14:creationId xmlns:p14="http://schemas.microsoft.com/office/powerpoint/2010/main" val="95421269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29928AE-EBF1-4B2D-AA26-F6D8C1274348}"/>
              </a:ext>
            </a:extLst>
          </p:cNvPr>
          <p:cNvSpPr>
            <a:spLocks xmlns:a="http://schemas.openxmlformats.org/drawingml/2006/main" noGrp="1"/>
          </p:cNvSpPr>
          <p:nvPr/>
        </p:nvSpPr>
        <p:spPr>
          <a:xfrm xmlns:a="http://schemas.openxmlformats.org/drawingml/2006/main">
            <a:off x="0" y="0"/>
            <a:ext cx="9144000" cy="609600"/>
          </a:xfrm>
          <a:prstGeom xmlns:a="http://schemas.openxmlformats.org/drawingml/2006/main" prst="rect">
            <a:avLst/>
          </a:prstGeom>
          <a:solidFill xmlns:a="http://schemas.openxmlformats.org/drawingml/2006/main">
            <a:srgbClr val="234D7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3" name="Text 1">
            <a:extLst xmlns:a="http://schemas.openxmlformats.org/drawingml/2006/main">
              <a:ext uri="{FF2B5EF4-FFF2-40B4-BE49-F238E27FC236}">
                <a16:creationId xmlns:a16="http://schemas.microsoft.com/office/drawing/2014/main" id="{8D54667D-52E1-45B5-A841-CB101FFA41B9}"/>
              </a:ext>
            </a:extLst>
          </p:cNvPr>
          <p:cNvSpPr>
            <a:spLocks xmlns:a="http://schemas.openxmlformats.org/drawingml/2006/main" noGrp="1"/>
          </p:cNvSpPr>
          <p:nvPr/>
        </p:nvSpPr>
        <p:spPr>
          <a:xfrm xmlns:a="http://schemas.openxmlformats.org/drawingml/2006/main">
            <a:off x="330136" y="164116"/>
            <a:ext cx="6619875" cy="3238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2415"/>
              </a:lnSpc>
              <a:buNone/>
              <a:defRPr sz="2300" b="1">
                <a:solidFill>
                  <a:srgbClr val="FFFFFF"/>
                </a:solidFill>
                <a:latin typeface="Arial"/>
                <a:ea typeface="Arial"/>
                <a:cs typeface="Arial"/>
              </a:defRPr>
            </a:pPr>
            <a:r>
              <a:rPr sz="2300" b="1">
                <a:solidFill>
                  <a:srgbClr val="FFFFFF"/>
                </a:solidFill>
                <a:latin typeface="Arial"/>
                <a:ea typeface="Arial"/>
                <a:cs typeface="Arial"/>
              </a:rPr>
              <a:t>Evidence cards for primary papers</a:t>
            </a:r>
            <a:endParaRPr sz="2300"/>
          </a:p>
        </p:txBody>
      </p:sp>
      <p:sp>
        <p:nvSpPr>
          <p:cNvPr id="4" name="Text 2">
            <a:extLst xmlns:a="http://schemas.openxmlformats.org/drawingml/2006/main">
              <a:ext uri="{FF2B5EF4-FFF2-40B4-BE49-F238E27FC236}">
                <a16:creationId xmlns:a16="http://schemas.microsoft.com/office/drawing/2014/main" id="{4F6845E7-E6D1-4507-BB48-58C15A130474}"/>
              </a:ext>
            </a:extLst>
          </p:cNvPr>
          <p:cNvSpPr>
            <a:spLocks xmlns:a="http://schemas.openxmlformats.org/drawingml/2006/main" noGrp="1"/>
          </p:cNvSpPr>
          <p:nvPr/>
        </p:nvSpPr>
        <p:spPr>
          <a:xfrm xmlns:a="http://schemas.openxmlformats.org/drawingml/2006/main">
            <a:off x="7372350" y="190500"/>
            <a:ext cx="14478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r">
              <a:lnSpc>
                <a:spcPts val="1054"/>
              </a:lnSpc>
              <a:buNone/>
              <a:defRPr sz="788" b="1">
                <a:solidFill>
                  <a:srgbClr val="FFFFFF"/>
                </a:solidFill>
                <a:latin typeface="Arial"/>
                <a:ea typeface="Arial"/>
                <a:cs typeface="Arial"/>
              </a:defRPr>
            </a:pPr>
            <a:r>
              <a:rPr sz="788" b="1">
                <a:solidFill>
                  <a:srgbClr val="FFFFFF"/>
                </a:solidFill>
                <a:latin typeface="Arial"/>
                <a:ea typeface="Arial"/>
                <a:cs typeface="Arial"/>
              </a:rPr>
              <a:t>CS CAPSTONE REFERENCE</a:t>
            </a:r>
            <a:endParaRPr sz="850"/>
          </a:p>
        </p:txBody>
      </p:sp>
      <p:sp>
        <p:nvSpPr>
          <p:cNvPr id="5" name="Text 3">
            <a:extLst xmlns:a="http://schemas.openxmlformats.org/drawingml/2006/main">
              <a:ext uri="{FF2B5EF4-FFF2-40B4-BE49-F238E27FC236}">
                <a16:creationId xmlns:a16="http://schemas.microsoft.com/office/drawing/2014/main" id="{4C02F917-8D40-41FE-9E67-17EFE66600CC}"/>
              </a:ext>
            </a:extLst>
          </p:cNvPr>
          <p:cNvSpPr>
            <a:spLocks xmlns:a="http://schemas.openxmlformats.org/drawingml/2006/main" noGrp="1"/>
          </p:cNvSpPr>
          <p:nvPr/>
        </p:nvSpPr>
        <p:spPr>
          <a:xfrm xmlns:a="http://schemas.openxmlformats.org/drawingml/2006/main">
            <a:off x="330101" y="609600"/>
            <a:ext cx="787301" cy="38100"/>
          </a:xfrm>
          <a:prstGeom xmlns:a="http://schemas.openxmlformats.org/drawingml/2006/main" prst="rect">
            <a:avLst/>
          </a:prstGeom>
          <a:solidFill xmlns:a="http://schemas.openxmlformats.org/drawingml/2006/main">
            <a:srgbClr val="D63B4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6" name="Text 4">
            <a:extLst xmlns:a="http://schemas.openxmlformats.org/drawingml/2006/main">
              <a:ext uri="{FF2B5EF4-FFF2-40B4-BE49-F238E27FC236}">
                <a16:creationId xmlns:a16="http://schemas.microsoft.com/office/drawing/2014/main" id="{0FD34FDE-C5B2-48EB-918E-874A9789AA06}"/>
              </a:ext>
            </a:extLst>
          </p:cNvPr>
          <p:cNvSpPr>
            <a:spLocks xmlns:a="http://schemas.openxmlformats.org/drawingml/2006/main" noGrp="1"/>
          </p:cNvSpPr>
          <p:nvPr/>
        </p:nvSpPr>
        <p:spPr>
          <a:xfrm xmlns:a="http://schemas.openxmlformats.org/drawingml/2006/main">
            <a:off x="342900" y="850850"/>
            <a:ext cx="2734717" cy="1847850"/>
          </a:xfrm>
          <a:prstGeom xmlns:a="http://schemas.openxmlformats.org/drawingml/2006/main" prst="roundRect">
            <a:avLst>
              <a:gd name="adj" fmla="val 5498"/>
            </a:avLst>
          </a:prstGeom>
          <a:solidFill xmlns:a="http://schemas.openxmlformats.org/drawingml/2006/main">
            <a:srgbClr val="F7F9FC"/>
          </a:solidFill>
          <a:ln xmlns:a="http://schemas.openxmlformats.org/drawingml/2006/main" w="9525">
            <a:solidFill>
              <a:srgbClr val="CAD6E2"/>
            </a:solidFill>
          </a:ln>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7" name="Text 5">
            <a:extLst xmlns:a="http://schemas.openxmlformats.org/drawingml/2006/main">
              <a:ext uri="{FF2B5EF4-FFF2-40B4-BE49-F238E27FC236}">
                <a16:creationId xmlns:a16="http://schemas.microsoft.com/office/drawing/2014/main" id="{A12BDC0D-824C-48AA-A74E-9D69D4FDD870}"/>
              </a:ext>
            </a:extLst>
          </p:cNvPr>
          <p:cNvSpPr>
            <a:spLocks xmlns:a="http://schemas.openxmlformats.org/drawingml/2006/main" noGrp="1"/>
          </p:cNvSpPr>
          <p:nvPr/>
        </p:nvSpPr>
        <p:spPr>
          <a:xfrm xmlns:a="http://schemas.openxmlformats.org/drawingml/2006/main">
            <a:off x="504825" y="1012775"/>
            <a:ext cx="2459084" cy="3174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500"/>
              </a:lnSpc>
              <a:spcAft>
                <a:spcPts val="500"/>
              </a:spcAft>
              <a:buNone/>
            </a:pPr>
            <a:r>
              <a:rPr sz="2500" b="1">
                <a:solidFill>
                  <a:srgbClr val="234D78"/>
                </a:solidFill>
                <a:latin typeface="Arial"/>
                <a:ea typeface="Arial"/>
                <a:cs typeface="Arial"/>
              </a:rPr>
              <a:t>1</a:t>
            </a:r>
            <a:endParaRPr sz="2500"/>
          </a:p>
        </p:txBody>
      </p:sp>
      <p:sp>
        <p:nvSpPr>
          <p:cNvPr id="8" name="Text 6">
            <a:extLst xmlns:a="http://schemas.openxmlformats.org/drawingml/2006/main">
              <a:ext uri="{FF2B5EF4-FFF2-40B4-BE49-F238E27FC236}">
                <a16:creationId xmlns:a16="http://schemas.microsoft.com/office/drawing/2014/main" id="{AEED5BFF-7531-47BB-9F39-D6EFFA915489}"/>
              </a:ext>
            </a:extLst>
          </p:cNvPr>
          <p:cNvSpPr>
            <a:spLocks xmlns:a="http://schemas.openxmlformats.org/drawingml/2006/main" noGrp="1"/>
          </p:cNvSpPr>
          <p:nvPr/>
        </p:nvSpPr>
        <p:spPr>
          <a:xfrm xmlns:a="http://schemas.openxmlformats.org/drawingml/2006/main">
            <a:off x="504825" y="1393627"/>
            <a:ext cx="2459084"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Input</a:t>
            </a:r>
            <a:endParaRPr sz="1400"/>
          </a:p>
        </p:txBody>
      </p:sp>
      <p:sp>
        <p:nvSpPr>
          <p:cNvPr id="9" name="Text 7">
            <a:extLst xmlns:a="http://schemas.openxmlformats.org/drawingml/2006/main">
              <a:ext uri="{FF2B5EF4-FFF2-40B4-BE49-F238E27FC236}">
                <a16:creationId xmlns:a16="http://schemas.microsoft.com/office/drawing/2014/main" id="{1428FC82-1C8F-4E09-9C4C-B8344C6002E6}"/>
              </a:ext>
            </a:extLst>
          </p:cNvPr>
          <p:cNvSpPr>
            <a:spLocks xmlns:a="http://schemas.openxmlformats.org/drawingml/2006/main" noGrp="1"/>
          </p:cNvSpPr>
          <p:nvPr/>
        </p:nvSpPr>
        <p:spPr>
          <a:xfrm xmlns:a="http://schemas.openxmlformats.org/drawingml/2006/main">
            <a:off x="504825" y="1661517"/>
            <a:ext cx="2459084" cy="383977"/>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513"/>
              </a:lnSpc>
              <a:buNone/>
              <a:defRPr sz="1220" b="0">
                <a:solidFill>
                  <a:srgbClr val="12263A"/>
                </a:solidFill>
                <a:latin typeface="Arial"/>
                <a:ea typeface="Arial"/>
                <a:cs typeface="Arial"/>
              </a:defRPr>
            </a:pPr>
            <a:r>
              <a:rPr sz="1220" b="0">
                <a:solidFill>
                  <a:srgbClr val="12263A"/>
                </a:solidFill>
                <a:latin typeface="Arial"/>
                <a:ea typeface="Arial"/>
                <a:cs typeface="Arial"/>
              </a:rPr>
              <a:t>RGB, depth, or robot state? What establishes scale and calibration?</a:t>
            </a:r>
            <a:endParaRPr sz="1220"/>
          </a:p>
        </p:txBody>
      </p:sp>
      <p:sp>
        <p:nvSpPr>
          <p:cNvPr id="10" name="Text 8">
            <a:extLst xmlns:a="http://schemas.openxmlformats.org/drawingml/2006/main">
              <a:ext uri="{FF2B5EF4-FFF2-40B4-BE49-F238E27FC236}">
                <a16:creationId xmlns:a16="http://schemas.microsoft.com/office/drawing/2014/main" id="{A5E975F8-5113-44E9-80AB-25D44C0565B4}"/>
              </a:ext>
            </a:extLst>
          </p:cNvPr>
          <p:cNvSpPr>
            <a:spLocks xmlns:a="http://schemas.openxmlformats.org/drawingml/2006/main" noGrp="1"/>
          </p:cNvSpPr>
          <p:nvPr/>
        </p:nvSpPr>
        <p:spPr>
          <a:xfrm xmlns:a="http://schemas.openxmlformats.org/drawingml/2006/main">
            <a:off x="3204567" y="850850"/>
            <a:ext cx="2734866" cy="1847850"/>
          </a:xfrm>
          <a:prstGeom xmlns:a="http://schemas.openxmlformats.org/drawingml/2006/main" prst="roundRect">
            <a:avLst>
              <a:gd name="adj" fmla="val 5498"/>
            </a:avLst>
          </a:prstGeom>
          <a:solidFill xmlns:a="http://schemas.openxmlformats.org/drawingml/2006/main">
            <a:srgbClr val="F7F9FC"/>
          </a:solidFill>
          <a:ln xmlns:a="http://schemas.openxmlformats.org/drawingml/2006/main" w="9525">
            <a:solidFill>
              <a:srgbClr val="CAD6E2"/>
            </a:solidFill>
          </a:ln>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11" name="Text 9">
            <a:extLst xmlns:a="http://schemas.openxmlformats.org/drawingml/2006/main">
              <a:ext uri="{FF2B5EF4-FFF2-40B4-BE49-F238E27FC236}">
                <a16:creationId xmlns:a16="http://schemas.microsoft.com/office/drawing/2014/main" id="{65816ABF-2F8F-487A-8021-F308004BB06D}"/>
              </a:ext>
            </a:extLst>
          </p:cNvPr>
          <p:cNvSpPr>
            <a:spLocks xmlns:a="http://schemas.openxmlformats.org/drawingml/2006/main" noGrp="1"/>
          </p:cNvSpPr>
          <p:nvPr/>
        </p:nvSpPr>
        <p:spPr>
          <a:xfrm xmlns:a="http://schemas.openxmlformats.org/drawingml/2006/main">
            <a:off x="3366492" y="1012775"/>
            <a:ext cx="2459236" cy="3174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500"/>
              </a:lnSpc>
              <a:spcAft>
                <a:spcPts val="500"/>
              </a:spcAft>
              <a:buNone/>
            </a:pPr>
            <a:r>
              <a:rPr sz="2500" b="1">
                <a:solidFill>
                  <a:srgbClr val="234D78"/>
                </a:solidFill>
                <a:latin typeface="Arial"/>
                <a:ea typeface="Arial"/>
                <a:cs typeface="Arial"/>
              </a:rPr>
              <a:t>2</a:t>
            </a:r>
            <a:endParaRPr sz="2500"/>
          </a:p>
        </p:txBody>
      </p:sp>
      <p:sp>
        <p:nvSpPr>
          <p:cNvPr id="12" name="Text 10">
            <a:extLst xmlns:a="http://schemas.openxmlformats.org/drawingml/2006/main">
              <a:ext uri="{FF2B5EF4-FFF2-40B4-BE49-F238E27FC236}">
                <a16:creationId xmlns:a16="http://schemas.microsoft.com/office/drawing/2014/main" id="{DCF8C9B5-8F10-46EC-8D7E-6C1762BFE7AA}"/>
              </a:ext>
            </a:extLst>
          </p:cNvPr>
          <p:cNvSpPr>
            <a:spLocks xmlns:a="http://schemas.openxmlformats.org/drawingml/2006/main" noGrp="1"/>
          </p:cNvSpPr>
          <p:nvPr/>
        </p:nvSpPr>
        <p:spPr>
          <a:xfrm xmlns:a="http://schemas.openxmlformats.org/drawingml/2006/main">
            <a:off x="3366492" y="1393627"/>
            <a:ext cx="2459236"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Output</a:t>
            </a:r>
            <a:endParaRPr sz="1400"/>
          </a:p>
        </p:txBody>
      </p:sp>
      <p:sp>
        <p:nvSpPr>
          <p:cNvPr id="13" name="Text 11">
            <a:extLst xmlns:a="http://schemas.openxmlformats.org/drawingml/2006/main">
              <a:ext uri="{FF2B5EF4-FFF2-40B4-BE49-F238E27FC236}">
                <a16:creationId xmlns:a16="http://schemas.microsoft.com/office/drawing/2014/main" id="{4E98C15C-56E3-4121-A8F0-D7C438BF95CA}"/>
              </a:ext>
            </a:extLst>
          </p:cNvPr>
          <p:cNvSpPr>
            <a:spLocks xmlns:a="http://schemas.openxmlformats.org/drawingml/2006/main" noGrp="1"/>
          </p:cNvSpPr>
          <p:nvPr/>
        </p:nvSpPr>
        <p:spPr>
          <a:xfrm xmlns:a="http://schemas.openxmlformats.org/drawingml/2006/main">
            <a:off x="3366492" y="1661517"/>
            <a:ext cx="2459236" cy="383977"/>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513"/>
              </a:lnSpc>
              <a:buNone/>
              <a:defRPr sz="1220" b="0">
                <a:solidFill>
                  <a:srgbClr val="12263A"/>
                </a:solidFill>
                <a:latin typeface="Arial"/>
                <a:ea typeface="Arial"/>
                <a:cs typeface="Arial"/>
              </a:defRPr>
            </a:pPr>
            <a:r>
              <a:rPr sz="1220" b="0">
                <a:solidFill>
                  <a:srgbClr val="12263A"/>
                </a:solidFill>
                <a:latin typeface="Arial"/>
                <a:ea typeface="Arial"/>
                <a:cs typeface="Arial"/>
              </a:rPr>
              <a:t>Object pose, TCP trajectory, joint action, or learned policy?</a:t>
            </a:r>
            <a:endParaRPr sz="1220"/>
          </a:p>
        </p:txBody>
      </p:sp>
      <p:sp>
        <p:nvSpPr>
          <p:cNvPr id="14" name="Text 12">
            <a:extLst xmlns:a="http://schemas.openxmlformats.org/drawingml/2006/main">
              <a:ext uri="{FF2B5EF4-FFF2-40B4-BE49-F238E27FC236}">
                <a16:creationId xmlns:a16="http://schemas.microsoft.com/office/drawing/2014/main" id="{7410EBED-DCF3-4A55-919B-A9B332A33AD8}"/>
              </a:ext>
            </a:extLst>
          </p:cNvPr>
          <p:cNvSpPr>
            <a:spLocks xmlns:a="http://schemas.openxmlformats.org/drawingml/2006/main" noGrp="1"/>
          </p:cNvSpPr>
          <p:nvPr/>
        </p:nvSpPr>
        <p:spPr>
          <a:xfrm xmlns:a="http://schemas.openxmlformats.org/drawingml/2006/main">
            <a:off x="6066383" y="850850"/>
            <a:ext cx="2734717" cy="1847850"/>
          </a:xfrm>
          <a:prstGeom xmlns:a="http://schemas.openxmlformats.org/drawingml/2006/main" prst="roundRect">
            <a:avLst>
              <a:gd name="adj" fmla="val 5498"/>
            </a:avLst>
          </a:prstGeom>
          <a:solidFill xmlns:a="http://schemas.openxmlformats.org/drawingml/2006/main">
            <a:srgbClr val="F7F9FC"/>
          </a:solidFill>
          <a:ln xmlns:a="http://schemas.openxmlformats.org/drawingml/2006/main" w="9525">
            <a:solidFill>
              <a:srgbClr val="CAD6E2"/>
            </a:solidFill>
          </a:ln>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15" name="Text 13">
            <a:extLst xmlns:a="http://schemas.openxmlformats.org/drawingml/2006/main">
              <a:ext uri="{FF2B5EF4-FFF2-40B4-BE49-F238E27FC236}">
                <a16:creationId xmlns:a16="http://schemas.microsoft.com/office/drawing/2014/main" id="{7C5F8AA4-17BE-4F06-8FCC-FC0CC0AF62D7}"/>
              </a:ext>
            </a:extLst>
          </p:cNvPr>
          <p:cNvSpPr>
            <a:spLocks xmlns:a="http://schemas.openxmlformats.org/drawingml/2006/main" noGrp="1"/>
          </p:cNvSpPr>
          <p:nvPr/>
        </p:nvSpPr>
        <p:spPr>
          <a:xfrm xmlns:a="http://schemas.openxmlformats.org/drawingml/2006/main">
            <a:off x="6228308" y="1012775"/>
            <a:ext cx="2459084" cy="3174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500"/>
              </a:lnSpc>
              <a:spcAft>
                <a:spcPts val="500"/>
              </a:spcAft>
              <a:buNone/>
            </a:pPr>
            <a:r>
              <a:rPr sz="2500" b="1">
                <a:solidFill>
                  <a:srgbClr val="234D78"/>
                </a:solidFill>
                <a:latin typeface="Arial"/>
                <a:ea typeface="Arial"/>
                <a:cs typeface="Arial"/>
              </a:rPr>
              <a:t>3</a:t>
            </a:r>
            <a:endParaRPr sz="2500"/>
          </a:p>
        </p:txBody>
      </p:sp>
      <p:sp>
        <p:nvSpPr>
          <p:cNvPr id="16" name="Text 14">
            <a:extLst xmlns:a="http://schemas.openxmlformats.org/drawingml/2006/main">
              <a:ext uri="{FF2B5EF4-FFF2-40B4-BE49-F238E27FC236}">
                <a16:creationId xmlns:a16="http://schemas.microsoft.com/office/drawing/2014/main" id="{3150DEE2-B3D4-4449-841A-F5D93A0A84DB}"/>
              </a:ext>
            </a:extLst>
          </p:cNvPr>
          <p:cNvSpPr>
            <a:spLocks xmlns:a="http://schemas.openxmlformats.org/drawingml/2006/main" noGrp="1"/>
          </p:cNvSpPr>
          <p:nvPr/>
        </p:nvSpPr>
        <p:spPr>
          <a:xfrm xmlns:a="http://schemas.openxmlformats.org/drawingml/2006/main">
            <a:off x="6228308" y="1393627"/>
            <a:ext cx="2459084"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Representation</a:t>
            </a:r>
            <a:endParaRPr sz="1400"/>
          </a:p>
        </p:txBody>
      </p:sp>
      <p:sp>
        <p:nvSpPr>
          <p:cNvPr id="17" name="Text 15">
            <a:extLst xmlns:a="http://schemas.openxmlformats.org/drawingml/2006/main">
              <a:ext uri="{FF2B5EF4-FFF2-40B4-BE49-F238E27FC236}">
                <a16:creationId xmlns:a16="http://schemas.microsoft.com/office/drawing/2014/main" id="{743D4510-C8CE-4272-8E29-52716752AB27}"/>
              </a:ext>
            </a:extLst>
          </p:cNvPr>
          <p:cNvSpPr>
            <a:spLocks xmlns:a="http://schemas.openxmlformats.org/drawingml/2006/main" noGrp="1"/>
          </p:cNvSpPr>
          <p:nvPr/>
        </p:nvSpPr>
        <p:spPr>
          <a:xfrm xmlns:a="http://schemas.openxmlformats.org/drawingml/2006/main">
            <a:off x="6228308" y="1661517"/>
            <a:ext cx="2459084" cy="383977"/>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513"/>
              </a:lnSpc>
              <a:buNone/>
              <a:defRPr sz="1220" b="0">
                <a:solidFill>
                  <a:srgbClr val="12263A"/>
                </a:solidFill>
                <a:latin typeface="Arial"/>
                <a:ea typeface="Arial"/>
                <a:cs typeface="Arial"/>
              </a:defRPr>
            </a:pPr>
            <a:r>
              <a:rPr sz="1220" b="0">
                <a:solidFill>
                  <a:srgbClr val="12263A"/>
                </a:solidFill>
                <a:latin typeface="Arial"/>
                <a:ea typeface="Arial"/>
                <a:cs typeface="Arial"/>
              </a:rPr>
              <a:t>How does the representation preserve contact or task intent?</a:t>
            </a:r>
            <a:endParaRPr sz="1220"/>
          </a:p>
        </p:txBody>
      </p:sp>
      <p:sp>
        <p:nvSpPr>
          <p:cNvPr id="18" name="Text 16">
            <a:extLst xmlns:a="http://schemas.openxmlformats.org/drawingml/2006/main">
              <a:ext uri="{FF2B5EF4-FFF2-40B4-BE49-F238E27FC236}">
                <a16:creationId xmlns:a16="http://schemas.microsoft.com/office/drawing/2014/main" id="{189641AB-534F-46B4-AD53-DDB56E52DD4B}"/>
              </a:ext>
            </a:extLst>
          </p:cNvPr>
          <p:cNvSpPr>
            <a:spLocks xmlns:a="http://schemas.openxmlformats.org/drawingml/2006/main" noGrp="1"/>
          </p:cNvSpPr>
          <p:nvPr/>
        </p:nvSpPr>
        <p:spPr>
          <a:xfrm xmlns:a="http://schemas.openxmlformats.org/drawingml/2006/main">
            <a:off x="342900" y="2813000"/>
            <a:ext cx="2734717" cy="1847999"/>
          </a:xfrm>
          <a:prstGeom xmlns:a="http://schemas.openxmlformats.org/drawingml/2006/main" prst="roundRect">
            <a:avLst>
              <a:gd name="adj" fmla="val 5498"/>
            </a:avLst>
          </a:prstGeom>
          <a:solidFill xmlns:a="http://schemas.openxmlformats.org/drawingml/2006/main">
            <a:srgbClr val="F7F9FC"/>
          </a:solidFill>
          <a:ln xmlns:a="http://schemas.openxmlformats.org/drawingml/2006/main" w="9525">
            <a:solidFill>
              <a:srgbClr val="CAD6E2"/>
            </a:solidFill>
          </a:ln>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19" name="Text 17">
            <a:extLst xmlns:a="http://schemas.openxmlformats.org/drawingml/2006/main">
              <a:ext uri="{FF2B5EF4-FFF2-40B4-BE49-F238E27FC236}">
                <a16:creationId xmlns:a16="http://schemas.microsoft.com/office/drawing/2014/main" id="{B70536E4-DFFA-4803-9FA7-6FEE50A1A3B3}"/>
              </a:ext>
            </a:extLst>
          </p:cNvPr>
          <p:cNvSpPr>
            <a:spLocks xmlns:a="http://schemas.openxmlformats.org/drawingml/2006/main" noGrp="1"/>
          </p:cNvSpPr>
          <p:nvPr/>
        </p:nvSpPr>
        <p:spPr>
          <a:xfrm xmlns:a="http://schemas.openxmlformats.org/drawingml/2006/main">
            <a:off x="504825" y="2974925"/>
            <a:ext cx="2459084" cy="3174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500"/>
              </a:lnSpc>
              <a:spcAft>
                <a:spcPts val="500"/>
              </a:spcAft>
              <a:buNone/>
            </a:pPr>
            <a:r>
              <a:rPr sz="2500" b="1">
                <a:solidFill>
                  <a:srgbClr val="234D78"/>
                </a:solidFill>
                <a:latin typeface="Arial"/>
                <a:ea typeface="Arial"/>
                <a:cs typeface="Arial"/>
              </a:rPr>
              <a:t>4</a:t>
            </a:r>
            <a:endParaRPr sz="2500"/>
          </a:p>
        </p:txBody>
      </p:sp>
      <p:sp>
        <p:nvSpPr>
          <p:cNvPr id="20" name="Text 18">
            <a:extLst xmlns:a="http://schemas.openxmlformats.org/drawingml/2006/main">
              <a:ext uri="{FF2B5EF4-FFF2-40B4-BE49-F238E27FC236}">
                <a16:creationId xmlns:a16="http://schemas.microsoft.com/office/drawing/2014/main" id="{E9EC6F21-356A-4DA3-8247-AF420B418365}"/>
              </a:ext>
            </a:extLst>
          </p:cNvPr>
          <p:cNvSpPr>
            <a:spLocks xmlns:a="http://schemas.openxmlformats.org/drawingml/2006/main" noGrp="1"/>
          </p:cNvSpPr>
          <p:nvPr/>
        </p:nvSpPr>
        <p:spPr>
          <a:xfrm xmlns:a="http://schemas.openxmlformats.org/drawingml/2006/main">
            <a:off x="504825" y="3355777"/>
            <a:ext cx="2459084"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Human cost</a:t>
            </a:r>
            <a:endParaRPr sz="1400"/>
          </a:p>
        </p:txBody>
      </p:sp>
      <p:sp>
        <p:nvSpPr>
          <p:cNvPr id="21" name="Text 19">
            <a:extLst xmlns:a="http://schemas.openxmlformats.org/drawingml/2006/main">
              <a:ext uri="{FF2B5EF4-FFF2-40B4-BE49-F238E27FC236}">
                <a16:creationId xmlns:a16="http://schemas.microsoft.com/office/drawing/2014/main" id="{E9BD3152-AEEC-42B7-8623-9A35CD969B20}"/>
              </a:ext>
            </a:extLst>
          </p:cNvPr>
          <p:cNvSpPr>
            <a:spLocks xmlns:a="http://schemas.openxmlformats.org/drawingml/2006/main" noGrp="1"/>
          </p:cNvSpPr>
          <p:nvPr/>
        </p:nvSpPr>
        <p:spPr>
          <a:xfrm xmlns:a="http://schemas.openxmlformats.org/drawingml/2006/main">
            <a:off x="504825" y="3623667"/>
            <a:ext cx="2459084" cy="57596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513"/>
              </a:lnSpc>
              <a:buNone/>
              <a:defRPr sz="1220" b="0">
                <a:solidFill>
                  <a:srgbClr val="12263A"/>
                </a:solidFill>
                <a:latin typeface="Arial"/>
                <a:ea typeface="Arial"/>
                <a:cs typeface="Arial"/>
              </a:defRPr>
            </a:pPr>
            <a:r>
              <a:rPr sz="1220" b="0">
                <a:solidFill>
                  <a:srgbClr val="12263A"/>
                </a:solidFill>
                <a:latin typeface="Arial"/>
                <a:ea typeface="Arial"/>
                <a:cs typeface="Arial"/>
              </a:rPr>
              <a:t>Who reviews, selects, and edits? Is the budget actions, samples, or seconds?</a:t>
            </a:r>
            <a:endParaRPr sz="1220"/>
          </a:p>
        </p:txBody>
      </p:sp>
      <p:sp>
        <p:nvSpPr>
          <p:cNvPr id="22" name="Text 20">
            <a:extLst xmlns:a="http://schemas.openxmlformats.org/drawingml/2006/main">
              <a:ext uri="{FF2B5EF4-FFF2-40B4-BE49-F238E27FC236}">
                <a16:creationId xmlns:a16="http://schemas.microsoft.com/office/drawing/2014/main" id="{B6693458-FA40-49D9-8F09-3FF167512E06}"/>
              </a:ext>
            </a:extLst>
          </p:cNvPr>
          <p:cNvSpPr>
            <a:spLocks xmlns:a="http://schemas.openxmlformats.org/drawingml/2006/main" noGrp="1"/>
          </p:cNvSpPr>
          <p:nvPr/>
        </p:nvSpPr>
        <p:spPr>
          <a:xfrm xmlns:a="http://schemas.openxmlformats.org/drawingml/2006/main">
            <a:off x="3204567" y="2813000"/>
            <a:ext cx="2734866" cy="1847999"/>
          </a:xfrm>
          <a:prstGeom xmlns:a="http://schemas.openxmlformats.org/drawingml/2006/main" prst="roundRect">
            <a:avLst>
              <a:gd name="adj" fmla="val 5498"/>
            </a:avLst>
          </a:prstGeom>
          <a:solidFill xmlns:a="http://schemas.openxmlformats.org/drawingml/2006/main">
            <a:srgbClr val="F7F9FC"/>
          </a:solidFill>
          <a:ln xmlns:a="http://schemas.openxmlformats.org/drawingml/2006/main" w="9525">
            <a:solidFill>
              <a:srgbClr val="CAD6E2"/>
            </a:solidFill>
          </a:ln>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23" name="Text 21">
            <a:extLst xmlns:a="http://schemas.openxmlformats.org/drawingml/2006/main">
              <a:ext uri="{FF2B5EF4-FFF2-40B4-BE49-F238E27FC236}">
                <a16:creationId xmlns:a16="http://schemas.microsoft.com/office/drawing/2014/main" id="{9EB66F8A-240F-4F59-B020-3910835D568B}"/>
              </a:ext>
            </a:extLst>
          </p:cNvPr>
          <p:cNvSpPr>
            <a:spLocks xmlns:a="http://schemas.openxmlformats.org/drawingml/2006/main" noGrp="1"/>
          </p:cNvSpPr>
          <p:nvPr/>
        </p:nvSpPr>
        <p:spPr>
          <a:xfrm xmlns:a="http://schemas.openxmlformats.org/drawingml/2006/main">
            <a:off x="3366492" y="2974925"/>
            <a:ext cx="2459236" cy="3174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500"/>
              </a:lnSpc>
              <a:spcAft>
                <a:spcPts val="500"/>
              </a:spcAft>
              <a:buNone/>
            </a:pPr>
            <a:r>
              <a:rPr sz="2500" b="1">
                <a:solidFill>
                  <a:srgbClr val="234D78"/>
                </a:solidFill>
                <a:latin typeface="Arial"/>
                <a:ea typeface="Arial"/>
                <a:cs typeface="Arial"/>
              </a:rPr>
              <a:t>5</a:t>
            </a:r>
            <a:endParaRPr sz="2500"/>
          </a:p>
        </p:txBody>
      </p:sp>
      <p:sp>
        <p:nvSpPr>
          <p:cNvPr id="24" name="Text 22">
            <a:extLst xmlns:a="http://schemas.openxmlformats.org/drawingml/2006/main">
              <a:ext uri="{FF2B5EF4-FFF2-40B4-BE49-F238E27FC236}">
                <a16:creationId xmlns:a16="http://schemas.microsoft.com/office/drawing/2014/main" id="{9231C3D1-6955-41DF-982A-B7CE8DD125AA}"/>
              </a:ext>
            </a:extLst>
          </p:cNvPr>
          <p:cNvSpPr>
            <a:spLocks xmlns:a="http://schemas.openxmlformats.org/drawingml/2006/main" noGrp="1"/>
          </p:cNvSpPr>
          <p:nvPr/>
        </p:nvSpPr>
        <p:spPr>
          <a:xfrm xmlns:a="http://schemas.openxmlformats.org/drawingml/2006/main">
            <a:off x="3366492" y="3355777"/>
            <a:ext cx="2459236"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Evaluation</a:t>
            </a:r>
            <a:endParaRPr sz="1400"/>
          </a:p>
        </p:txBody>
      </p:sp>
      <p:sp>
        <p:nvSpPr>
          <p:cNvPr id="25" name="Text 23">
            <a:extLst xmlns:a="http://schemas.openxmlformats.org/drawingml/2006/main">
              <a:ext uri="{FF2B5EF4-FFF2-40B4-BE49-F238E27FC236}">
                <a16:creationId xmlns:a16="http://schemas.microsoft.com/office/drawing/2014/main" id="{01F70E36-8071-4C1A-97D5-D2733B640313}"/>
              </a:ext>
            </a:extLst>
          </p:cNvPr>
          <p:cNvSpPr>
            <a:spLocks xmlns:a="http://schemas.openxmlformats.org/drawingml/2006/main" noGrp="1"/>
          </p:cNvSpPr>
          <p:nvPr/>
        </p:nvSpPr>
        <p:spPr>
          <a:xfrm xmlns:a="http://schemas.openxmlformats.org/drawingml/2006/main">
            <a:off x="3366492" y="3623667"/>
            <a:ext cx="2459236" cy="383977"/>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513"/>
              </a:lnSpc>
              <a:buNone/>
              <a:defRPr sz="1220" b="0">
                <a:solidFill>
                  <a:srgbClr val="12263A"/>
                </a:solidFill>
                <a:latin typeface="Arial"/>
                <a:ea typeface="Arial"/>
                <a:cs typeface="Arial"/>
              </a:defRPr>
            </a:pPr>
            <a:r>
              <a:rPr sz="1220" b="0">
                <a:solidFill>
                  <a:srgbClr val="12263A"/>
                </a:solidFill>
                <a:latin typeface="Arial"/>
                <a:ea typeface="Arial"/>
                <a:cs typeface="Arial"/>
              </a:rPr>
              <a:t>Trial units, counts, seeds, holdouts, success criteria, and failures?</a:t>
            </a:r>
            <a:endParaRPr sz="1220"/>
          </a:p>
        </p:txBody>
      </p:sp>
      <p:sp>
        <p:nvSpPr>
          <p:cNvPr id="26" name="Text 24">
            <a:extLst xmlns:a="http://schemas.openxmlformats.org/drawingml/2006/main">
              <a:ext uri="{FF2B5EF4-FFF2-40B4-BE49-F238E27FC236}">
                <a16:creationId xmlns:a16="http://schemas.microsoft.com/office/drawing/2014/main" id="{75CE06E3-5BF5-4903-8493-000C12610B50}"/>
              </a:ext>
            </a:extLst>
          </p:cNvPr>
          <p:cNvSpPr>
            <a:spLocks xmlns:a="http://schemas.openxmlformats.org/drawingml/2006/main" noGrp="1"/>
          </p:cNvSpPr>
          <p:nvPr/>
        </p:nvSpPr>
        <p:spPr>
          <a:xfrm xmlns:a="http://schemas.openxmlformats.org/drawingml/2006/main">
            <a:off x="6066383" y="2813000"/>
            <a:ext cx="2734717" cy="1847999"/>
          </a:xfrm>
          <a:prstGeom xmlns:a="http://schemas.openxmlformats.org/drawingml/2006/main" prst="roundRect">
            <a:avLst>
              <a:gd name="adj" fmla="val 5498"/>
            </a:avLst>
          </a:prstGeom>
          <a:solidFill xmlns:a="http://schemas.openxmlformats.org/drawingml/2006/main">
            <a:srgbClr val="F7F9FC"/>
          </a:solidFill>
          <a:ln xmlns:a="http://schemas.openxmlformats.org/drawingml/2006/main" w="9525">
            <a:solidFill>
              <a:srgbClr val="CAD6E2"/>
            </a:solidFill>
          </a:ln>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27" name="Text 25">
            <a:extLst xmlns:a="http://schemas.openxmlformats.org/drawingml/2006/main">
              <a:ext uri="{FF2B5EF4-FFF2-40B4-BE49-F238E27FC236}">
                <a16:creationId xmlns:a16="http://schemas.microsoft.com/office/drawing/2014/main" id="{DE80A2AF-1A2C-4BB3-B84C-B40424AC459A}"/>
              </a:ext>
            </a:extLst>
          </p:cNvPr>
          <p:cNvSpPr>
            <a:spLocks xmlns:a="http://schemas.openxmlformats.org/drawingml/2006/main" noGrp="1"/>
          </p:cNvSpPr>
          <p:nvPr/>
        </p:nvSpPr>
        <p:spPr>
          <a:xfrm xmlns:a="http://schemas.openxmlformats.org/drawingml/2006/main">
            <a:off x="6228308" y="2974925"/>
            <a:ext cx="2459084" cy="3174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500"/>
              </a:lnSpc>
              <a:spcAft>
                <a:spcPts val="500"/>
              </a:spcAft>
              <a:buNone/>
            </a:pPr>
            <a:r>
              <a:rPr sz="2500" b="1">
                <a:solidFill>
                  <a:srgbClr val="234D78"/>
                </a:solidFill>
                <a:latin typeface="Arial"/>
                <a:ea typeface="Arial"/>
                <a:cs typeface="Arial"/>
              </a:rPr>
              <a:t>6</a:t>
            </a:r>
            <a:endParaRPr sz="2500"/>
          </a:p>
        </p:txBody>
      </p:sp>
      <p:sp>
        <p:nvSpPr>
          <p:cNvPr id="28" name="Text 26">
            <a:extLst xmlns:a="http://schemas.openxmlformats.org/drawingml/2006/main">
              <a:ext uri="{FF2B5EF4-FFF2-40B4-BE49-F238E27FC236}">
                <a16:creationId xmlns:a16="http://schemas.microsoft.com/office/drawing/2014/main" id="{2EB99580-3B44-4F86-AD0A-4EAAF9AB4405}"/>
              </a:ext>
            </a:extLst>
          </p:cNvPr>
          <p:cNvSpPr>
            <a:spLocks xmlns:a="http://schemas.openxmlformats.org/drawingml/2006/main" noGrp="1"/>
          </p:cNvSpPr>
          <p:nvPr/>
        </p:nvSpPr>
        <p:spPr>
          <a:xfrm xmlns:a="http://schemas.openxmlformats.org/drawingml/2006/main">
            <a:off x="6228308" y="3355777"/>
            <a:ext cx="2459084"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Limitations</a:t>
            </a:r>
            <a:endParaRPr sz="1400"/>
          </a:p>
        </p:txBody>
      </p:sp>
      <p:sp>
        <p:nvSpPr>
          <p:cNvPr id="29" name="Text 27">
            <a:extLst xmlns:a="http://schemas.openxmlformats.org/drawingml/2006/main">
              <a:ext uri="{FF2B5EF4-FFF2-40B4-BE49-F238E27FC236}">
                <a16:creationId xmlns:a16="http://schemas.microsoft.com/office/drawing/2014/main" id="{F6A6B25E-95E4-4FAE-9EC0-CBECA5DA0A03}"/>
              </a:ext>
            </a:extLst>
          </p:cNvPr>
          <p:cNvSpPr>
            <a:spLocks xmlns:a="http://schemas.openxmlformats.org/drawingml/2006/main" noGrp="1"/>
          </p:cNvSpPr>
          <p:nvPr/>
        </p:nvSpPr>
        <p:spPr>
          <a:xfrm xmlns:a="http://schemas.openxmlformats.org/drawingml/2006/main">
            <a:off x="6228308" y="3623667"/>
            <a:ext cx="2459084" cy="383977"/>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513"/>
              </a:lnSpc>
              <a:buNone/>
              <a:defRPr sz="1220" b="0">
                <a:solidFill>
                  <a:srgbClr val="12263A"/>
                </a:solidFill>
                <a:latin typeface="Arial"/>
                <a:ea typeface="Arial"/>
                <a:cs typeface="Arial"/>
              </a:defRPr>
            </a:pPr>
            <a:r>
              <a:rPr sz="1220" b="0">
                <a:solidFill>
                  <a:srgbClr val="12263A"/>
                </a:solidFill>
                <a:latin typeface="Arial"/>
                <a:ea typeface="Arial"/>
                <a:cs typeface="Arial"/>
              </a:rPr>
              <a:t>What is explicit, inferred, or still unverified?</a:t>
            </a:r>
            <a:endParaRPr sz="1220"/>
          </a:p>
        </p:txBody>
      </p:sp>
      <p:sp>
        <p:nvSpPr>
          <p:cNvPr id="30" name="Text 28">
            <a:extLst xmlns:a="http://schemas.openxmlformats.org/drawingml/2006/main">
              <a:ext uri="{FF2B5EF4-FFF2-40B4-BE49-F238E27FC236}">
                <a16:creationId xmlns:a16="http://schemas.microsoft.com/office/drawing/2014/main" id="{C427F60F-900F-4942-AF99-2040D891487F}"/>
              </a:ext>
            </a:extLst>
          </p:cNvPr>
          <p:cNvSpPr>
            <a:spLocks xmlns:a="http://schemas.openxmlformats.org/drawingml/2006/main" noGrp="1"/>
          </p:cNvSpPr>
          <p:nvPr/>
        </p:nvSpPr>
        <p:spPr>
          <a:xfrm xmlns:a="http://schemas.openxmlformats.org/drawingml/2006/main">
            <a:off x="8339328" y="4965192"/>
            <a:ext cx="502920"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60">
                <a:solidFill>
                  <a:srgbClr val="7A8794"/>
                </a:solidFill>
                <a:latin typeface="Arial"/>
                <a:ea typeface="Arial"/>
                <a:cs typeface="Arial"/>
              </a:rPr>
              <a:t>12 / 31</a:t>
            </a:r>
            <a:endParaRPr sz="660"/>
          </a:p>
        </p:txBody>
      </p:sp>
      <p:sp>
        <p:nvSpPr>
          <p:cNvPr id="31" name="Sources footer">
            <a:extLst xmlns:a="http://schemas.openxmlformats.org/drawingml/2006/main">
              <a:ext uri="{FF2B5EF4-FFF2-40B4-BE49-F238E27FC236}">
                <a16:creationId xmlns:a16="http://schemas.microsoft.com/office/drawing/2014/main" id="{1E087C2D-332C-4C8D-9465-D5EEC388A673}"/>
              </a:ext>
            </a:extLst>
          </p:cNvPr>
          <p:cNvSpPr>
            <a:spLocks xmlns:a="http://schemas.openxmlformats.org/drawingml/2006/main" noGrp="1"/>
          </p:cNvSpPr>
          <p:nvPr/>
        </p:nvSpPr>
        <p:spPr>
          <a:xfrm xmlns:a="http://schemas.openxmlformats.org/drawingml/2006/main">
            <a:off x="438150" y="4924425"/>
            <a:ext cx="72961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40" b="0">
                <a:solidFill>
                  <a:srgbClr val="234D78"/>
                </a:solidFill>
                <a:latin typeface="Arial"/>
                <a:ea typeface="Arial"/>
                <a:cs typeface="Arial"/>
              </a:defRPr>
            </a:pPr>
            <a:r>
              <a:rPr sz="640" b="0">
                <a:solidFill>
                  <a:srgbClr val="234D78"/>
                </a:solidFill>
                <a:latin typeface="Arial"/>
                <a:ea typeface="Arial"/>
                <a:cs typeface="Arial"/>
                <a:hlinkClick xmlns:r="http://schemas.openxmlformats.org/officeDocument/2006/relationships" r:id="Rc5bde6ae70ff427d"/>
              </a:rPr>
              <a:t>Reader guide and sources</a:t>
            </a:r>
          </a:p>
        </p:txBody>
      </p:sp>
    </p:spTree>
    <p:extLst>
      <p:ext uri="{BB962C8B-B14F-4D97-AF65-F5344CB8AC3E}">
        <p14:creationId xmlns:p14="http://schemas.microsoft.com/office/powerpoint/2010/main" val="122212256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404847B-6112-49C5-9557-6ADF5B46E5AC}"/>
              </a:ext>
            </a:extLst>
          </p:cNvPr>
          <p:cNvSpPr>
            <a:spLocks xmlns:a="http://schemas.openxmlformats.org/drawingml/2006/main" noGrp="1"/>
          </p:cNvSpPr>
          <p:nvPr/>
        </p:nvSpPr>
        <p:spPr>
          <a:xfrm xmlns:a="http://schemas.openxmlformats.org/drawingml/2006/main">
            <a:off x="0" y="0"/>
            <a:ext cx="9144000" cy="609600"/>
          </a:xfrm>
          <a:prstGeom xmlns:a="http://schemas.openxmlformats.org/drawingml/2006/main" prst="rect">
            <a:avLst/>
          </a:prstGeom>
          <a:solidFill xmlns:a="http://schemas.openxmlformats.org/drawingml/2006/main">
            <a:srgbClr val="234D7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3" name="Text 1">
            <a:extLst xmlns:a="http://schemas.openxmlformats.org/drawingml/2006/main">
              <a:ext uri="{FF2B5EF4-FFF2-40B4-BE49-F238E27FC236}">
                <a16:creationId xmlns:a16="http://schemas.microsoft.com/office/drawing/2014/main" id="{40D2D2DA-8DE6-4165-A730-5DBE71B1EDFB}"/>
              </a:ext>
            </a:extLst>
          </p:cNvPr>
          <p:cNvSpPr>
            <a:spLocks xmlns:a="http://schemas.openxmlformats.org/drawingml/2006/main" noGrp="1"/>
          </p:cNvSpPr>
          <p:nvPr/>
        </p:nvSpPr>
        <p:spPr>
          <a:xfrm xmlns:a="http://schemas.openxmlformats.org/drawingml/2006/main">
            <a:off x="330136" y="164116"/>
            <a:ext cx="6619875" cy="3238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2415"/>
              </a:lnSpc>
              <a:buNone/>
              <a:defRPr sz="2300" b="1">
                <a:solidFill>
                  <a:srgbClr val="FFFFFF"/>
                </a:solidFill>
                <a:latin typeface="Arial"/>
                <a:ea typeface="Arial"/>
                <a:cs typeface="Arial"/>
              </a:defRPr>
            </a:pPr>
            <a:r>
              <a:rPr sz="2300" b="1">
                <a:solidFill>
                  <a:srgbClr val="FFFFFF"/>
                </a:solidFill>
                <a:latin typeface="Arial"/>
                <a:ea typeface="Arial"/>
                <a:cs typeface="Arial"/>
              </a:rPr>
              <a:t>Object-relative transfer and morphology</a:t>
            </a:r>
            <a:endParaRPr sz="2300"/>
          </a:p>
        </p:txBody>
      </p:sp>
      <p:sp>
        <p:nvSpPr>
          <p:cNvPr id="4" name="Text 2">
            <a:extLst xmlns:a="http://schemas.openxmlformats.org/drawingml/2006/main">
              <a:ext uri="{FF2B5EF4-FFF2-40B4-BE49-F238E27FC236}">
                <a16:creationId xmlns:a16="http://schemas.microsoft.com/office/drawing/2014/main" id="{EED6FBB2-AC36-49DC-B728-71981314964E}"/>
              </a:ext>
            </a:extLst>
          </p:cNvPr>
          <p:cNvSpPr>
            <a:spLocks xmlns:a="http://schemas.openxmlformats.org/drawingml/2006/main" noGrp="1"/>
          </p:cNvSpPr>
          <p:nvPr/>
        </p:nvSpPr>
        <p:spPr>
          <a:xfrm xmlns:a="http://schemas.openxmlformats.org/drawingml/2006/main">
            <a:off x="7372350" y="190500"/>
            <a:ext cx="14478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r">
              <a:lnSpc>
                <a:spcPts val="1054"/>
              </a:lnSpc>
              <a:buNone/>
              <a:defRPr sz="788" b="1">
                <a:solidFill>
                  <a:srgbClr val="FFFFFF"/>
                </a:solidFill>
                <a:latin typeface="Arial"/>
                <a:ea typeface="Arial"/>
                <a:cs typeface="Arial"/>
              </a:defRPr>
            </a:pPr>
            <a:r>
              <a:rPr sz="788" b="1">
                <a:solidFill>
                  <a:srgbClr val="FFFFFF"/>
                </a:solidFill>
                <a:latin typeface="Arial"/>
                <a:ea typeface="Arial"/>
                <a:cs typeface="Arial"/>
              </a:rPr>
              <a:t>CS CAPSTONE REFERENCE</a:t>
            </a:r>
            <a:endParaRPr sz="850"/>
          </a:p>
        </p:txBody>
      </p:sp>
      <p:sp>
        <p:nvSpPr>
          <p:cNvPr id="5" name="Text 3">
            <a:extLst xmlns:a="http://schemas.openxmlformats.org/drawingml/2006/main">
              <a:ext uri="{FF2B5EF4-FFF2-40B4-BE49-F238E27FC236}">
                <a16:creationId xmlns:a16="http://schemas.microsoft.com/office/drawing/2014/main" id="{6382C1E6-70EB-43AB-A448-8393A03C357E}"/>
              </a:ext>
            </a:extLst>
          </p:cNvPr>
          <p:cNvSpPr>
            <a:spLocks xmlns:a="http://schemas.openxmlformats.org/drawingml/2006/main" noGrp="1"/>
          </p:cNvSpPr>
          <p:nvPr/>
        </p:nvSpPr>
        <p:spPr>
          <a:xfrm xmlns:a="http://schemas.openxmlformats.org/drawingml/2006/main">
            <a:off x="330101" y="609600"/>
            <a:ext cx="787301" cy="38100"/>
          </a:xfrm>
          <a:prstGeom xmlns:a="http://schemas.openxmlformats.org/drawingml/2006/main" prst="rect">
            <a:avLst/>
          </a:prstGeom>
          <a:solidFill xmlns:a="http://schemas.openxmlformats.org/drawingml/2006/main">
            <a:srgbClr val="D63B4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6" name="Text 4">
            <a:extLst xmlns:a="http://schemas.openxmlformats.org/drawingml/2006/main">
              <a:ext uri="{FF2B5EF4-FFF2-40B4-BE49-F238E27FC236}">
                <a16:creationId xmlns:a16="http://schemas.microsoft.com/office/drawing/2014/main" id="{0B15006D-AE86-4D71-9929-6804BB8FC216}"/>
              </a:ext>
            </a:extLst>
          </p:cNvPr>
          <p:cNvSpPr>
            <a:spLocks xmlns:a="http://schemas.openxmlformats.org/drawingml/2006/main" noGrp="1"/>
          </p:cNvSpPr>
          <p:nvPr/>
        </p:nvSpPr>
        <p:spPr>
          <a:xfrm xmlns:a="http://schemas.openxmlformats.org/drawingml/2006/main">
            <a:off x="342900" y="850850"/>
            <a:ext cx="4152900" cy="3270349"/>
          </a:xfrm>
          <a:prstGeom xmlns:a="http://schemas.openxmlformats.org/drawingml/2006/main" prst="roundRect">
            <a:avLst>
              <a:gd name="adj" fmla="val 3107"/>
            </a:avLst>
          </a:prstGeom>
          <a:solidFill xmlns:a="http://schemas.openxmlformats.org/drawingml/2006/main">
            <a:srgbClr val="FFF1F3"/>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7" name="Shape 5">
            <a:extLst xmlns:a="http://schemas.openxmlformats.org/drawingml/2006/main">
              <a:ext uri="{FF2B5EF4-FFF2-40B4-BE49-F238E27FC236}">
                <a16:creationId xmlns:a16="http://schemas.microsoft.com/office/drawing/2014/main" id="{407EB3C4-8FE2-4AE4-A6A1-279A7386694C}"/>
              </a:ext>
            </a:extLst>
          </p:cNvPr>
          <p:cNvSpPr>
            <a:spLocks xmlns:a="http://schemas.openxmlformats.org/drawingml/2006/main" noGrp="1"/>
          </p:cNvSpPr>
          <p:nvPr/>
        </p:nvSpPr>
        <p:spPr>
          <a:xfrm xmlns:a="http://schemas.openxmlformats.org/drawingml/2006/main">
            <a:off x="342900" y="855613"/>
            <a:ext cx="4152900"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8" name="Shape 6">
            <a:extLst xmlns:a="http://schemas.openxmlformats.org/drawingml/2006/main">
              <a:ext uri="{FF2B5EF4-FFF2-40B4-BE49-F238E27FC236}">
                <a16:creationId xmlns:a16="http://schemas.microsoft.com/office/drawing/2014/main" id="{09C2002D-5074-4032-9394-B4CB9F3A69B4}"/>
              </a:ext>
            </a:extLst>
          </p:cNvPr>
          <p:cNvSpPr>
            <a:spLocks xmlns:a="http://schemas.openxmlformats.org/drawingml/2006/main" noGrp="1"/>
          </p:cNvSpPr>
          <p:nvPr/>
        </p:nvSpPr>
        <p:spPr>
          <a:xfrm xmlns:a="http://schemas.openxmlformats.org/drawingml/2006/main">
            <a:off x="4491038" y="850850"/>
            <a:ext cx="0" cy="3270349"/>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9" name="Shape 7">
            <a:extLst xmlns:a="http://schemas.openxmlformats.org/drawingml/2006/main">
              <a:ext uri="{FF2B5EF4-FFF2-40B4-BE49-F238E27FC236}">
                <a16:creationId xmlns:a16="http://schemas.microsoft.com/office/drawing/2014/main" id="{54378C67-4690-44D6-9ECE-C161945FC16B}"/>
              </a:ext>
            </a:extLst>
          </p:cNvPr>
          <p:cNvSpPr>
            <a:spLocks xmlns:a="http://schemas.openxmlformats.org/drawingml/2006/main" noGrp="1"/>
          </p:cNvSpPr>
          <p:nvPr/>
        </p:nvSpPr>
        <p:spPr>
          <a:xfrm xmlns:a="http://schemas.openxmlformats.org/drawingml/2006/main">
            <a:off x="342900" y="4116437"/>
            <a:ext cx="4152900"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0" name="Shape 8">
            <a:extLst xmlns:a="http://schemas.openxmlformats.org/drawingml/2006/main">
              <a:ext uri="{FF2B5EF4-FFF2-40B4-BE49-F238E27FC236}">
                <a16:creationId xmlns:a16="http://schemas.microsoft.com/office/drawing/2014/main" id="{E553F938-7D89-4D24-8B64-DE3F26A522A2}"/>
              </a:ext>
            </a:extLst>
          </p:cNvPr>
          <p:cNvSpPr>
            <a:spLocks xmlns:a="http://schemas.openxmlformats.org/drawingml/2006/main" noGrp="1"/>
          </p:cNvSpPr>
          <p:nvPr/>
        </p:nvSpPr>
        <p:spPr>
          <a:xfrm xmlns:a="http://schemas.openxmlformats.org/drawingml/2006/main">
            <a:off x="371475" y="850850"/>
            <a:ext cx="0" cy="3270349"/>
          </a:xfrm>
          <a:prstGeom xmlns:a="http://schemas.openxmlformats.org/drawingml/2006/main" prst="line">
            <a:avLst/>
          </a:prstGeom>
          <a:noFill xmlns:a="http://schemas.openxmlformats.org/drawingml/2006/main"/>
          <a:ln xmlns:a="http://schemas.openxmlformats.org/drawingml/2006/main" w="57150">
            <a:solidFill>
              <a:srgbClr val="D63B4A"/>
            </a:solidFill>
            <a:prstDash val="solid"/>
          </a:ln>
        </p:spPr>
      </p:sp>
      <p:sp>
        <p:nvSpPr>
          <p:cNvPr id="11" name="Text 9">
            <a:extLst xmlns:a="http://schemas.openxmlformats.org/drawingml/2006/main">
              <a:ext uri="{FF2B5EF4-FFF2-40B4-BE49-F238E27FC236}">
                <a16:creationId xmlns:a16="http://schemas.microsoft.com/office/drawing/2014/main" id="{6F7DEC10-0E47-4DF7-8DCB-AF078F5FE034}"/>
              </a:ext>
            </a:extLst>
          </p:cNvPr>
          <p:cNvSpPr>
            <a:spLocks xmlns:a="http://schemas.openxmlformats.org/drawingml/2006/main" noGrp="1"/>
          </p:cNvSpPr>
          <p:nvPr/>
        </p:nvSpPr>
        <p:spPr>
          <a:xfrm xmlns:a="http://schemas.openxmlformats.org/drawingml/2006/main">
            <a:off x="552450" y="1012775"/>
            <a:ext cx="3857054"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Panda and UR5e differ</a:t>
            </a:r>
            <a:endParaRPr sz="1400"/>
          </a:p>
        </p:txBody>
      </p:sp>
      <p:sp>
        <p:nvSpPr>
          <p:cNvPr id="12" name="Text 10">
            <a:extLst xmlns:a="http://schemas.openxmlformats.org/drawingml/2006/main">
              <a:ext uri="{FF2B5EF4-FFF2-40B4-BE49-F238E27FC236}">
                <a16:creationId xmlns:a16="http://schemas.microsoft.com/office/drawing/2014/main" id="{37227DF4-7AE9-44FF-BDE5-52754FDA63D5}"/>
              </a:ext>
            </a:extLst>
          </p:cNvPr>
          <p:cNvSpPr>
            <a:spLocks xmlns:a="http://schemas.openxmlformats.org/drawingml/2006/main" noGrp="1"/>
          </p:cNvSpPr>
          <p:nvPr/>
        </p:nvSpPr>
        <p:spPr>
          <a:xfrm xmlns:a="http://schemas.openxmlformats.org/drawingml/2006/main">
            <a:off x="768251" y="1280666"/>
            <a:ext cx="3565624" cy="671661"/>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Arm degrees of freedom: Panda 7, UR5e 6.</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Different link lengths, limits, and grippers.</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Joint copying does not preserve contact.</a:t>
            </a:r>
            <a:endParaRPr sz="1170"/>
          </a:p>
        </p:txBody>
      </p:sp>
      <p:sp>
        <p:nvSpPr>
          <p:cNvPr id="13" name="Text 11">
            <a:extLst xmlns:a="http://schemas.openxmlformats.org/drawingml/2006/main">
              <a:ext uri="{FF2B5EF4-FFF2-40B4-BE49-F238E27FC236}">
                <a16:creationId xmlns:a16="http://schemas.microsoft.com/office/drawing/2014/main" id="{2421BEAE-2955-4BFF-9706-D1C8715A92E4}"/>
              </a:ext>
            </a:extLst>
          </p:cNvPr>
          <p:cNvSpPr>
            <a:spLocks xmlns:a="http://schemas.openxmlformats.org/drawingml/2006/main" noGrp="1"/>
          </p:cNvSpPr>
          <p:nvPr/>
        </p:nvSpPr>
        <p:spPr>
          <a:xfrm xmlns:a="http://schemas.openxmlformats.org/drawingml/2006/main">
            <a:off x="4648200" y="850850"/>
            <a:ext cx="4152900" cy="3270349"/>
          </a:xfrm>
          <a:prstGeom xmlns:a="http://schemas.openxmlformats.org/drawingml/2006/main" prst="roundRect">
            <a:avLst>
              <a:gd name="adj" fmla="val 3107"/>
            </a:avLst>
          </a:prstGeom>
          <a:solidFill xmlns:a="http://schemas.openxmlformats.org/drawingml/2006/main">
            <a:srgbClr val="EDFAF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14" name="Shape 12">
            <a:extLst xmlns:a="http://schemas.openxmlformats.org/drawingml/2006/main">
              <a:ext uri="{FF2B5EF4-FFF2-40B4-BE49-F238E27FC236}">
                <a16:creationId xmlns:a16="http://schemas.microsoft.com/office/drawing/2014/main" id="{33253686-DE03-4924-9340-C308FFA6216B}"/>
              </a:ext>
            </a:extLst>
          </p:cNvPr>
          <p:cNvSpPr>
            <a:spLocks xmlns:a="http://schemas.openxmlformats.org/drawingml/2006/main" noGrp="1"/>
          </p:cNvSpPr>
          <p:nvPr/>
        </p:nvSpPr>
        <p:spPr>
          <a:xfrm xmlns:a="http://schemas.openxmlformats.org/drawingml/2006/main">
            <a:off x="4648200" y="855613"/>
            <a:ext cx="4152900"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5" name="Shape 13">
            <a:extLst xmlns:a="http://schemas.openxmlformats.org/drawingml/2006/main">
              <a:ext uri="{FF2B5EF4-FFF2-40B4-BE49-F238E27FC236}">
                <a16:creationId xmlns:a16="http://schemas.microsoft.com/office/drawing/2014/main" id="{5C28E1D5-687D-4508-AED8-727EE0144013}"/>
              </a:ext>
            </a:extLst>
          </p:cNvPr>
          <p:cNvSpPr>
            <a:spLocks xmlns:a="http://schemas.openxmlformats.org/drawingml/2006/main" noGrp="1"/>
          </p:cNvSpPr>
          <p:nvPr/>
        </p:nvSpPr>
        <p:spPr>
          <a:xfrm xmlns:a="http://schemas.openxmlformats.org/drawingml/2006/main">
            <a:off x="8796338" y="850850"/>
            <a:ext cx="0" cy="3270349"/>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6" name="Shape 14">
            <a:extLst xmlns:a="http://schemas.openxmlformats.org/drawingml/2006/main">
              <a:ext uri="{FF2B5EF4-FFF2-40B4-BE49-F238E27FC236}">
                <a16:creationId xmlns:a16="http://schemas.microsoft.com/office/drawing/2014/main" id="{F8D74AD5-B662-44E3-B434-0BA6AFC41B30}"/>
              </a:ext>
            </a:extLst>
          </p:cNvPr>
          <p:cNvSpPr>
            <a:spLocks xmlns:a="http://schemas.openxmlformats.org/drawingml/2006/main" noGrp="1"/>
          </p:cNvSpPr>
          <p:nvPr/>
        </p:nvSpPr>
        <p:spPr>
          <a:xfrm xmlns:a="http://schemas.openxmlformats.org/drawingml/2006/main">
            <a:off x="4648200" y="4116437"/>
            <a:ext cx="4152900"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7" name="Shape 15">
            <a:extLst xmlns:a="http://schemas.openxmlformats.org/drawingml/2006/main">
              <a:ext uri="{FF2B5EF4-FFF2-40B4-BE49-F238E27FC236}">
                <a16:creationId xmlns:a16="http://schemas.microsoft.com/office/drawing/2014/main" id="{C2F122D1-EB55-4F2D-A36A-68777ABBB1A1}"/>
              </a:ext>
            </a:extLst>
          </p:cNvPr>
          <p:cNvSpPr>
            <a:spLocks xmlns:a="http://schemas.openxmlformats.org/drawingml/2006/main" noGrp="1"/>
          </p:cNvSpPr>
          <p:nvPr/>
        </p:nvSpPr>
        <p:spPr>
          <a:xfrm xmlns:a="http://schemas.openxmlformats.org/drawingml/2006/main">
            <a:off x="4676775" y="850850"/>
            <a:ext cx="0" cy="3270349"/>
          </a:xfrm>
          <a:prstGeom xmlns:a="http://schemas.openxmlformats.org/drawingml/2006/main" prst="line">
            <a:avLst/>
          </a:prstGeom>
          <a:noFill xmlns:a="http://schemas.openxmlformats.org/drawingml/2006/main"/>
          <a:ln xmlns:a="http://schemas.openxmlformats.org/drawingml/2006/main" w="57150">
            <a:solidFill>
              <a:srgbClr val="1D9E91"/>
            </a:solidFill>
            <a:prstDash val="solid"/>
          </a:ln>
        </p:spPr>
      </p:sp>
      <p:sp>
        <p:nvSpPr>
          <p:cNvPr id="18" name="Text 16">
            <a:extLst xmlns:a="http://schemas.openxmlformats.org/drawingml/2006/main">
              <a:ext uri="{FF2B5EF4-FFF2-40B4-BE49-F238E27FC236}">
                <a16:creationId xmlns:a16="http://schemas.microsoft.com/office/drawing/2014/main" id="{15DED6BD-E59A-46A0-BD61-BF46714E0972}"/>
              </a:ext>
            </a:extLst>
          </p:cNvPr>
          <p:cNvSpPr>
            <a:spLocks xmlns:a="http://schemas.openxmlformats.org/drawingml/2006/main" noGrp="1"/>
          </p:cNvSpPr>
          <p:nvPr/>
        </p:nvSpPr>
        <p:spPr>
          <a:xfrm xmlns:a="http://schemas.openxmlformats.org/drawingml/2006/main">
            <a:off x="4857750" y="1012775"/>
            <a:ext cx="3857054"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Precedents and target constraints</a:t>
            </a:r>
            <a:endParaRPr sz="1400"/>
          </a:p>
        </p:txBody>
      </p:sp>
      <p:sp>
        <p:nvSpPr>
          <p:cNvPr id="19" name="Text 17">
            <a:extLst xmlns:a="http://schemas.openxmlformats.org/drawingml/2006/main">
              <a:ext uri="{FF2B5EF4-FFF2-40B4-BE49-F238E27FC236}">
                <a16:creationId xmlns:a16="http://schemas.microsoft.com/office/drawing/2014/main" id="{0D01DF2E-2A62-4D7C-8063-33ED1C4FB356}"/>
              </a:ext>
            </a:extLst>
          </p:cNvPr>
          <p:cNvSpPr>
            <a:spLocks xmlns:a="http://schemas.openxmlformats.org/drawingml/2006/main" noGrp="1"/>
          </p:cNvSpPr>
          <p:nvPr/>
        </p:nvSpPr>
        <p:spPr>
          <a:xfrm xmlns:a="http://schemas.openxmlformats.org/drawingml/2006/main">
            <a:off x="5073551" y="1280666"/>
            <a:ext cx="3565624" cy="1102519"/>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MimicGen includes Panda/UR5e transfer.</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The target solves IK using its TCP convention.</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Track reachability, joint limits, and singularity.</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Evaluate contact success in physics or trials.</a:t>
            </a:r>
            <a:endParaRPr sz="1170"/>
          </a:p>
        </p:txBody>
      </p:sp>
      <p:sp>
        <p:nvSpPr>
          <p:cNvPr id="20" name="Text 18">
            <a:extLst xmlns:a="http://schemas.openxmlformats.org/drawingml/2006/main">
              <a:ext uri="{FF2B5EF4-FFF2-40B4-BE49-F238E27FC236}">
                <a16:creationId xmlns:a16="http://schemas.microsoft.com/office/drawing/2014/main" id="{D4F909FA-2ECC-4CE5-B6B8-D201EF541730}"/>
              </a:ext>
            </a:extLst>
          </p:cNvPr>
          <p:cNvSpPr>
            <a:spLocks xmlns:a="http://schemas.openxmlformats.org/drawingml/2006/main" noGrp="1"/>
          </p:cNvSpPr>
          <p:nvPr/>
        </p:nvSpPr>
        <p:spPr>
          <a:xfrm xmlns:a="http://schemas.openxmlformats.org/drawingml/2006/main">
            <a:off x="342900" y="4235500"/>
            <a:ext cx="8458200" cy="425500"/>
          </a:xfrm>
          <a:prstGeom xmlns:a="http://schemas.openxmlformats.org/drawingml/2006/main" prst="rect">
            <a:avLst/>
          </a:prstGeom>
          <a:solidFill xmlns:a="http://schemas.openxmlformats.org/drawingml/2006/main">
            <a:srgbClr val="EEF4F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21" name="Shape 19">
            <a:extLst xmlns:a="http://schemas.openxmlformats.org/drawingml/2006/main">
              <a:ext uri="{FF2B5EF4-FFF2-40B4-BE49-F238E27FC236}">
                <a16:creationId xmlns:a16="http://schemas.microsoft.com/office/drawing/2014/main" id="{F7F5AB08-E5E8-447C-9356-FF241FF02244}"/>
              </a:ext>
            </a:extLst>
          </p:cNvPr>
          <p:cNvSpPr>
            <a:spLocks xmlns:a="http://schemas.openxmlformats.org/drawingml/2006/main" noGrp="1"/>
          </p:cNvSpPr>
          <p:nvPr/>
        </p:nvSpPr>
        <p:spPr>
          <a:xfrm xmlns:a="http://schemas.openxmlformats.org/drawingml/2006/main">
            <a:off x="371475" y="4235500"/>
            <a:ext cx="0" cy="425500"/>
          </a:xfrm>
          <a:prstGeom xmlns:a="http://schemas.openxmlformats.org/drawingml/2006/main" prst="line">
            <a:avLst/>
          </a:prstGeom>
          <a:noFill xmlns:a="http://schemas.openxmlformats.org/drawingml/2006/main"/>
          <a:ln xmlns:a="http://schemas.openxmlformats.org/drawingml/2006/main" w="57150">
            <a:solidFill>
              <a:srgbClr val="D63B4A"/>
            </a:solidFill>
            <a:prstDash val="solid"/>
          </a:ln>
        </p:spPr>
      </p:sp>
      <p:sp>
        <p:nvSpPr>
          <p:cNvPr id="22" name="Text 20">
            <a:extLst xmlns:a="http://schemas.openxmlformats.org/drawingml/2006/main">
              <a:ext uri="{FF2B5EF4-FFF2-40B4-BE49-F238E27FC236}">
                <a16:creationId xmlns:a16="http://schemas.microsoft.com/office/drawing/2014/main" id="{F39ED98F-8290-48B7-B436-36C20A187F61}"/>
              </a:ext>
            </a:extLst>
          </p:cNvPr>
          <p:cNvSpPr>
            <a:spLocks xmlns:a="http://schemas.openxmlformats.org/drawingml/2006/main" noGrp="1"/>
          </p:cNvSpPr>
          <p:nvPr/>
        </p:nvSpPr>
        <p:spPr>
          <a:xfrm xmlns:a="http://schemas.openxmlformats.org/drawingml/2006/main">
            <a:off x="552450" y="4349800"/>
            <a:ext cx="8258175" cy="1969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550"/>
              </a:lnSpc>
              <a:buNone/>
              <a:defRPr sz="1250" b="1">
                <a:solidFill>
                  <a:srgbClr val="16344F"/>
                </a:solidFill>
                <a:latin typeface="Arial"/>
                <a:ea typeface="Arial"/>
                <a:cs typeface="Arial"/>
              </a:defRPr>
            </a:pPr>
            <a:r>
              <a:rPr sz="1250" b="1">
                <a:solidFill>
                  <a:srgbClr val="16344F"/>
                </a:solidFill>
                <a:latin typeface="Arial"/>
                <a:ea typeface="Arial"/>
                <a:cs typeface="Arial"/>
              </a:rPr>
              <a:t>Current retargeting uses initial-object and goal anchors. Editing later object poses need not change the plan.</a:t>
            </a:r>
            <a:endParaRPr sz="1250"/>
          </a:p>
        </p:txBody>
      </p:sp>
      <p:sp>
        <p:nvSpPr>
          <p:cNvPr id="23" name="Text 21">
            <a:extLst xmlns:a="http://schemas.openxmlformats.org/drawingml/2006/main">
              <a:ext uri="{FF2B5EF4-FFF2-40B4-BE49-F238E27FC236}">
                <a16:creationId xmlns:a16="http://schemas.microsoft.com/office/drawing/2014/main" id="{8A652CA3-795C-43F7-BED1-B09D0FE68E46}"/>
              </a:ext>
            </a:extLst>
          </p:cNvPr>
          <p:cNvSpPr>
            <a:spLocks xmlns:a="http://schemas.openxmlformats.org/drawingml/2006/main" noGrp="1"/>
          </p:cNvSpPr>
          <p:nvPr/>
        </p:nvSpPr>
        <p:spPr>
          <a:xfrm xmlns:a="http://schemas.openxmlformats.org/drawingml/2006/main">
            <a:off x="8339328" y="4965192"/>
            <a:ext cx="502920"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60">
                <a:solidFill>
                  <a:srgbClr val="7A8794"/>
                </a:solidFill>
                <a:latin typeface="Arial"/>
                <a:ea typeface="Arial"/>
                <a:cs typeface="Arial"/>
              </a:rPr>
              <a:t>13 / 31</a:t>
            </a:r>
            <a:endParaRPr sz="660"/>
          </a:p>
        </p:txBody>
      </p:sp>
      <p:sp>
        <p:nvSpPr>
          <p:cNvPr id="24" name="Sources footer">
            <a:extLst xmlns:a="http://schemas.openxmlformats.org/drawingml/2006/main">
              <a:ext uri="{FF2B5EF4-FFF2-40B4-BE49-F238E27FC236}">
                <a16:creationId xmlns:a16="http://schemas.microsoft.com/office/drawing/2014/main" id="{A7C11D25-75EB-4D06-93CB-3157D341D523}"/>
              </a:ext>
            </a:extLst>
          </p:cNvPr>
          <p:cNvSpPr>
            <a:spLocks xmlns:a="http://schemas.openxmlformats.org/drawingml/2006/main" noGrp="1"/>
          </p:cNvSpPr>
          <p:nvPr/>
        </p:nvSpPr>
        <p:spPr>
          <a:xfrm xmlns:a="http://schemas.openxmlformats.org/drawingml/2006/main">
            <a:off x="438150" y="4924425"/>
            <a:ext cx="72961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40" b="0">
                <a:solidFill>
                  <a:srgbClr val="234D78"/>
                </a:solidFill>
                <a:latin typeface="Arial"/>
                <a:ea typeface="Arial"/>
                <a:cs typeface="Arial"/>
              </a:defRPr>
            </a:pPr>
            <a:r>
              <a:rPr sz="640" b="0">
                <a:solidFill>
                  <a:srgbClr val="234D78"/>
                </a:solidFill>
                <a:latin typeface="Arial"/>
                <a:ea typeface="Arial"/>
                <a:cs typeface="Arial"/>
                <a:hlinkClick xmlns:r="http://schemas.openxmlformats.org/officeDocument/2006/relationships" r:id="R50073acd7a104610"/>
              </a:rPr>
              <a:t>Reader guide and sources</a:t>
            </a:r>
          </a:p>
        </p:txBody>
      </p:sp>
    </p:spTree>
    <p:extLst>
      <p:ext uri="{BB962C8B-B14F-4D97-AF65-F5344CB8AC3E}">
        <p14:creationId xmlns:p14="http://schemas.microsoft.com/office/powerpoint/2010/main" val="49584303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3C43A35-3C37-4CAA-A435-1BE2F223FCB3}"/>
              </a:ext>
            </a:extLst>
          </p:cNvPr>
          <p:cNvSpPr>
            <a:spLocks xmlns:a="http://schemas.openxmlformats.org/drawingml/2006/main" noGrp="1"/>
          </p:cNvSpPr>
          <p:nvPr/>
        </p:nvSpPr>
        <p:spPr>
          <a:xfrm xmlns:a="http://schemas.openxmlformats.org/drawingml/2006/main">
            <a:off x="0" y="0"/>
            <a:ext cx="9144000" cy="609600"/>
          </a:xfrm>
          <a:prstGeom xmlns:a="http://schemas.openxmlformats.org/drawingml/2006/main" prst="rect">
            <a:avLst/>
          </a:prstGeom>
          <a:solidFill xmlns:a="http://schemas.openxmlformats.org/drawingml/2006/main">
            <a:srgbClr val="234D7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3" name="Text 1">
            <a:extLst xmlns:a="http://schemas.openxmlformats.org/drawingml/2006/main">
              <a:ext uri="{FF2B5EF4-FFF2-40B4-BE49-F238E27FC236}">
                <a16:creationId xmlns:a16="http://schemas.microsoft.com/office/drawing/2014/main" id="{5B07DC68-CD4B-4F62-A7EB-B3CE42218B0D}"/>
              </a:ext>
            </a:extLst>
          </p:cNvPr>
          <p:cNvSpPr>
            <a:spLocks xmlns:a="http://schemas.openxmlformats.org/drawingml/2006/main" noGrp="1"/>
          </p:cNvSpPr>
          <p:nvPr/>
        </p:nvSpPr>
        <p:spPr>
          <a:xfrm xmlns:a="http://schemas.openxmlformats.org/drawingml/2006/main">
            <a:off x="330136" y="164116"/>
            <a:ext cx="6619875" cy="3238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2415"/>
              </a:lnSpc>
              <a:buNone/>
              <a:defRPr sz="2300" b="1">
                <a:solidFill>
                  <a:srgbClr val="FFFFFF"/>
                </a:solidFill>
                <a:latin typeface="Arial"/>
                <a:ea typeface="Arial"/>
                <a:cs typeface="Arial"/>
              </a:defRPr>
            </a:pPr>
            <a:r>
              <a:rPr sz="2300" b="1">
                <a:solidFill>
                  <a:srgbClr val="FFFFFF"/>
                </a:solidFill>
                <a:latin typeface="Arial"/>
                <a:ea typeface="Arial"/>
                <a:cs typeface="Arial"/>
              </a:rPr>
              <a:t>Automatic recovery: PSI and RIGVid</a:t>
            </a:r>
            <a:endParaRPr sz="2300"/>
          </a:p>
        </p:txBody>
      </p:sp>
      <p:sp>
        <p:nvSpPr>
          <p:cNvPr id="4" name="Text 2">
            <a:extLst xmlns:a="http://schemas.openxmlformats.org/drawingml/2006/main">
              <a:ext uri="{FF2B5EF4-FFF2-40B4-BE49-F238E27FC236}">
                <a16:creationId xmlns:a16="http://schemas.microsoft.com/office/drawing/2014/main" id="{91001BAE-1AEF-4CB3-9E14-600DEB2318A2}"/>
              </a:ext>
            </a:extLst>
          </p:cNvPr>
          <p:cNvSpPr>
            <a:spLocks xmlns:a="http://schemas.openxmlformats.org/drawingml/2006/main" noGrp="1"/>
          </p:cNvSpPr>
          <p:nvPr/>
        </p:nvSpPr>
        <p:spPr>
          <a:xfrm xmlns:a="http://schemas.openxmlformats.org/drawingml/2006/main">
            <a:off x="7372350" y="190500"/>
            <a:ext cx="14478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r">
              <a:lnSpc>
                <a:spcPts val="1054"/>
              </a:lnSpc>
              <a:buNone/>
              <a:defRPr sz="788" b="1">
                <a:solidFill>
                  <a:srgbClr val="FFFFFF"/>
                </a:solidFill>
                <a:latin typeface="Arial"/>
                <a:ea typeface="Arial"/>
                <a:cs typeface="Arial"/>
              </a:defRPr>
            </a:pPr>
            <a:r>
              <a:rPr sz="788" b="1">
                <a:solidFill>
                  <a:srgbClr val="FFFFFF"/>
                </a:solidFill>
                <a:latin typeface="Arial"/>
                <a:ea typeface="Arial"/>
                <a:cs typeface="Arial"/>
              </a:rPr>
              <a:t>CS CAPSTONE REFERENCE</a:t>
            </a:r>
            <a:endParaRPr sz="850"/>
          </a:p>
        </p:txBody>
      </p:sp>
      <p:sp>
        <p:nvSpPr>
          <p:cNvPr id="5" name="Text 3">
            <a:extLst xmlns:a="http://schemas.openxmlformats.org/drawingml/2006/main">
              <a:ext uri="{FF2B5EF4-FFF2-40B4-BE49-F238E27FC236}">
                <a16:creationId xmlns:a16="http://schemas.microsoft.com/office/drawing/2014/main" id="{C2C38DF5-FFED-41C5-A89C-4C4173680DFA}"/>
              </a:ext>
            </a:extLst>
          </p:cNvPr>
          <p:cNvSpPr>
            <a:spLocks xmlns:a="http://schemas.openxmlformats.org/drawingml/2006/main" noGrp="1"/>
          </p:cNvSpPr>
          <p:nvPr/>
        </p:nvSpPr>
        <p:spPr>
          <a:xfrm xmlns:a="http://schemas.openxmlformats.org/drawingml/2006/main">
            <a:off x="330101" y="609600"/>
            <a:ext cx="787301" cy="38100"/>
          </a:xfrm>
          <a:prstGeom xmlns:a="http://schemas.openxmlformats.org/drawingml/2006/main" prst="rect">
            <a:avLst/>
          </a:prstGeom>
          <a:solidFill xmlns:a="http://schemas.openxmlformats.org/drawingml/2006/main">
            <a:srgbClr val="D63B4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6" name="Text 4">
            <a:extLst xmlns:a="http://schemas.openxmlformats.org/drawingml/2006/main">
              <a:ext uri="{FF2B5EF4-FFF2-40B4-BE49-F238E27FC236}">
                <a16:creationId xmlns:a16="http://schemas.microsoft.com/office/drawing/2014/main" id="{F56EB16C-19B7-404E-AC41-629DFDFF4828}"/>
              </a:ext>
            </a:extLst>
          </p:cNvPr>
          <p:cNvSpPr>
            <a:spLocks xmlns:a="http://schemas.openxmlformats.org/drawingml/2006/main" noGrp="1"/>
          </p:cNvSpPr>
          <p:nvPr/>
        </p:nvSpPr>
        <p:spPr>
          <a:xfrm xmlns:a="http://schemas.openxmlformats.org/drawingml/2006/main">
            <a:off x="342900" y="850850"/>
            <a:ext cx="4152900" cy="3551039"/>
          </a:xfrm>
          <a:prstGeom xmlns:a="http://schemas.openxmlformats.org/drawingml/2006/main" prst="roundRect">
            <a:avLst>
              <a:gd name="adj" fmla="val 2861"/>
            </a:avLst>
          </a:prstGeom>
          <a:solidFill xmlns:a="http://schemas.openxmlformats.org/drawingml/2006/main">
            <a:srgbClr val="EEF4F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7" name="Shape 5">
            <a:extLst xmlns:a="http://schemas.openxmlformats.org/drawingml/2006/main">
              <a:ext uri="{FF2B5EF4-FFF2-40B4-BE49-F238E27FC236}">
                <a16:creationId xmlns:a16="http://schemas.microsoft.com/office/drawing/2014/main" id="{738182FD-4745-4B00-9043-109199466560}"/>
              </a:ext>
            </a:extLst>
          </p:cNvPr>
          <p:cNvSpPr>
            <a:spLocks xmlns:a="http://schemas.openxmlformats.org/drawingml/2006/main" noGrp="1"/>
          </p:cNvSpPr>
          <p:nvPr/>
        </p:nvSpPr>
        <p:spPr>
          <a:xfrm xmlns:a="http://schemas.openxmlformats.org/drawingml/2006/main">
            <a:off x="342900" y="855613"/>
            <a:ext cx="4152900"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8" name="Shape 6">
            <a:extLst xmlns:a="http://schemas.openxmlformats.org/drawingml/2006/main">
              <a:ext uri="{FF2B5EF4-FFF2-40B4-BE49-F238E27FC236}">
                <a16:creationId xmlns:a16="http://schemas.microsoft.com/office/drawing/2014/main" id="{85219BB3-EC2C-42EA-8E45-753337722A16}"/>
              </a:ext>
            </a:extLst>
          </p:cNvPr>
          <p:cNvSpPr>
            <a:spLocks xmlns:a="http://schemas.openxmlformats.org/drawingml/2006/main" noGrp="1"/>
          </p:cNvSpPr>
          <p:nvPr/>
        </p:nvSpPr>
        <p:spPr>
          <a:xfrm xmlns:a="http://schemas.openxmlformats.org/drawingml/2006/main">
            <a:off x="4491038" y="850850"/>
            <a:ext cx="0" cy="3551039"/>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9" name="Shape 7">
            <a:extLst xmlns:a="http://schemas.openxmlformats.org/drawingml/2006/main">
              <a:ext uri="{FF2B5EF4-FFF2-40B4-BE49-F238E27FC236}">
                <a16:creationId xmlns:a16="http://schemas.microsoft.com/office/drawing/2014/main" id="{EED75ACC-3404-470C-87E8-1B322E37EC8C}"/>
              </a:ext>
            </a:extLst>
          </p:cNvPr>
          <p:cNvSpPr>
            <a:spLocks xmlns:a="http://schemas.openxmlformats.org/drawingml/2006/main" noGrp="1"/>
          </p:cNvSpPr>
          <p:nvPr/>
        </p:nvSpPr>
        <p:spPr>
          <a:xfrm xmlns:a="http://schemas.openxmlformats.org/drawingml/2006/main">
            <a:off x="342900" y="4397127"/>
            <a:ext cx="4152900"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0" name="Shape 8">
            <a:extLst xmlns:a="http://schemas.openxmlformats.org/drawingml/2006/main">
              <a:ext uri="{FF2B5EF4-FFF2-40B4-BE49-F238E27FC236}">
                <a16:creationId xmlns:a16="http://schemas.microsoft.com/office/drawing/2014/main" id="{113D0AF9-6E9F-4512-988A-FDDE8B7887BA}"/>
              </a:ext>
            </a:extLst>
          </p:cNvPr>
          <p:cNvSpPr>
            <a:spLocks xmlns:a="http://schemas.openxmlformats.org/drawingml/2006/main" noGrp="1"/>
          </p:cNvSpPr>
          <p:nvPr/>
        </p:nvSpPr>
        <p:spPr>
          <a:xfrm xmlns:a="http://schemas.openxmlformats.org/drawingml/2006/main">
            <a:off x="371475" y="850850"/>
            <a:ext cx="0" cy="3551039"/>
          </a:xfrm>
          <a:prstGeom xmlns:a="http://schemas.openxmlformats.org/drawingml/2006/main" prst="line">
            <a:avLst/>
          </a:prstGeom>
          <a:noFill xmlns:a="http://schemas.openxmlformats.org/drawingml/2006/main"/>
          <a:ln xmlns:a="http://schemas.openxmlformats.org/drawingml/2006/main" w="57150">
            <a:solidFill>
              <a:srgbClr val="234D78"/>
            </a:solidFill>
            <a:prstDash val="solid"/>
          </a:ln>
        </p:spPr>
      </p:sp>
      <p:sp>
        <p:nvSpPr>
          <p:cNvPr id="11" name="Text 9">
            <a:extLst xmlns:a="http://schemas.openxmlformats.org/drawingml/2006/main">
              <a:ext uri="{FF2B5EF4-FFF2-40B4-BE49-F238E27FC236}">
                <a16:creationId xmlns:a16="http://schemas.microsoft.com/office/drawing/2014/main" id="{5D4F4C9E-56D5-4F2F-AB9A-79F43811256B}"/>
              </a:ext>
            </a:extLst>
          </p:cNvPr>
          <p:cNvSpPr>
            <a:spLocks xmlns:a="http://schemas.openxmlformats.org/drawingml/2006/main" noGrp="1"/>
          </p:cNvSpPr>
          <p:nvPr/>
        </p:nvSpPr>
        <p:spPr>
          <a:xfrm xmlns:a="http://schemas.openxmlformats.org/drawingml/2006/main">
            <a:off x="552450" y="1012775"/>
            <a:ext cx="3857054" cy="141684"/>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116"/>
              </a:lnSpc>
              <a:buNone/>
              <a:defRPr sz="900" b="1">
                <a:solidFill>
                  <a:srgbClr val="D63B4A"/>
                </a:solidFill>
                <a:latin typeface="Arial"/>
                <a:ea typeface="Arial"/>
                <a:cs typeface="Arial"/>
              </a:defRPr>
            </a:pPr>
            <a:r>
              <a:rPr sz="900" b="1">
                <a:solidFill>
                  <a:srgbClr val="D63B4A"/>
                </a:solidFill>
                <a:latin typeface="Arial"/>
                <a:ea typeface="Arial"/>
                <a:cs typeface="Arial"/>
              </a:rPr>
              <a:t>CLOSEST AUTOMATIC COMPARATORS</a:t>
            </a:r>
            <a:endParaRPr sz="900"/>
          </a:p>
        </p:txBody>
      </p:sp>
      <p:sp>
        <p:nvSpPr>
          <p:cNvPr id="12" name="Text 10">
            <a:extLst xmlns:a="http://schemas.openxmlformats.org/drawingml/2006/main">
              <a:ext uri="{FF2B5EF4-FFF2-40B4-BE49-F238E27FC236}">
                <a16:creationId xmlns:a16="http://schemas.microsoft.com/office/drawing/2014/main" id="{3842EA83-1D83-4660-826E-CE5214F63C42}"/>
              </a:ext>
            </a:extLst>
          </p:cNvPr>
          <p:cNvSpPr>
            <a:spLocks xmlns:a="http://schemas.openxmlformats.org/drawingml/2006/main" noGrp="1"/>
          </p:cNvSpPr>
          <p:nvPr/>
        </p:nvSpPr>
        <p:spPr>
          <a:xfrm xmlns:a="http://schemas.openxmlformats.org/drawingml/2006/main">
            <a:off x="552450" y="1154460"/>
            <a:ext cx="3857054" cy="265361"/>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2090"/>
              </a:lnSpc>
              <a:buNone/>
              <a:defRPr sz="1900" b="1">
                <a:solidFill>
                  <a:srgbClr val="16344F"/>
                </a:solidFill>
                <a:latin typeface="Arial"/>
                <a:ea typeface="Arial"/>
                <a:cs typeface="Arial"/>
              </a:defRPr>
            </a:pPr>
            <a:r>
              <a:rPr sz="1900" b="1">
                <a:solidFill>
                  <a:srgbClr val="16344F"/>
                </a:solidFill>
                <a:latin typeface="Arial"/>
                <a:ea typeface="Arial"/>
                <a:cs typeface="Arial"/>
              </a:rPr>
              <a:t>Filtering and backtracking</a:t>
            </a:r>
            <a:endParaRPr sz="1900"/>
          </a:p>
        </p:txBody>
      </p:sp>
      <p:sp>
        <p:nvSpPr>
          <p:cNvPr id="13" name="Text 11">
            <a:extLst xmlns:a="http://schemas.openxmlformats.org/drawingml/2006/main">
              <a:ext uri="{FF2B5EF4-FFF2-40B4-BE49-F238E27FC236}">
                <a16:creationId xmlns:a16="http://schemas.microsoft.com/office/drawing/2014/main" id="{A3419FE9-C8D6-44DA-B57F-E252344CC138}"/>
              </a:ext>
            </a:extLst>
          </p:cNvPr>
          <p:cNvSpPr>
            <a:spLocks xmlns:a="http://schemas.openxmlformats.org/drawingml/2006/main" noGrp="1"/>
          </p:cNvSpPr>
          <p:nvPr/>
        </p:nvSpPr>
        <p:spPr>
          <a:xfrm xmlns:a="http://schemas.openxmlformats.org/drawingml/2006/main">
            <a:off x="552450" y="1419820"/>
            <a:ext cx="3857054" cy="767953"/>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513"/>
              </a:lnSpc>
              <a:buNone/>
              <a:defRPr sz="1220" b="0">
                <a:solidFill>
                  <a:srgbClr val="12263A"/>
                </a:solidFill>
                <a:latin typeface="Arial"/>
                <a:ea typeface="Arial"/>
                <a:cs typeface="Arial"/>
              </a:defRPr>
            </a:pPr>
            <a:r>
              <a:rPr sz="1220" b="0">
                <a:solidFill>
                  <a:srgbClr val="12263A"/>
                </a:solidFill>
                <a:latin typeface="Arial"/>
                <a:ea typeface="Arial"/>
                <a:cs typeface="Arial"/>
              </a:rPr>
              <a:t>PSI validates trajectories and grasps in simulation. RIGVid tracks pose and backtracks after deviations. Reproduction requires their methods and input assumptions.</a:t>
            </a:r>
            <a:endParaRPr sz="1220"/>
          </a:p>
        </p:txBody>
      </p:sp>
      <p:sp>
        <p:nvSpPr>
          <p:cNvPr id="14" name="Text 12">
            <a:extLst xmlns:a="http://schemas.openxmlformats.org/drawingml/2006/main">
              <a:ext uri="{FF2B5EF4-FFF2-40B4-BE49-F238E27FC236}">
                <a16:creationId xmlns:a16="http://schemas.microsoft.com/office/drawing/2014/main" id="{2795A777-74BE-424F-BC35-D28064ED9CD5}"/>
              </a:ext>
            </a:extLst>
          </p:cNvPr>
          <p:cNvSpPr>
            <a:spLocks xmlns:a="http://schemas.openxmlformats.org/drawingml/2006/main" noGrp="1"/>
          </p:cNvSpPr>
          <p:nvPr/>
        </p:nvSpPr>
        <p:spPr>
          <a:xfrm xmlns:a="http://schemas.openxmlformats.org/drawingml/2006/main">
            <a:off x="552450" y="2340173"/>
            <a:ext cx="1105198" cy="236934"/>
          </a:xfrm>
          <a:prstGeom xmlns:a="http://schemas.openxmlformats.org/drawingml/2006/main" prst="roundRect">
            <a:avLst>
              <a:gd name="adj" fmla="val 48241"/>
            </a:avLst>
          </a:prstGeom>
          <a:solidFill xmlns:a="http://schemas.openxmlformats.org/drawingml/2006/main">
            <a:srgbClr val="EEF4FA"/>
          </a:solidFill>
          <a:ln xmlns:a="http://schemas.openxmlformats.org/drawingml/2006/main" w="9525">
            <a:solidFill>
              <a:srgbClr val="CAD6E2"/>
            </a:solidFill>
          </a:ln>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15" name="Text 13">
            <a:extLst xmlns:a="http://schemas.openxmlformats.org/drawingml/2006/main">
              <a:ext uri="{FF2B5EF4-FFF2-40B4-BE49-F238E27FC236}">
                <a16:creationId xmlns:a16="http://schemas.microsoft.com/office/drawing/2014/main" id="{CB9FD5B3-EF9B-454C-8D16-6C5841A900C1}"/>
              </a:ext>
            </a:extLst>
          </p:cNvPr>
          <p:cNvSpPr>
            <a:spLocks xmlns:a="http://schemas.openxmlformats.org/drawingml/2006/main" noGrp="1"/>
          </p:cNvSpPr>
          <p:nvPr/>
        </p:nvSpPr>
        <p:spPr>
          <a:xfrm xmlns:a="http://schemas.openxmlformats.org/drawingml/2006/main">
            <a:off x="650825" y="2387798"/>
            <a:ext cx="926616" cy="141684"/>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116"/>
              </a:lnSpc>
              <a:buNone/>
              <a:defRPr sz="900" b="1">
                <a:solidFill>
                  <a:srgbClr val="16344F"/>
                </a:solidFill>
                <a:latin typeface="Arial"/>
                <a:ea typeface="Arial"/>
                <a:cs typeface="Arial"/>
              </a:defRPr>
            </a:pPr>
            <a:r>
              <a:rPr sz="900" b="1">
                <a:solidFill>
                  <a:srgbClr val="16344F"/>
                </a:solidFill>
                <a:latin typeface="Arial"/>
                <a:ea typeface="Arial"/>
                <a:cs typeface="Arial"/>
              </a:rPr>
              <a:t>Filtering</a:t>
            </a:r>
            <a:endParaRPr sz="900"/>
          </a:p>
        </p:txBody>
      </p:sp>
      <p:sp>
        <p:nvSpPr>
          <p:cNvPr id="16" name="Text 14">
            <a:extLst xmlns:a="http://schemas.openxmlformats.org/drawingml/2006/main">
              <a:ext uri="{FF2B5EF4-FFF2-40B4-BE49-F238E27FC236}">
                <a16:creationId xmlns:a16="http://schemas.microsoft.com/office/drawing/2014/main" id="{D6849429-D064-45FE-94DA-706BAFFF92AF}"/>
              </a:ext>
            </a:extLst>
          </p:cNvPr>
          <p:cNvSpPr>
            <a:spLocks xmlns:a="http://schemas.openxmlformats.org/drawingml/2006/main" noGrp="1"/>
          </p:cNvSpPr>
          <p:nvPr/>
        </p:nvSpPr>
        <p:spPr>
          <a:xfrm xmlns:a="http://schemas.openxmlformats.org/drawingml/2006/main">
            <a:off x="1733848" y="2340173"/>
            <a:ext cx="1073348" cy="236934"/>
          </a:xfrm>
          <a:prstGeom xmlns:a="http://schemas.openxmlformats.org/drawingml/2006/main" prst="roundRect">
            <a:avLst>
              <a:gd name="adj" fmla="val 48241"/>
            </a:avLst>
          </a:prstGeom>
          <a:solidFill xmlns:a="http://schemas.openxmlformats.org/drawingml/2006/main">
            <a:srgbClr val="EEF4FA"/>
          </a:solidFill>
          <a:ln xmlns:a="http://schemas.openxmlformats.org/drawingml/2006/main" w="9525">
            <a:solidFill>
              <a:srgbClr val="CAD6E2"/>
            </a:solidFill>
          </a:ln>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17" name="Text 15">
            <a:extLst xmlns:a="http://schemas.openxmlformats.org/drawingml/2006/main">
              <a:ext uri="{FF2B5EF4-FFF2-40B4-BE49-F238E27FC236}">
                <a16:creationId xmlns:a16="http://schemas.microsoft.com/office/drawing/2014/main" id="{4F29D3C4-D448-4E8C-AB82-10B7B7FC4FFC}"/>
              </a:ext>
            </a:extLst>
          </p:cNvPr>
          <p:cNvSpPr>
            <a:spLocks xmlns:a="http://schemas.openxmlformats.org/drawingml/2006/main" noGrp="1"/>
          </p:cNvSpPr>
          <p:nvPr/>
        </p:nvSpPr>
        <p:spPr>
          <a:xfrm xmlns:a="http://schemas.openxmlformats.org/drawingml/2006/main">
            <a:off x="1832223" y="2387798"/>
            <a:ext cx="894130" cy="141684"/>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116"/>
              </a:lnSpc>
              <a:buNone/>
              <a:defRPr sz="900" b="1">
                <a:solidFill>
                  <a:srgbClr val="16344F"/>
                </a:solidFill>
                <a:latin typeface="Arial"/>
                <a:ea typeface="Arial"/>
                <a:cs typeface="Arial"/>
              </a:defRPr>
            </a:pPr>
            <a:r>
              <a:rPr sz="900" b="1">
                <a:solidFill>
                  <a:srgbClr val="16344F"/>
                </a:solidFill>
                <a:latin typeface="Arial"/>
                <a:ea typeface="Arial"/>
                <a:cs typeface="Arial"/>
              </a:rPr>
              <a:t>Recovery</a:t>
            </a:r>
            <a:endParaRPr sz="900"/>
          </a:p>
        </p:txBody>
      </p:sp>
      <p:sp>
        <p:nvSpPr>
          <p:cNvPr id="18" name="Text 16">
            <a:extLst xmlns:a="http://schemas.openxmlformats.org/drawingml/2006/main">
              <a:ext uri="{FF2B5EF4-FFF2-40B4-BE49-F238E27FC236}">
                <a16:creationId xmlns:a16="http://schemas.microsoft.com/office/drawing/2014/main" id="{11B47E26-326C-43CD-BFBC-F54B2058895C}"/>
              </a:ext>
            </a:extLst>
          </p:cNvPr>
          <p:cNvSpPr>
            <a:spLocks xmlns:a="http://schemas.openxmlformats.org/drawingml/2006/main" noGrp="1"/>
          </p:cNvSpPr>
          <p:nvPr/>
        </p:nvSpPr>
        <p:spPr>
          <a:xfrm xmlns:a="http://schemas.openxmlformats.org/drawingml/2006/main">
            <a:off x="2883396" y="2340173"/>
            <a:ext cx="1219349" cy="236934"/>
          </a:xfrm>
          <a:prstGeom xmlns:a="http://schemas.openxmlformats.org/drawingml/2006/main" prst="roundRect">
            <a:avLst>
              <a:gd name="adj" fmla="val 48241"/>
            </a:avLst>
          </a:prstGeom>
          <a:solidFill xmlns:a="http://schemas.openxmlformats.org/drawingml/2006/main">
            <a:srgbClr val="EEF4FA"/>
          </a:solidFill>
          <a:ln xmlns:a="http://schemas.openxmlformats.org/drawingml/2006/main" w="9525">
            <a:solidFill>
              <a:srgbClr val="CAD6E2"/>
            </a:solidFill>
          </a:ln>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19" name="Text 17">
            <a:extLst xmlns:a="http://schemas.openxmlformats.org/drawingml/2006/main">
              <a:ext uri="{FF2B5EF4-FFF2-40B4-BE49-F238E27FC236}">
                <a16:creationId xmlns:a16="http://schemas.microsoft.com/office/drawing/2014/main" id="{FA7CB8BC-C09F-4FCA-98E2-C7058085C02D}"/>
              </a:ext>
            </a:extLst>
          </p:cNvPr>
          <p:cNvSpPr>
            <a:spLocks xmlns:a="http://schemas.openxmlformats.org/drawingml/2006/main" noGrp="1"/>
          </p:cNvSpPr>
          <p:nvPr/>
        </p:nvSpPr>
        <p:spPr>
          <a:xfrm xmlns:a="http://schemas.openxmlformats.org/drawingml/2006/main">
            <a:off x="2981771" y="2387798"/>
            <a:ext cx="1043050" cy="141684"/>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116"/>
              </a:lnSpc>
              <a:buNone/>
              <a:defRPr sz="900" b="1">
                <a:solidFill>
                  <a:srgbClr val="16344F"/>
                </a:solidFill>
                <a:latin typeface="Arial"/>
                <a:ea typeface="Arial"/>
                <a:cs typeface="Arial"/>
              </a:defRPr>
            </a:pPr>
            <a:r>
              <a:rPr sz="900" b="1">
                <a:solidFill>
                  <a:srgbClr val="16344F"/>
                </a:solidFill>
                <a:latin typeface="Arial"/>
                <a:ea typeface="Arial"/>
                <a:cs typeface="Arial"/>
              </a:rPr>
              <a:t>Pose inputs</a:t>
            </a:r>
            <a:endParaRPr sz="900"/>
          </a:p>
        </p:txBody>
      </p:sp>
      <p:sp>
        <p:nvSpPr>
          <p:cNvPr id="20" name="Text 18">
            <a:extLst xmlns:a="http://schemas.openxmlformats.org/drawingml/2006/main">
              <a:ext uri="{FF2B5EF4-FFF2-40B4-BE49-F238E27FC236}">
                <a16:creationId xmlns:a16="http://schemas.microsoft.com/office/drawing/2014/main" id="{D1112449-4C17-422E-98E8-4B835C6F4C55}"/>
              </a:ext>
            </a:extLst>
          </p:cNvPr>
          <p:cNvSpPr>
            <a:spLocks xmlns:a="http://schemas.openxmlformats.org/drawingml/2006/main" noGrp="1"/>
          </p:cNvSpPr>
          <p:nvPr/>
        </p:nvSpPr>
        <p:spPr>
          <a:xfrm xmlns:a="http://schemas.openxmlformats.org/drawingml/2006/main">
            <a:off x="4648200" y="850850"/>
            <a:ext cx="4152900" cy="3551039"/>
          </a:xfrm>
          <a:prstGeom xmlns:a="http://schemas.openxmlformats.org/drawingml/2006/main" prst="roundRect">
            <a:avLst>
              <a:gd name="adj" fmla="val 2861"/>
            </a:avLst>
          </a:prstGeom>
          <a:solidFill xmlns:a="http://schemas.openxmlformats.org/drawingml/2006/main">
            <a:srgbClr val="FFF8E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21" name="Shape 19">
            <a:extLst xmlns:a="http://schemas.openxmlformats.org/drawingml/2006/main">
              <a:ext uri="{FF2B5EF4-FFF2-40B4-BE49-F238E27FC236}">
                <a16:creationId xmlns:a16="http://schemas.microsoft.com/office/drawing/2014/main" id="{65E534FB-A391-4006-99F6-71192A282C86}"/>
              </a:ext>
            </a:extLst>
          </p:cNvPr>
          <p:cNvSpPr>
            <a:spLocks xmlns:a="http://schemas.openxmlformats.org/drawingml/2006/main" noGrp="1"/>
          </p:cNvSpPr>
          <p:nvPr/>
        </p:nvSpPr>
        <p:spPr>
          <a:xfrm xmlns:a="http://schemas.openxmlformats.org/drawingml/2006/main">
            <a:off x="4648200" y="855613"/>
            <a:ext cx="4152900"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22" name="Shape 20">
            <a:extLst xmlns:a="http://schemas.openxmlformats.org/drawingml/2006/main">
              <a:ext uri="{FF2B5EF4-FFF2-40B4-BE49-F238E27FC236}">
                <a16:creationId xmlns:a16="http://schemas.microsoft.com/office/drawing/2014/main" id="{F133BEB1-546A-4E97-BEEF-0EF76A52246E}"/>
              </a:ext>
            </a:extLst>
          </p:cNvPr>
          <p:cNvSpPr>
            <a:spLocks xmlns:a="http://schemas.openxmlformats.org/drawingml/2006/main" noGrp="1"/>
          </p:cNvSpPr>
          <p:nvPr/>
        </p:nvSpPr>
        <p:spPr>
          <a:xfrm xmlns:a="http://schemas.openxmlformats.org/drawingml/2006/main">
            <a:off x="8796338" y="850850"/>
            <a:ext cx="0" cy="3551039"/>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23" name="Shape 21">
            <a:extLst xmlns:a="http://schemas.openxmlformats.org/drawingml/2006/main">
              <a:ext uri="{FF2B5EF4-FFF2-40B4-BE49-F238E27FC236}">
                <a16:creationId xmlns:a16="http://schemas.microsoft.com/office/drawing/2014/main" id="{91E1199B-1668-4BCB-8001-18B72E1C9C7C}"/>
              </a:ext>
            </a:extLst>
          </p:cNvPr>
          <p:cNvSpPr>
            <a:spLocks xmlns:a="http://schemas.openxmlformats.org/drawingml/2006/main" noGrp="1"/>
          </p:cNvSpPr>
          <p:nvPr/>
        </p:nvSpPr>
        <p:spPr>
          <a:xfrm xmlns:a="http://schemas.openxmlformats.org/drawingml/2006/main">
            <a:off x="4648200" y="4397127"/>
            <a:ext cx="4152900"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24" name="Shape 22">
            <a:extLst xmlns:a="http://schemas.openxmlformats.org/drawingml/2006/main">
              <a:ext uri="{FF2B5EF4-FFF2-40B4-BE49-F238E27FC236}">
                <a16:creationId xmlns:a16="http://schemas.microsoft.com/office/drawing/2014/main" id="{84E68168-BF11-4790-B11C-F886EC8660EA}"/>
              </a:ext>
            </a:extLst>
          </p:cNvPr>
          <p:cNvSpPr>
            <a:spLocks xmlns:a="http://schemas.openxmlformats.org/drawingml/2006/main" noGrp="1"/>
          </p:cNvSpPr>
          <p:nvPr/>
        </p:nvSpPr>
        <p:spPr>
          <a:xfrm xmlns:a="http://schemas.openxmlformats.org/drawingml/2006/main">
            <a:off x="4676775" y="850850"/>
            <a:ext cx="0" cy="3551039"/>
          </a:xfrm>
          <a:prstGeom xmlns:a="http://schemas.openxmlformats.org/drawingml/2006/main" prst="line">
            <a:avLst/>
          </a:prstGeom>
          <a:noFill xmlns:a="http://schemas.openxmlformats.org/drawingml/2006/main"/>
          <a:ln xmlns:a="http://schemas.openxmlformats.org/drawingml/2006/main" w="57150">
            <a:solidFill>
              <a:srgbClr val="E8A525"/>
            </a:solidFill>
            <a:prstDash val="solid"/>
          </a:ln>
        </p:spPr>
      </p:sp>
      <p:sp>
        <p:nvSpPr>
          <p:cNvPr id="25" name="Text 23">
            <a:extLst xmlns:a="http://schemas.openxmlformats.org/drawingml/2006/main">
              <a:ext uri="{FF2B5EF4-FFF2-40B4-BE49-F238E27FC236}">
                <a16:creationId xmlns:a16="http://schemas.microsoft.com/office/drawing/2014/main" id="{C6A4A094-7C93-406A-96E2-ABA5F5D46CB6}"/>
              </a:ext>
            </a:extLst>
          </p:cNvPr>
          <p:cNvSpPr>
            <a:spLocks xmlns:a="http://schemas.openxmlformats.org/drawingml/2006/main" noGrp="1"/>
          </p:cNvSpPr>
          <p:nvPr/>
        </p:nvSpPr>
        <p:spPr>
          <a:xfrm xmlns:a="http://schemas.openxmlformats.org/drawingml/2006/main">
            <a:off x="4857750" y="1012775"/>
            <a:ext cx="3857054" cy="141684"/>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116"/>
              </a:lnSpc>
              <a:buNone/>
              <a:defRPr sz="900" b="1">
                <a:solidFill>
                  <a:srgbClr val="D63B4A"/>
                </a:solidFill>
                <a:latin typeface="Arial"/>
                <a:ea typeface="Arial"/>
                <a:cs typeface="Arial"/>
              </a:defRPr>
            </a:pPr>
            <a:r>
              <a:rPr sz="900" b="1">
                <a:solidFill>
                  <a:srgbClr val="D63B4A"/>
                </a:solidFill>
                <a:latin typeface="Arial"/>
                <a:ea typeface="Arial"/>
                <a:cs typeface="Arial"/>
              </a:rPr>
              <a:t>BASELINE INTERPRETATION</a:t>
            </a:r>
            <a:endParaRPr sz="900"/>
          </a:p>
        </p:txBody>
      </p:sp>
      <p:sp>
        <p:nvSpPr>
          <p:cNvPr id="26" name="Text 24">
            <a:extLst xmlns:a="http://schemas.openxmlformats.org/drawingml/2006/main">
              <a:ext uri="{FF2B5EF4-FFF2-40B4-BE49-F238E27FC236}">
                <a16:creationId xmlns:a16="http://schemas.microsoft.com/office/drawing/2014/main" id="{AEB2ACA9-1FE9-4D64-94AB-580913EAA2FB}"/>
              </a:ext>
            </a:extLst>
          </p:cNvPr>
          <p:cNvSpPr>
            <a:spLocks xmlns:a="http://schemas.openxmlformats.org/drawingml/2006/main" noGrp="1"/>
          </p:cNvSpPr>
          <p:nvPr/>
        </p:nvSpPr>
        <p:spPr>
          <a:xfrm xmlns:a="http://schemas.openxmlformats.org/drawingml/2006/main">
            <a:off x="5073551" y="1205210"/>
            <a:ext cx="3565624" cy="1102519"/>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PSI differs on all/any failed-grasp rejection.</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Its 2 cm/0.2 rad threshold belongs to ICP.</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RIGVid uses a depth anchor and feedback.</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An internal filter requires a separate label.</a:t>
            </a:r>
            <a:endParaRPr sz="1170"/>
          </a:p>
        </p:txBody>
      </p:sp>
      <p:sp>
        <p:nvSpPr>
          <p:cNvPr id="27" name="Text 25">
            <a:extLst xmlns:a="http://schemas.openxmlformats.org/drawingml/2006/main">
              <a:ext uri="{FF2B5EF4-FFF2-40B4-BE49-F238E27FC236}">
                <a16:creationId xmlns:a16="http://schemas.microsoft.com/office/drawing/2014/main" id="{F21FB86A-790E-4F94-A1E8-459D3CB186B8}"/>
              </a:ext>
            </a:extLst>
          </p:cNvPr>
          <p:cNvSpPr>
            <a:spLocks xmlns:a="http://schemas.openxmlformats.org/drawingml/2006/main" noGrp="1"/>
          </p:cNvSpPr>
          <p:nvPr/>
        </p:nvSpPr>
        <p:spPr>
          <a:xfrm xmlns:a="http://schemas.openxmlformats.org/drawingml/2006/main">
            <a:off x="342900" y="4516189"/>
            <a:ext cx="8627364" cy="14481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140"/>
              </a:lnSpc>
              <a:buNone/>
              <a:defRPr sz="950" b="0">
                <a:solidFill>
                  <a:srgbClr val="617286"/>
                </a:solidFill>
                <a:latin typeface="Arial"/>
                <a:ea typeface="Arial"/>
                <a:cs typeface="Arial"/>
              </a:defRPr>
            </a:pPr>
            <a:r>
              <a:rPr sz="950" b="0">
                <a:solidFill>
                  <a:srgbClr val="617286"/>
                </a:solidFill>
                <a:latin typeface="Arial"/>
                <a:ea typeface="Arial"/>
                <a:cs typeface="Arial"/>
              </a:rPr>
              <a:t>Automatic recovery and human pose correction differ in information, feedback, and cost. Preserve these distinctions.</a:t>
            </a:r>
            <a:endParaRPr sz="950"/>
          </a:p>
        </p:txBody>
      </p:sp>
      <p:sp>
        <p:nvSpPr>
          <p:cNvPr id="28" name="Text 26">
            <a:extLst xmlns:a="http://schemas.openxmlformats.org/drawingml/2006/main">
              <a:ext uri="{FF2B5EF4-FFF2-40B4-BE49-F238E27FC236}">
                <a16:creationId xmlns:a16="http://schemas.microsoft.com/office/drawing/2014/main" id="{31566370-D0AE-47C6-9945-B72CB068B60A}"/>
              </a:ext>
            </a:extLst>
          </p:cNvPr>
          <p:cNvSpPr>
            <a:spLocks xmlns:a="http://schemas.openxmlformats.org/drawingml/2006/main" noGrp="1"/>
          </p:cNvSpPr>
          <p:nvPr/>
        </p:nvSpPr>
        <p:spPr>
          <a:xfrm xmlns:a="http://schemas.openxmlformats.org/drawingml/2006/main">
            <a:off x="8339328" y="4965192"/>
            <a:ext cx="502920"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60">
                <a:solidFill>
                  <a:srgbClr val="7A8794"/>
                </a:solidFill>
                <a:latin typeface="Arial"/>
                <a:ea typeface="Arial"/>
                <a:cs typeface="Arial"/>
              </a:rPr>
              <a:t>14 / 31</a:t>
            </a:r>
            <a:endParaRPr sz="660"/>
          </a:p>
        </p:txBody>
      </p:sp>
      <p:sp>
        <p:nvSpPr>
          <p:cNvPr id="29" name="Sources footer">
            <a:extLst xmlns:a="http://schemas.openxmlformats.org/drawingml/2006/main">
              <a:ext uri="{FF2B5EF4-FFF2-40B4-BE49-F238E27FC236}">
                <a16:creationId xmlns:a16="http://schemas.microsoft.com/office/drawing/2014/main" id="{D0704292-F574-4FA6-A5F0-83B751CC9A57}"/>
              </a:ext>
            </a:extLst>
          </p:cNvPr>
          <p:cNvSpPr>
            <a:spLocks xmlns:a="http://schemas.openxmlformats.org/drawingml/2006/main" noGrp="1"/>
          </p:cNvSpPr>
          <p:nvPr/>
        </p:nvSpPr>
        <p:spPr>
          <a:xfrm xmlns:a="http://schemas.openxmlformats.org/drawingml/2006/main">
            <a:off x="438150" y="4924425"/>
            <a:ext cx="72961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40" b="0">
                <a:solidFill>
                  <a:srgbClr val="234D78"/>
                </a:solidFill>
                <a:latin typeface="Arial"/>
                <a:ea typeface="Arial"/>
                <a:cs typeface="Arial"/>
              </a:defRPr>
            </a:pPr>
            <a:r>
              <a:rPr sz="640" b="0">
                <a:solidFill>
                  <a:srgbClr val="234D78"/>
                </a:solidFill>
                <a:latin typeface="Arial"/>
                <a:ea typeface="Arial"/>
                <a:cs typeface="Arial"/>
                <a:hlinkClick xmlns:r="http://schemas.openxmlformats.org/officeDocument/2006/relationships" r:id="R0107dff4df3c47a6"/>
              </a:rPr>
              <a:t>Reader guide and sources</a:t>
            </a:r>
          </a:p>
        </p:txBody>
      </p:sp>
    </p:spTree>
    <p:extLst>
      <p:ext uri="{BB962C8B-B14F-4D97-AF65-F5344CB8AC3E}">
        <p14:creationId xmlns:p14="http://schemas.microsoft.com/office/powerpoint/2010/main" val="171973155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3003383-BD51-42A6-A94A-49E116073539}"/>
              </a:ext>
            </a:extLst>
          </p:cNvPr>
          <p:cNvSpPr>
            <a:spLocks xmlns:a="http://schemas.openxmlformats.org/drawingml/2006/main" noGrp="1"/>
          </p:cNvSpPr>
          <p:nvPr/>
        </p:nvSpPr>
        <p:spPr>
          <a:xfrm xmlns:a="http://schemas.openxmlformats.org/drawingml/2006/main">
            <a:off x="0" y="0"/>
            <a:ext cx="9144000" cy="609600"/>
          </a:xfrm>
          <a:prstGeom xmlns:a="http://schemas.openxmlformats.org/drawingml/2006/main" prst="rect">
            <a:avLst/>
          </a:prstGeom>
          <a:solidFill xmlns:a="http://schemas.openxmlformats.org/drawingml/2006/main">
            <a:srgbClr val="234D7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3" name="Text 1">
            <a:extLst xmlns:a="http://schemas.openxmlformats.org/drawingml/2006/main">
              <a:ext uri="{FF2B5EF4-FFF2-40B4-BE49-F238E27FC236}">
                <a16:creationId xmlns:a16="http://schemas.microsoft.com/office/drawing/2014/main" id="{21744224-205B-4309-8636-3F3D7639B582}"/>
              </a:ext>
            </a:extLst>
          </p:cNvPr>
          <p:cNvSpPr>
            <a:spLocks xmlns:a="http://schemas.openxmlformats.org/drawingml/2006/main" noGrp="1"/>
          </p:cNvSpPr>
          <p:nvPr/>
        </p:nvSpPr>
        <p:spPr>
          <a:xfrm xmlns:a="http://schemas.openxmlformats.org/drawingml/2006/main">
            <a:off x="330136" y="164116"/>
            <a:ext cx="6619875" cy="3238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2415"/>
              </a:lnSpc>
              <a:buNone/>
              <a:defRPr sz="2300" b="1">
                <a:solidFill>
                  <a:srgbClr val="FFFFFF"/>
                </a:solidFill>
                <a:latin typeface="Arial"/>
                <a:ea typeface="Arial"/>
                <a:cs typeface="Arial"/>
              </a:defRPr>
            </a:pPr>
            <a:r>
              <a:rPr sz="2300" b="1">
                <a:solidFill>
                  <a:srgbClr val="FFFFFF"/>
                </a:solidFill>
                <a:latin typeface="Arial"/>
                <a:ea typeface="Arial"/>
                <a:cs typeface="Arial"/>
              </a:rPr>
              <a:t>Reliability and budgeted human intervention</a:t>
            </a:r>
            <a:endParaRPr sz="2300"/>
          </a:p>
        </p:txBody>
      </p:sp>
      <p:sp>
        <p:nvSpPr>
          <p:cNvPr id="4" name="Text 2">
            <a:extLst xmlns:a="http://schemas.openxmlformats.org/drawingml/2006/main">
              <a:ext uri="{FF2B5EF4-FFF2-40B4-BE49-F238E27FC236}">
                <a16:creationId xmlns:a16="http://schemas.microsoft.com/office/drawing/2014/main" id="{B0A3897A-A435-4567-91B0-DC48AC44848F}"/>
              </a:ext>
            </a:extLst>
          </p:cNvPr>
          <p:cNvSpPr>
            <a:spLocks xmlns:a="http://schemas.openxmlformats.org/drawingml/2006/main" noGrp="1"/>
          </p:cNvSpPr>
          <p:nvPr/>
        </p:nvSpPr>
        <p:spPr>
          <a:xfrm xmlns:a="http://schemas.openxmlformats.org/drawingml/2006/main">
            <a:off x="7372350" y="190500"/>
            <a:ext cx="14478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r">
              <a:lnSpc>
                <a:spcPts val="1054"/>
              </a:lnSpc>
              <a:buNone/>
              <a:defRPr sz="788" b="1">
                <a:solidFill>
                  <a:srgbClr val="FFFFFF"/>
                </a:solidFill>
                <a:latin typeface="Arial"/>
                <a:ea typeface="Arial"/>
                <a:cs typeface="Arial"/>
              </a:defRPr>
            </a:pPr>
            <a:r>
              <a:rPr sz="788" b="1">
                <a:solidFill>
                  <a:srgbClr val="FFFFFF"/>
                </a:solidFill>
                <a:latin typeface="Arial"/>
                <a:ea typeface="Arial"/>
                <a:cs typeface="Arial"/>
              </a:rPr>
              <a:t>CS CAPSTONE REFERENCE</a:t>
            </a:r>
            <a:endParaRPr sz="850"/>
          </a:p>
        </p:txBody>
      </p:sp>
      <p:sp>
        <p:nvSpPr>
          <p:cNvPr id="5" name="Text 3">
            <a:extLst xmlns:a="http://schemas.openxmlformats.org/drawingml/2006/main">
              <a:ext uri="{FF2B5EF4-FFF2-40B4-BE49-F238E27FC236}">
                <a16:creationId xmlns:a16="http://schemas.microsoft.com/office/drawing/2014/main" id="{F4B42DAA-5336-4D3F-93CA-97344445435F}"/>
              </a:ext>
            </a:extLst>
          </p:cNvPr>
          <p:cNvSpPr>
            <a:spLocks xmlns:a="http://schemas.openxmlformats.org/drawingml/2006/main" noGrp="1"/>
          </p:cNvSpPr>
          <p:nvPr/>
        </p:nvSpPr>
        <p:spPr>
          <a:xfrm xmlns:a="http://schemas.openxmlformats.org/drawingml/2006/main">
            <a:off x="330101" y="609600"/>
            <a:ext cx="787301" cy="38100"/>
          </a:xfrm>
          <a:prstGeom xmlns:a="http://schemas.openxmlformats.org/drawingml/2006/main" prst="rect">
            <a:avLst/>
          </a:prstGeom>
          <a:solidFill xmlns:a="http://schemas.openxmlformats.org/drawingml/2006/main">
            <a:srgbClr val="D63B4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6" name="Text 4">
            <a:extLst xmlns:a="http://schemas.openxmlformats.org/drawingml/2006/main">
              <a:ext uri="{FF2B5EF4-FFF2-40B4-BE49-F238E27FC236}">
                <a16:creationId xmlns:a16="http://schemas.microsoft.com/office/drawing/2014/main" id="{9ECD7EEB-2F48-44A6-88D4-092F172CCB37}"/>
              </a:ext>
            </a:extLst>
          </p:cNvPr>
          <p:cNvSpPr>
            <a:spLocks xmlns:a="http://schemas.openxmlformats.org/drawingml/2006/main" noGrp="1"/>
          </p:cNvSpPr>
          <p:nvPr/>
        </p:nvSpPr>
        <p:spPr>
          <a:xfrm xmlns:a="http://schemas.openxmlformats.org/drawingml/2006/main">
            <a:off x="342900" y="850850"/>
            <a:ext cx="4152900" cy="3073450"/>
          </a:xfrm>
          <a:prstGeom xmlns:a="http://schemas.openxmlformats.org/drawingml/2006/main" prst="roundRect">
            <a:avLst>
              <a:gd name="adj" fmla="val 3306"/>
            </a:avLst>
          </a:prstGeom>
          <a:solidFill xmlns:a="http://schemas.openxmlformats.org/drawingml/2006/main">
            <a:srgbClr val="EDFAF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7" name="Shape 5">
            <a:extLst xmlns:a="http://schemas.openxmlformats.org/drawingml/2006/main">
              <a:ext uri="{FF2B5EF4-FFF2-40B4-BE49-F238E27FC236}">
                <a16:creationId xmlns:a16="http://schemas.microsoft.com/office/drawing/2014/main" id="{9CC5F327-26BA-468D-A2B1-E89C233813C1}"/>
              </a:ext>
            </a:extLst>
          </p:cNvPr>
          <p:cNvSpPr>
            <a:spLocks xmlns:a="http://schemas.openxmlformats.org/drawingml/2006/main" noGrp="1"/>
          </p:cNvSpPr>
          <p:nvPr/>
        </p:nvSpPr>
        <p:spPr>
          <a:xfrm xmlns:a="http://schemas.openxmlformats.org/drawingml/2006/main">
            <a:off x="342900" y="855613"/>
            <a:ext cx="4152900"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8" name="Shape 6">
            <a:extLst xmlns:a="http://schemas.openxmlformats.org/drawingml/2006/main">
              <a:ext uri="{FF2B5EF4-FFF2-40B4-BE49-F238E27FC236}">
                <a16:creationId xmlns:a16="http://schemas.microsoft.com/office/drawing/2014/main" id="{6B6463DF-488F-45F1-BEAB-99F518C091EB}"/>
              </a:ext>
            </a:extLst>
          </p:cNvPr>
          <p:cNvSpPr>
            <a:spLocks xmlns:a="http://schemas.openxmlformats.org/drawingml/2006/main" noGrp="1"/>
          </p:cNvSpPr>
          <p:nvPr/>
        </p:nvSpPr>
        <p:spPr>
          <a:xfrm xmlns:a="http://schemas.openxmlformats.org/drawingml/2006/main">
            <a:off x="4491038" y="850850"/>
            <a:ext cx="0" cy="307345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9" name="Shape 7">
            <a:extLst xmlns:a="http://schemas.openxmlformats.org/drawingml/2006/main">
              <a:ext uri="{FF2B5EF4-FFF2-40B4-BE49-F238E27FC236}">
                <a16:creationId xmlns:a16="http://schemas.microsoft.com/office/drawing/2014/main" id="{A590876A-00DE-4871-B645-09B7E2472137}"/>
              </a:ext>
            </a:extLst>
          </p:cNvPr>
          <p:cNvSpPr>
            <a:spLocks xmlns:a="http://schemas.openxmlformats.org/drawingml/2006/main" noGrp="1"/>
          </p:cNvSpPr>
          <p:nvPr/>
        </p:nvSpPr>
        <p:spPr>
          <a:xfrm xmlns:a="http://schemas.openxmlformats.org/drawingml/2006/main">
            <a:off x="342900" y="3919538"/>
            <a:ext cx="4152900"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0" name="Shape 8">
            <a:extLst xmlns:a="http://schemas.openxmlformats.org/drawingml/2006/main">
              <a:ext uri="{FF2B5EF4-FFF2-40B4-BE49-F238E27FC236}">
                <a16:creationId xmlns:a16="http://schemas.microsoft.com/office/drawing/2014/main" id="{D4C116B5-0A8C-42C3-AA94-61A0A3FB15D6}"/>
              </a:ext>
            </a:extLst>
          </p:cNvPr>
          <p:cNvSpPr>
            <a:spLocks xmlns:a="http://schemas.openxmlformats.org/drawingml/2006/main" noGrp="1"/>
          </p:cNvSpPr>
          <p:nvPr/>
        </p:nvSpPr>
        <p:spPr>
          <a:xfrm xmlns:a="http://schemas.openxmlformats.org/drawingml/2006/main">
            <a:off x="371475" y="850850"/>
            <a:ext cx="0" cy="3073450"/>
          </a:xfrm>
          <a:prstGeom xmlns:a="http://schemas.openxmlformats.org/drawingml/2006/main" prst="line">
            <a:avLst/>
          </a:prstGeom>
          <a:noFill xmlns:a="http://schemas.openxmlformats.org/drawingml/2006/main"/>
          <a:ln xmlns:a="http://schemas.openxmlformats.org/drawingml/2006/main" w="57150">
            <a:solidFill>
              <a:srgbClr val="1D9E91"/>
            </a:solidFill>
            <a:prstDash val="solid"/>
          </a:ln>
        </p:spPr>
      </p:sp>
      <p:sp>
        <p:nvSpPr>
          <p:cNvPr id="11" name="Text 9">
            <a:extLst xmlns:a="http://schemas.openxmlformats.org/drawingml/2006/main">
              <a:ext uri="{FF2B5EF4-FFF2-40B4-BE49-F238E27FC236}">
                <a16:creationId xmlns:a16="http://schemas.microsoft.com/office/drawing/2014/main" id="{5FB9BD2F-6C3F-428E-B037-4279C6DA7AFA}"/>
              </a:ext>
            </a:extLst>
          </p:cNvPr>
          <p:cNvSpPr>
            <a:spLocks xmlns:a="http://schemas.openxmlformats.org/drawingml/2006/main" noGrp="1"/>
          </p:cNvSpPr>
          <p:nvPr/>
        </p:nvSpPr>
        <p:spPr>
          <a:xfrm xmlns:a="http://schemas.openxmlformats.org/drawingml/2006/main">
            <a:off x="552450" y="1012775"/>
            <a:ext cx="3857054" cy="141684"/>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116"/>
              </a:lnSpc>
              <a:buNone/>
              <a:defRPr sz="900" b="1">
                <a:solidFill>
                  <a:srgbClr val="D63B4A"/>
                </a:solidFill>
                <a:latin typeface="Arial"/>
                <a:ea typeface="Arial"/>
                <a:cs typeface="Arial"/>
              </a:defRPr>
            </a:pPr>
            <a:r>
              <a:rPr sz="900" b="1">
                <a:solidFill>
                  <a:srgbClr val="D63B4A"/>
                </a:solidFill>
                <a:latin typeface="Arial"/>
                <a:ea typeface="Arial"/>
                <a:cs typeface="Arial"/>
              </a:rPr>
              <a:t>STRUCTURAL PRECEDENTS</a:t>
            </a:r>
            <a:endParaRPr sz="900"/>
          </a:p>
        </p:txBody>
      </p:sp>
      <p:sp>
        <p:nvSpPr>
          <p:cNvPr id="12" name="Text 10">
            <a:extLst xmlns:a="http://schemas.openxmlformats.org/drawingml/2006/main">
              <a:ext uri="{FF2B5EF4-FFF2-40B4-BE49-F238E27FC236}">
                <a16:creationId xmlns:a16="http://schemas.microsoft.com/office/drawing/2014/main" id="{00D3882A-E25A-48B2-99D9-850C2D624B73}"/>
              </a:ext>
            </a:extLst>
          </p:cNvPr>
          <p:cNvSpPr>
            <a:spLocks xmlns:a="http://schemas.openxmlformats.org/drawingml/2006/main" noGrp="1"/>
          </p:cNvSpPr>
          <p:nvPr/>
        </p:nvSpPr>
        <p:spPr>
          <a:xfrm xmlns:a="http://schemas.openxmlformats.org/drawingml/2006/main">
            <a:off x="552450" y="1154460"/>
            <a:ext cx="3857054" cy="265361"/>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2090"/>
              </a:lnSpc>
              <a:buNone/>
              <a:defRPr sz="1900" b="1">
                <a:solidFill>
                  <a:srgbClr val="16344F"/>
                </a:solidFill>
                <a:latin typeface="Arial"/>
                <a:ea typeface="Arial"/>
                <a:cs typeface="Arial"/>
              </a:defRPr>
            </a:pPr>
            <a:r>
              <a:rPr sz="1900" b="1">
                <a:solidFill>
                  <a:srgbClr val="16344F"/>
                </a:solidFill>
                <a:latin typeface="Arial"/>
                <a:ea typeface="Arial"/>
                <a:cs typeface="Arial"/>
              </a:rPr>
              <a:t>ThriftyDAgger and VR-DAgger</a:t>
            </a:r>
            <a:endParaRPr sz="1900"/>
          </a:p>
        </p:txBody>
      </p:sp>
      <p:sp>
        <p:nvSpPr>
          <p:cNvPr id="13" name="Text 11">
            <a:extLst xmlns:a="http://schemas.openxmlformats.org/drawingml/2006/main">
              <a:ext uri="{FF2B5EF4-FFF2-40B4-BE49-F238E27FC236}">
                <a16:creationId xmlns:a16="http://schemas.microsoft.com/office/drawing/2014/main" id="{EAE58CED-A40B-44A9-908E-7A19DD41D080}"/>
              </a:ext>
            </a:extLst>
          </p:cNvPr>
          <p:cNvSpPr>
            <a:spLocks xmlns:a="http://schemas.openxmlformats.org/drawingml/2006/main" noGrp="1"/>
          </p:cNvSpPr>
          <p:nvPr/>
        </p:nvSpPr>
        <p:spPr>
          <a:xfrm xmlns:a="http://schemas.openxmlformats.org/drawingml/2006/main">
            <a:off x="552450" y="1419820"/>
            <a:ext cx="3857054" cy="767953"/>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513"/>
              </a:lnSpc>
              <a:buNone/>
              <a:defRPr sz="1220" b="0">
                <a:solidFill>
                  <a:srgbClr val="12263A"/>
                </a:solidFill>
                <a:latin typeface="Arial"/>
                <a:ea typeface="Arial"/>
                <a:cs typeface="Arial"/>
              </a:defRPr>
            </a:pPr>
            <a:r>
              <a:rPr sz="1220" b="0">
                <a:solidFill>
                  <a:srgbClr val="12263A"/>
                </a:solidFill>
                <a:latin typeface="Arial"/>
                <a:ea typeface="Arial"/>
                <a:cs typeface="Arial"/>
              </a:rPr>
              <a:t>Robot-triggered intervention is established. VR-DAgger selects a timestep using action uncertainty, then teleoperates the remainder. Its budget counts correction samples.</a:t>
            </a:r>
            <a:endParaRPr sz="1220"/>
          </a:p>
        </p:txBody>
      </p:sp>
      <p:sp>
        <p:nvSpPr>
          <p:cNvPr id="14" name="Text 12">
            <a:extLst xmlns:a="http://schemas.openxmlformats.org/drawingml/2006/main">
              <a:ext uri="{FF2B5EF4-FFF2-40B4-BE49-F238E27FC236}">
                <a16:creationId xmlns:a16="http://schemas.microsoft.com/office/drawing/2014/main" id="{EADA0CA1-043E-462A-8C93-03B97B0BBD1F}"/>
              </a:ext>
            </a:extLst>
          </p:cNvPr>
          <p:cNvSpPr>
            <a:spLocks xmlns:a="http://schemas.openxmlformats.org/drawingml/2006/main" noGrp="1"/>
          </p:cNvSpPr>
          <p:nvPr/>
        </p:nvSpPr>
        <p:spPr>
          <a:xfrm xmlns:a="http://schemas.openxmlformats.org/drawingml/2006/main">
            <a:off x="4648200" y="850850"/>
            <a:ext cx="4152900" cy="3073450"/>
          </a:xfrm>
          <a:prstGeom xmlns:a="http://schemas.openxmlformats.org/drawingml/2006/main" prst="roundRect">
            <a:avLst>
              <a:gd name="adj" fmla="val 3306"/>
            </a:avLst>
          </a:prstGeom>
          <a:solidFill xmlns:a="http://schemas.openxmlformats.org/drawingml/2006/main">
            <a:srgbClr val="FFF1F3"/>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15" name="Shape 13">
            <a:extLst xmlns:a="http://schemas.openxmlformats.org/drawingml/2006/main">
              <a:ext uri="{FF2B5EF4-FFF2-40B4-BE49-F238E27FC236}">
                <a16:creationId xmlns:a16="http://schemas.microsoft.com/office/drawing/2014/main" id="{16FC9692-F4EA-4B06-B5CC-5EC3F99585B7}"/>
              </a:ext>
            </a:extLst>
          </p:cNvPr>
          <p:cNvSpPr>
            <a:spLocks xmlns:a="http://schemas.openxmlformats.org/drawingml/2006/main" noGrp="1"/>
          </p:cNvSpPr>
          <p:nvPr/>
        </p:nvSpPr>
        <p:spPr>
          <a:xfrm xmlns:a="http://schemas.openxmlformats.org/drawingml/2006/main">
            <a:off x="4648200" y="855613"/>
            <a:ext cx="4152900"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6" name="Shape 14">
            <a:extLst xmlns:a="http://schemas.openxmlformats.org/drawingml/2006/main">
              <a:ext uri="{FF2B5EF4-FFF2-40B4-BE49-F238E27FC236}">
                <a16:creationId xmlns:a16="http://schemas.microsoft.com/office/drawing/2014/main" id="{5A5F89D9-B526-4F7E-B707-EA66863C1496}"/>
              </a:ext>
            </a:extLst>
          </p:cNvPr>
          <p:cNvSpPr>
            <a:spLocks xmlns:a="http://schemas.openxmlformats.org/drawingml/2006/main" noGrp="1"/>
          </p:cNvSpPr>
          <p:nvPr/>
        </p:nvSpPr>
        <p:spPr>
          <a:xfrm xmlns:a="http://schemas.openxmlformats.org/drawingml/2006/main">
            <a:off x="8796338" y="850850"/>
            <a:ext cx="0" cy="307345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7" name="Shape 15">
            <a:extLst xmlns:a="http://schemas.openxmlformats.org/drawingml/2006/main">
              <a:ext uri="{FF2B5EF4-FFF2-40B4-BE49-F238E27FC236}">
                <a16:creationId xmlns:a16="http://schemas.microsoft.com/office/drawing/2014/main" id="{AF32ABAF-BE69-4B2E-900A-3AB3038427AB}"/>
              </a:ext>
            </a:extLst>
          </p:cNvPr>
          <p:cNvSpPr>
            <a:spLocks xmlns:a="http://schemas.openxmlformats.org/drawingml/2006/main" noGrp="1"/>
          </p:cNvSpPr>
          <p:nvPr/>
        </p:nvSpPr>
        <p:spPr>
          <a:xfrm xmlns:a="http://schemas.openxmlformats.org/drawingml/2006/main">
            <a:off x="4648200" y="3919538"/>
            <a:ext cx="4152900"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8" name="Shape 16">
            <a:extLst xmlns:a="http://schemas.openxmlformats.org/drawingml/2006/main">
              <a:ext uri="{FF2B5EF4-FFF2-40B4-BE49-F238E27FC236}">
                <a16:creationId xmlns:a16="http://schemas.microsoft.com/office/drawing/2014/main" id="{F168B7B6-008C-434D-8891-0A326A5C5D54}"/>
              </a:ext>
            </a:extLst>
          </p:cNvPr>
          <p:cNvSpPr>
            <a:spLocks xmlns:a="http://schemas.openxmlformats.org/drawingml/2006/main" noGrp="1"/>
          </p:cNvSpPr>
          <p:nvPr/>
        </p:nvSpPr>
        <p:spPr>
          <a:xfrm xmlns:a="http://schemas.openxmlformats.org/drawingml/2006/main">
            <a:off x="4676775" y="850850"/>
            <a:ext cx="0" cy="3073450"/>
          </a:xfrm>
          <a:prstGeom xmlns:a="http://schemas.openxmlformats.org/drawingml/2006/main" prst="line">
            <a:avLst/>
          </a:prstGeom>
          <a:noFill xmlns:a="http://schemas.openxmlformats.org/drawingml/2006/main"/>
          <a:ln xmlns:a="http://schemas.openxmlformats.org/drawingml/2006/main" w="57150">
            <a:solidFill>
              <a:srgbClr val="D63B4A"/>
            </a:solidFill>
            <a:prstDash val="solid"/>
          </a:ln>
        </p:spPr>
      </p:sp>
      <p:sp>
        <p:nvSpPr>
          <p:cNvPr id="19" name="Text 17">
            <a:extLst xmlns:a="http://schemas.openxmlformats.org/drawingml/2006/main">
              <a:ext uri="{FF2B5EF4-FFF2-40B4-BE49-F238E27FC236}">
                <a16:creationId xmlns:a16="http://schemas.microsoft.com/office/drawing/2014/main" id="{D1064289-23FE-4BA5-8876-1D8749F9D106}"/>
              </a:ext>
            </a:extLst>
          </p:cNvPr>
          <p:cNvSpPr>
            <a:spLocks xmlns:a="http://schemas.openxmlformats.org/drawingml/2006/main" noGrp="1"/>
          </p:cNvSpPr>
          <p:nvPr/>
        </p:nvSpPr>
        <p:spPr>
          <a:xfrm xmlns:a="http://schemas.openxmlformats.org/drawingml/2006/main">
            <a:off x="4857750" y="1012775"/>
            <a:ext cx="3857054" cy="141684"/>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116"/>
              </a:lnSpc>
              <a:buNone/>
              <a:defRPr sz="900" b="1">
                <a:solidFill>
                  <a:srgbClr val="D63B4A"/>
                </a:solidFill>
                <a:latin typeface="Arial"/>
                <a:ea typeface="Arial"/>
                <a:cs typeface="Arial"/>
              </a:defRPr>
            </a:pPr>
            <a:r>
              <a:rPr sz="900" b="1">
                <a:solidFill>
                  <a:srgbClr val="D63B4A"/>
                </a:solidFill>
                <a:latin typeface="Arial"/>
                <a:ea typeface="Arial"/>
                <a:cs typeface="Arial"/>
              </a:rPr>
              <a:t>LIMITS OF TRANSFER</a:t>
            </a:r>
            <a:endParaRPr sz="900"/>
          </a:p>
        </p:txBody>
      </p:sp>
      <p:sp>
        <p:nvSpPr>
          <p:cNvPr id="20" name="Text 18">
            <a:extLst xmlns:a="http://schemas.openxmlformats.org/drawingml/2006/main">
              <a:ext uri="{FF2B5EF4-FFF2-40B4-BE49-F238E27FC236}">
                <a16:creationId xmlns:a16="http://schemas.microsoft.com/office/drawing/2014/main" id="{13BED91E-03FD-45AB-8D4C-CFEFCCC3B581}"/>
              </a:ext>
            </a:extLst>
          </p:cNvPr>
          <p:cNvSpPr>
            <a:spLocks xmlns:a="http://schemas.openxmlformats.org/drawingml/2006/main" noGrp="1"/>
          </p:cNvSpPr>
          <p:nvPr/>
        </p:nvSpPr>
        <p:spPr>
          <a:xfrm xmlns:a="http://schemas.openxmlformats.org/drawingml/2006/main">
            <a:off x="5073551" y="1205210"/>
            <a:ext cx="3565624" cy="105176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Meta Pose: rotation failures in individual images.</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SPARC: bounding-box annotation reliability.</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Neither establishes the utility of object-pose segment selection for retargeted success.</a:t>
            </a:r>
            <a:endParaRPr sz="1170"/>
          </a:p>
        </p:txBody>
      </p:sp>
      <p:sp>
        <p:nvSpPr>
          <p:cNvPr id="21" name="Text 19">
            <a:extLst xmlns:a="http://schemas.openxmlformats.org/drawingml/2006/main">
              <a:ext uri="{FF2B5EF4-FFF2-40B4-BE49-F238E27FC236}">
                <a16:creationId xmlns:a16="http://schemas.microsoft.com/office/drawing/2014/main" id="{881E1063-1A15-4298-B774-73821BE84959}"/>
              </a:ext>
            </a:extLst>
          </p:cNvPr>
          <p:cNvSpPr>
            <a:spLocks xmlns:a="http://schemas.openxmlformats.org/drawingml/2006/main" noGrp="1"/>
          </p:cNvSpPr>
          <p:nvPr/>
        </p:nvSpPr>
        <p:spPr>
          <a:xfrm xmlns:a="http://schemas.openxmlformats.org/drawingml/2006/main">
            <a:off x="342900" y="4038600"/>
            <a:ext cx="8458200" cy="622399"/>
          </a:xfrm>
          <a:prstGeom xmlns:a="http://schemas.openxmlformats.org/drawingml/2006/main" prst="rect">
            <a:avLst/>
          </a:prstGeom>
          <a:solidFill xmlns:a="http://schemas.openxmlformats.org/drawingml/2006/main">
            <a:srgbClr val="EEF4F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22" name="Shape 20">
            <a:extLst xmlns:a="http://schemas.openxmlformats.org/drawingml/2006/main">
              <a:ext uri="{FF2B5EF4-FFF2-40B4-BE49-F238E27FC236}">
                <a16:creationId xmlns:a16="http://schemas.microsoft.com/office/drawing/2014/main" id="{203905FA-56A6-4C49-854B-F239C1C976E7}"/>
              </a:ext>
            </a:extLst>
          </p:cNvPr>
          <p:cNvSpPr>
            <a:spLocks xmlns:a="http://schemas.openxmlformats.org/drawingml/2006/main" noGrp="1"/>
          </p:cNvSpPr>
          <p:nvPr/>
        </p:nvSpPr>
        <p:spPr>
          <a:xfrm xmlns:a="http://schemas.openxmlformats.org/drawingml/2006/main">
            <a:off x="371475" y="4038600"/>
            <a:ext cx="0" cy="622399"/>
          </a:xfrm>
          <a:prstGeom xmlns:a="http://schemas.openxmlformats.org/drawingml/2006/main" prst="line">
            <a:avLst/>
          </a:prstGeom>
          <a:noFill xmlns:a="http://schemas.openxmlformats.org/drawingml/2006/main"/>
          <a:ln xmlns:a="http://schemas.openxmlformats.org/drawingml/2006/main" w="57150">
            <a:solidFill>
              <a:srgbClr val="D63B4A"/>
            </a:solidFill>
            <a:prstDash val="solid"/>
          </a:ln>
        </p:spPr>
      </p:sp>
      <p:sp>
        <p:nvSpPr>
          <p:cNvPr id="23" name="Text 21">
            <a:extLst xmlns:a="http://schemas.openxmlformats.org/drawingml/2006/main">
              <a:ext uri="{FF2B5EF4-FFF2-40B4-BE49-F238E27FC236}">
                <a16:creationId xmlns:a16="http://schemas.microsoft.com/office/drawing/2014/main" id="{533888CB-CF1F-4818-BCAC-EE5621DFF8D4}"/>
              </a:ext>
            </a:extLst>
          </p:cNvPr>
          <p:cNvSpPr>
            <a:spLocks xmlns:a="http://schemas.openxmlformats.org/drawingml/2006/main" noGrp="1"/>
          </p:cNvSpPr>
          <p:nvPr/>
        </p:nvSpPr>
        <p:spPr>
          <a:xfrm xmlns:a="http://schemas.openxmlformats.org/drawingml/2006/main">
            <a:off x="552450" y="4152900"/>
            <a:ext cx="8258175" cy="393799"/>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550"/>
              </a:lnSpc>
              <a:buNone/>
              <a:defRPr sz="1250" b="1">
                <a:solidFill>
                  <a:srgbClr val="16344F"/>
                </a:solidFill>
                <a:latin typeface="Arial"/>
                <a:ea typeface="Arial"/>
                <a:cs typeface="Arial"/>
              </a:defRPr>
            </a:pPr>
            <a:r>
              <a:rPr sz="1250" b="1">
                <a:solidFill>
                  <a:srgbClr val="16344F"/>
                </a:solidFill>
                <a:latin typeface="Arial"/>
                <a:ea typeface="Arial"/>
                <a:cs typeface="Arial"/>
              </a:rPr>
              <a:t>Candidate gap: reliability-guided pose correction with a seconds budget, random selection, and automatic comparators.</a:t>
            </a:r>
            <a:endParaRPr sz="1250"/>
          </a:p>
        </p:txBody>
      </p:sp>
      <p:sp>
        <p:nvSpPr>
          <p:cNvPr id="24" name="Text 22">
            <a:extLst xmlns:a="http://schemas.openxmlformats.org/drawingml/2006/main">
              <a:ext uri="{FF2B5EF4-FFF2-40B4-BE49-F238E27FC236}">
                <a16:creationId xmlns:a16="http://schemas.microsoft.com/office/drawing/2014/main" id="{A723D00B-F7FA-4EFF-BD94-4BC48ECCADA2}"/>
              </a:ext>
            </a:extLst>
          </p:cNvPr>
          <p:cNvSpPr>
            <a:spLocks xmlns:a="http://schemas.openxmlformats.org/drawingml/2006/main" noGrp="1"/>
          </p:cNvSpPr>
          <p:nvPr/>
        </p:nvSpPr>
        <p:spPr>
          <a:xfrm xmlns:a="http://schemas.openxmlformats.org/drawingml/2006/main">
            <a:off x="8339328" y="4965192"/>
            <a:ext cx="502920"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60">
                <a:solidFill>
                  <a:srgbClr val="7A8794"/>
                </a:solidFill>
                <a:latin typeface="Arial"/>
                <a:ea typeface="Arial"/>
                <a:cs typeface="Arial"/>
              </a:rPr>
              <a:t>15 / 31</a:t>
            </a:r>
            <a:endParaRPr sz="660"/>
          </a:p>
        </p:txBody>
      </p:sp>
      <p:sp>
        <p:nvSpPr>
          <p:cNvPr id="25" name="Sources footer">
            <a:extLst xmlns:a="http://schemas.openxmlformats.org/drawingml/2006/main">
              <a:ext uri="{FF2B5EF4-FFF2-40B4-BE49-F238E27FC236}">
                <a16:creationId xmlns:a16="http://schemas.microsoft.com/office/drawing/2014/main" id="{83D95F5E-6457-4227-8B66-84B88BAB5734}"/>
              </a:ext>
            </a:extLst>
          </p:cNvPr>
          <p:cNvSpPr>
            <a:spLocks xmlns:a="http://schemas.openxmlformats.org/drawingml/2006/main" noGrp="1"/>
          </p:cNvSpPr>
          <p:nvPr/>
        </p:nvSpPr>
        <p:spPr>
          <a:xfrm xmlns:a="http://schemas.openxmlformats.org/drawingml/2006/main">
            <a:off x="438150" y="4924425"/>
            <a:ext cx="72961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40" b="0">
                <a:solidFill>
                  <a:srgbClr val="234D78"/>
                </a:solidFill>
                <a:latin typeface="Arial"/>
                <a:ea typeface="Arial"/>
                <a:cs typeface="Arial"/>
              </a:defRPr>
            </a:pPr>
            <a:r>
              <a:rPr sz="640" b="0">
                <a:solidFill>
                  <a:srgbClr val="234D78"/>
                </a:solidFill>
                <a:latin typeface="Arial"/>
                <a:ea typeface="Arial"/>
                <a:cs typeface="Arial"/>
                <a:hlinkClick xmlns:r="http://schemas.openxmlformats.org/officeDocument/2006/relationships" r:id="Rc8a68f03f5894667"/>
              </a:rPr>
              <a:t>Reader guide and sources</a:t>
            </a:r>
          </a:p>
        </p:txBody>
      </p:sp>
    </p:spTree>
    <p:extLst>
      <p:ext uri="{BB962C8B-B14F-4D97-AF65-F5344CB8AC3E}">
        <p14:creationId xmlns:p14="http://schemas.microsoft.com/office/powerpoint/2010/main" val="31517512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7D4B88C-6351-4EF8-B3EF-D2A0CF34378D}"/>
              </a:ext>
            </a:extLst>
          </p:cNvPr>
          <p:cNvSpPr>
            <a:spLocks xmlns:a="http://schemas.openxmlformats.org/drawingml/2006/main" noGrp="1"/>
          </p:cNvSpPr>
          <p:nvPr/>
        </p:nvSpPr>
        <p:spPr>
          <a:xfrm xmlns:a="http://schemas.openxmlformats.org/drawingml/2006/main">
            <a:off x="0" y="0"/>
            <a:ext cx="9144000" cy="609600"/>
          </a:xfrm>
          <a:prstGeom xmlns:a="http://schemas.openxmlformats.org/drawingml/2006/main" prst="rect">
            <a:avLst/>
          </a:prstGeom>
          <a:solidFill xmlns:a="http://schemas.openxmlformats.org/drawingml/2006/main">
            <a:srgbClr val="234D7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3" name="Text 1">
            <a:extLst xmlns:a="http://schemas.openxmlformats.org/drawingml/2006/main">
              <a:ext uri="{FF2B5EF4-FFF2-40B4-BE49-F238E27FC236}">
                <a16:creationId xmlns:a16="http://schemas.microsoft.com/office/drawing/2014/main" id="{1455EEEC-BD1D-4931-A902-FA4560C70B65}"/>
              </a:ext>
            </a:extLst>
          </p:cNvPr>
          <p:cNvSpPr>
            <a:spLocks xmlns:a="http://schemas.openxmlformats.org/drawingml/2006/main" noGrp="1"/>
          </p:cNvSpPr>
          <p:nvPr/>
        </p:nvSpPr>
        <p:spPr>
          <a:xfrm xmlns:a="http://schemas.openxmlformats.org/drawingml/2006/main">
            <a:off x="330136" y="164116"/>
            <a:ext cx="6619875" cy="3238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2415"/>
              </a:lnSpc>
              <a:buNone/>
              <a:defRPr sz="2300" b="1">
                <a:solidFill>
                  <a:srgbClr val="FFFFFF"/>
                </a:solidFill>
                <a:latin typeface="Arial"/>
                <a:ea typeface="Arial"/>
                <a:cs typeface="Arial"/>
              </a:defRPr>
            </a:pPr>
            <a:r>
              <a:rPr sz="2300" b="1">
                <a:solidFill>
                  <a:srgbClr val="FFFFFF"/>
                </a:solidFill>
                <a:latin typeface="Arial"/>
                <a:ea typeface="Arial"/>
                <a:cs typeface="Arial"/>
              </a:rPr>
              <a:t>Reading sequence and design decisions</a:t>
            </a:r>
            <a:endParaRPr sz="2300"/>
          </a:p>
        </p:txBody>
      </p:sp>
      <p:sp>
        <p:nvSpPr>
          <p:cNvPr id="4" name="Text 2">
            <a:extLst xmlns:a="http://schemas.openxmlformats.org/drawingml/2006/main">
              <a:ext uri="{FF2B5EF4-FFF2-40B4-BE49-F238E27FC236}">
                <a16:creationId xmlns:a16="http://schemas.microsoft.com/office/drawing/2014/main" id="{28F8EDF4-D05E-4B43-B29C-F647E9298E95}"/>
              </a:ext>
            </a:extLst>
          </p:cNvPr>
          <p:cNvSpPr>
            <a:spLocks xmlns:a="http://schemas.openxmlformats.org/drawingml/2006/main" noGrp="1"/>
          </p:cNvSpPr>
          <p:nvPr/>
        </p:nvSpPr>
        <p:spPr>
          <a:xfrm xmlns:a="http://schemas.openxmlformats.org/drawingml/2006/main">
            <a:off x="7372350" y="190500"/>
            <a:ext cx="14478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r">
              <a:lnSpc>
                <a:spcPts val="1054"/>
              </a:lnSpc>
              <a:buNone/>
              <a:defRPr sz="788" b="1">
                <a:solidFill>
                  <a:srgbClr val="FFFFFF"/>
                </a:solidFill>
                <a:latin typeface="Arial"/>
                <a:ea typeface="Arial"/>
                <a:cs typeface="Arial"/>
              </a:defRPr>
            </a:pPr>
            <a:r>
              <a:rPr sz="788" b="1">
                <a:solidFill>
                  <a:srgbClr val="FFFFFF"/>
                </a:solidFill>
                <a:latin typeface="Arial"/>
                <a:ea typeface="Arial"/>
                <a:cs typeface="Arial"/>
              </a:rPr>
              <a:t>CS CAPSTONE REFERENCE</a:t>
            </a:r>
            <a:endParaRPr sz="850"/>
          </a:p>
        </p:txBody>
      </p:sp>
      <p:sp>
        <p:nvSpPr>
          <p:cNvPr id="5" name="Text 3">
            <a:extLst xmlns:a="http://schemas.openxmlformats.org/drawingml/2006/main">
              <a:ext uri="{FF2B5EF4-FFF2-40B4-BE49-F238E27FC236}">
                <a16:creationId xmlns:a16="http://schemas.microsoft.com/office/drawing/2014/main" id="{D1AA5C3F-5832-4AC0-B8CE-E08BB1EF69CD}"/>
              </a:ext>
            </a:extLst>
          </p:cNvPr>
          <p:cNvSpPr>
            <a:spLocks xmlns:a="http://schemas.openxmlformats.org/drawingml/2006/main" noGrp="1"/>
          </p:cNvSpPr>
          <p:nvPr/>
        </p:nvSpPr>
        <p:spPr>
          <a:xfrm xmlns:a="http://schemas.openxmlformats.org/drawingml/2006/main">
            <a:off x="330101" y="609600"/>
            <a:ext cx="787301" cy="38100"/>
          </a:xfrm>
          <a:prstGeom xmlns:a="http://schemas.openxmlformats.org/drawingml/2006/main" prst="rect">
            <a:avLst/>
          </a:prstGeom>
          <a:solidFill xmlns:a="http://schemas.openxmlformats.org/drawingml/2006/main">
            <a:srgbClr val="D63B4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42" name="Text 40">
            <a:extLst xmlns:a="http://schemas.openxmlformats.org/drawingml/2006/main">
              <a:ext uri="{FF2B5EF4-FFF2-40B4-BE49-F238E27FC236}">
                <a16:creationId xmlns:a16="http://schemas.microsoft.com/office/drawing/2014/main" id="{816CB9BD-AC96-4CDE-979C-11B5245B38C2}"/>
              </a:ext>
            </a:extLst>
          </p:cNvPr>
          <p:cNvSpPr>
            <a:spLocks xmlns:a="http://schemas.openxmlformats.org/drawingml/2006/main" noGrp="1"/>
          </p:cNvSpPr>
          <p:nvPr/>
        </p:nvSpPr>
        <p:spPr>
          <a:xfrm xmlns:a="http://schemas.openxmlformats.org/drawingml/2006/main">
            <a:off x="8339328" y="4965192"/>
            <a:ext cx="502920"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60">
                <a:solidFill>
                  <a:srgbClr val="7A8794"/>
                </a:solidFill>
                <a:latin typeface="Arial"/>
                <a:ea typeface="Arial"/>
                <a:cs typeface="Arial"/>
              </a:rPr>
              <a:t>16 / 31</a:t>
            </a:r>
            <a:endParaRPr sz="660"/>
          </a:p>
        </p:txBody>
      </p:sp>
      <p:graphicFrame>
        <p:nvGraphicFramePr>
          <p:cNvPr id="51" name=""/>
          <p:cNvGraphicFramePr/>
          <p:nvPr/>
        </p:nvGraphicFramePr>
        <p:xfrm>
          <a:off xmlns:a="http://schemas.openxmlformats.org/drawingml/2006/main" x="342900" y="1000125"/>
          <a:ext xmlns:a="http://schemas.openxmlformats.org/drawingml/2006/main" cx="8458200" cy="3000375"/>
        </p:xfrm>
        <a:graphic xmlns:a="http://schemas.openxmlformats.org/drawingml/2006/main">
          <a:graphicData uri="http://schemas.openxmlformats.org/drawingml/2006/table">
            <a:tbl>
              <a:tblPr firstRow="1" bandRow="0"/>
              <a:tblGrid>
                <a:gridCol w="1524000"/>
                <a:gridCol w="2667000"/>
                <a:gridCol w="4267200"/>
              </a:tblGrid>
              <a:tr h="500063">
                <a:tc>
                  <a:txBody>
                    <a:bodyPr wrap="square">
                      <a:noAutofit/>
                    </a:bodyPr>
                    <a:lstStyle/>
                    <a:p>
                      <a:r>
                        <a:rPr sz="1125" b="1">
                          <a:solidFill>
                            <a:srgbClr val="FFFFFF"/>
                          </a:solidFill>
                          <a:latin typeface="Arial"/>
                          <a:ea typeface="Arial"/>
                          <a:cs typeface="Arial"/>
                        </a:rPr>
                        <a:t>Design question</a:t>
                      </a:r>
                    </a:p>
                  </a:txBody>
                  <a:tcPr marL="91440" marR="91440" marT="45720" marB="45720" anchor="ctr">
                    <a:solidFill>
                      <a:srgbClr val="234D78"/>
                    </a:solidFill>
                  </a:tcPr>
                </a:tc>
                <a:tc>
                  <a:txBody>
                    <a:bodyPr wrap="square">
                      <a:noAutofit/>
                    </a:bodyPr>
                    <a:lstStyle/>
                    <a:p>
                      <a:r>
                        <a:rPr sz="1125" b="1">
                          <a:solidFill>
                            <a:srgbClr val="FFFFFF"/>
                          </a:solidFill>
                          <a:latin typeface="Arial"/>
                          <a:ea typeface="Arial"/>
                          <a:cs typeface="Arial"/>
                        </a:rPr>
                        <a:t>Priority reading</a:t>
                      </a:r>
                    </a:p>
                  </a:txBody>
                  <a:tcPr marL="91440" marR="91440" marT="45720" marB="45720" anchor="ctr">
                    <a:solidFill>
                      <a:srgbClr val="234D78"/>
                    </a:solidFill>
                  </a:tcPr>
                </a:tc>
                <a:tc>
                  <a:txBody>
                    <a:bodyPr wrap="square">
                      <a:noAutofit/>
                    </a:bodyPr>
                    <a:lstStyle/>
                    <a:p>
                      <a:r>
                        <a:rPr sz="1125" b="1">
                          <a:solidFill>
                            <a:srgbClr val="FFFFFF"/>
                          </a:solidFill>
                          <a:latin typeface="Arial"/>
                          <a:ea typeface="Arial"/>
                          <a:cs typeface="Arial"/>
                        </a:rPr>
                        <a:t>Evidence to inspect</a:t>
                      </a:r>
                    </a:p>
                  </a:txBody>
                  <a:tcPr marL="91440" marR="91440" marT="45720" marB="45720" anchor="ctr">
                    <a:solidFill>
                      <a:srgbClr val="234D78"/>
                    </a:solidFill>
                  </a:tcPr>
                </a:tc>
              </a:tr>
              <a:tr h="500063">
                <a:tc>
                  <a:txBody>
                    <a:bodyPr wrap="square">
                      <a:noAutofit/>
                    </a:bodyPr>
                    <a:lstStyle/>
                    <a:p>
                      <a:r>
                        <a:rPr sz="1140" b="1">
                          <a:solidFill>
                            <a:srgbClr val="12263A"/>
                          </a:solidFill>
                          <a:latin typeface="Arial"/>
                          <a:ea typeface="Arial"/>
                          <a:cs typeface="Arial"/>
                        </a:rPr>
                        <a:t>Representation</a:t>
                      </a:r>
                    </a:p>
                  </a:txBody>
                  <a:tcPr marL="91440" marR="91440" marT="45720" marB="45720" anchor="ctr">
                    <a:solidFill>
                      <a:srgbClr val="FFFFFF"/>
                    </a:solidFill>
                  </a:tcPr>
                </a:tc>
                <a:tc>
                  <a:txBody>
                    <a:bodyPr wrap="square">
                      <a:noAutofit/>
                    </a:bodyPr>
                    <a:lstStyle/>
                    <a:p>
                      <a:r>
                        <a:rPr sz="1140" b="0">
                          <a:solidFill>
                            <a:srgbClr val="12263A"/>
                          </a:solidFill>
                          <a:latin typeface="Arial"/>
                          <a:ea typeface="Arial"/>
                          <a:cs typeface="Arial"/>
                        </a:rPr>
                        <a:t>MimicGen</a:t>
                      </a:r>
                    </a:p>
                  </a:txBody>
                  <a:tcPr marL="91440" marR="91440" marT="45720" marB="45720" anchor="ctr">
                    <a:solidFill>
                      <a:srgbClr val="FFFFFF"/>
                    </a:solidFill>
                  </a:tcPr>
                </a:tc>
                <a:tc>
                  <a:txBody>
                    <a:bodyPr wrap="square">
                      <a:noAutofit/>
                    </a:bodyPr>
                    <a:lstStyle/>
                    <a:p>
                      <a:r>
                        <a:rPr sz="1140" b="0">
                          <a:solidFill>
                            <a:srgbClr val="12263A"/>
                          </a:solidFill>
                          <a:latin typeface="Arial"/>
                          <a:ea typeface="Arial"/>
                          <a:cs typeface="Arial"/>
                        </a:rPr>
                        <a:t>Object anchors, Panda/UR5e, pose-noise Appendix U</a:t>
                      </a:r>
                    </a:p>
                  </a:txBody>
                  <a:tcPr marL="91440" marR="91440" marT="45720" marB="45720" anchor="ctr">
                    <a:solidFill>
                      <a:srgbClr val="FFFFFF"/>
                    </a:solidFill>
                  </a:tcPr>
                </a:tc>
              </a:tr>
              <a:tr h="500063">
                <a:tc>
                  <a:txBody>
                    <a:bodyPr wrap="square">
                      <a:noAutofit/>
                    </a:bodyPr>
                    <a:lstStyle/>
                    <a:p>
                      <a:r>
                        <a:rPr sz="1140" b="1">
                          <a:solidFill>
                            <a:srgbClr val="12263A"/>
                          </a:solidFill>
                          <a:latin typeface="Arial"/>
                          <a:ea typeface="Arial"/>
                          <a:cs typeface="Arial"/>
                        </a:rPr>
                        <a:t>Automatic recovery</a:t>
                      </a:r>
                    </a:p>
                  </a:txBody>
                  <a:tcPr marL="91440" marR="91440" marT="45720" marB="45720" anchor="ctr">
                    <a:solidFill>
                      <a:srgbClr val="F7F9FC"/>
                    </a:solidFill>
                  </a:tcPr>
                </a:tc>
                <a:tc>
                  <a:txBody>
                    <a:bodyPr wrap="square">
                      <a:noAutofit/>
                    </a:bodyPr>
                    <a:lstStyle/>
                    <a:p>
                      <a:r>
                        <a:rPr sz="1140" b="0">
                          <a:solidFill>
                            <a:srgbClr val="12263A"/>
                          </a:solidFill>
                          <a:latin typeface="Arial"/>
                          <a:ea typeface="Arial"/>
                          <a:cs typeface="Arial"/>
                        </a:rPr>
                        <a:t>PSI · RIGVid</a:t>
                      </a:r>
                    </a:p>
                  </a:txBody>
                  <a:tcPr marL="91440" marR="91440" marT="45720" marB="45720" anchor="ctr">
                    <a:solidFill>
                      <a:srgbClr val="F7F9FC"/>
                    </a:solidFill>
                  </a:tcPr>
                </a:tc>
                <a:tc>
                  <a:txBody>
                    <a:bodyPr wrap="square">
                      <a:noAutofit/>
                    </a:bodyPr>
                    <a:lstStyle/>
                    <a:p>
                      <a:r>
                        <a:rPr sz="1140" b="0">
                          <a:solidFill>
                            <a:srgbClr val="12263A"/>
                          </a:solidFill>
                          <a:latin typeface="Arial"/>
                          <a:ea typeface="Arial"/>
                          <a:cs typeface="Arial"/>
                        </a:rPr>
                        <a:t>Rejection/grasp rules, depth anchors, backtracking</a:t>
                      </a:r>
                    </a:p>
                  </a:txBody>
                  <a:tcPr marL="91440" marR="91440" marT="45720" marB="45720" anchor="ctr">
                    <a:solidFill>
                      <a:srgbClr val="F7F9FC"/>
                    </a:solidFill>
                  </a:tcPr>
                </a:tc>
              </a:tr>
              <a:tr h="500063">
                <a:tc>
                  <a:txBody>
                    <a:bodyPr wrap="square">
                      <a:noAutofit/>
                    </a:bodyPr>
                    <a:lstStyle/>
                    <a:p>
                      <a:r>
                        <a:rPr sz="1140" b="1">
                          <a:solidFill>
                            <a:srgbClr val="12263A"/>
                          </a:solidFill>
                          <a:latin typeface="Arial"/>
                          <a:ea typeface="Arial"/>
                          <a:cs typeface="Arial"/>
                        </a:rPr>
                        <a:t>Human budget</a:t>
                      </a:r>
                    </a:p>
                  </a:txBody>
                  <a:tcPr marL="91440" marR="91440" marT="45720" marB="45720" anchor="ctr">
                    <a:solidFill>
                      <a:srgbClr val="FFFFFF"/>
                    </a:solidFill>
                  </a:tcPr>
                </a:tc>
                <a:tc>
                  <a:txBody>
                    <a:bodyPr wrap="square">
                      <a:noAutofit/>
                    </a:bodyPr>
                    <a:lstStyle/>
                    <a:p>
                      <a:r>
                        <a:rPr sz="1140" b="0">
                          <a:solidFill>
                            <a:srgbClr val="12263A"/>
                          </a:solidFill>
                          <a:latin typeface="Arial"/>
                          <a:ea typeface="Arial"/>
                          <a:cs typeface="Arial"/>
                        </a:rPr>
                        <a:t>ThriftyDAgger · VR-DAgger</a:t>
                      </a:r>
                    </a:p>
                  </a:txBody>
                  <a:tcPr marL="91440" marR="91440" marT="45720" marB="45720" anchor="ctr">
                    <a:solidFill>
                      <a:srgbClr val="FFFFFF"/>
                    </a:solidFill>
                  </a:tcPr>
                </a:tc>
                <a:tc>
                  <a:txBody>
                    <a:bodyPr wrap="square">
                      <a:noAutofit/>
                    </a:bodyPr>
                    <a:lstStyle/>
                    <a:p>
                      <a:r>
                        <a:rPr sz="1140" b="0">
                          <a:solidFill>
                            <a:srgbClr val="12263A"/>
                          </a:solidFill>
                          <a:latin typeface="Arial"/>
                          <a:ea typeface="Arial"/>
                          <a:cs typeface="Arial"/>
                        </a:rPr>
                        <a:t>Actions/samples/seconds, review cost, controls</a:t>
                      </a:r>
                    </a:p>
                  </a:txBody>
                  <a:tcPr marL="91440" marR="91440" marT="45720" marB="45720" anchor="ctr">
                    <a:solidFill>
                      <a:srgbClr val="FFFFFF"/>
                    </a:solidFill>
                  </a:tcPr>
                </a:tc>
              </a:tr>
              <a:tr h="500063">
                <a:tc>
                  <a:txBody>
                    <a:bodyPr wrap="square">
                      <a:noAutofit/>
                    </a:bodyPr>
                    <a:lstStyle/>
                    <a:p>
                      <a:r>
                        <a:rPr sz="1140" b="1">
                          <a:solidFill>
                            <a:srgbClr val="12263A"/>
                          </a:solidFill>
                          <a:latin typeface="Arial"/>
                          <a:ea typeface="Arial"/>
                          <a:cs typeface="Arial"/>
                        </a:rPr>
                        <a:t>Reliability</a:t>
                      </a:r>
                    </a:p>
                  </a:txBody>
                  <a:tcPr marL="91440" marR="91440" marT="45720" marB="45720" anchor="ctr">
                    <a:solidFill>
                      <a:srgbClr val="F7F9FC"/>
                    </a:solidFill>
                  </a:tcPr>
                </a:tc>
                <a:tc>
                  <a:txBody>
                    <a:bodyPr wrap="square">
                      <a:noAutofit/>
                    </a:bodyPr>
                    <a:lstStyle/>
                    <a:p>
                      <a:r>
                        <a:rPr sz="1140" b="0">
                          <a:solidFill>
                            <a:srgbClr val="12263A"/>
                          </a:solidFill>
                          <a:latin typeface="Arial"/>
                          <a:ea typeface="Arial"/>
                          <a:cs typeface="Arial"/>
                        </a:rPr>
                        <a:t>Meta Pose · SPARC · ProxyPose</a:t>
                      </a:r>
                    </a:p>
                  </a:txBody>
                  <a:tcPr marL="91440" marR="91440" marT="45720" marB="45720" anchor="ctr">
                    <a:solidFill>
                      <a:srgbClr val="F7F9FC"/>
                    </a:solidFill>
                  </a:tcPr>
                </a:tc>
                <a:tc>
                  <a:txBody>
                    <a:bodyPr wrap="square">
                      <a:noAutofit/>
                    </a:bodyPr>
                    <a:lstStyle/>
                    <a:p>
                      <a:r>
                        <a:rPr sz="1140" b="0">
                          <a:solidFill>
                            <a:srgbClr val="12263A"/>
                          </a:solidFill>
                          <a:latin typeface="Arial"/>
                          <a:ea typeface="Arial"/>
                          <a:cs typeface="Arial"/>
                        </a:rPr>
                        <a:t>Failure labels, scale, and task sensitivity</a:t>
                      </a:r>
                    </a:p>
                  </a:txBody>
                  <a:tcPr marL="91440" marR="91440" marT="45720" marB="45720" anchor="ctr">
                    <a:solidFill>
                      <a:srgbClr val="F7F9FC"/>
                    </a:solidFill>
                  </a:tcPr>
                </a:tc>
              </a:tr>
              <a:tr h="500063">
                <a:tc>
                  <a:txBody>
                    <a:bodyPr wrap="square">
                      <a:noAutofit/>
                    </a:bodyPr>
                    <a:lstStyle/>
                    <a:p>
                      <a:r>
                        <a:rPr sz="1140" b="1">
                          <a:solidFill>
                            <a:srgbClr val="12263A"/>
                          </a:solidFill>
                          <a:latin typeface="Arial"/>
                          <a:ea typeface="Arial"/>
                          <a:cs typeface="Arial"/>
                        </a:rPr>
                        <a:t>Learning (optional)</a:t>
                      </a:r>
                    </a:p>
                  </a:txBody>
                  <a:tcPr marL="91440" marR="91440" marT="45720" marB="45720" anchor="ctr">
                    <a:solidFill>
                      <a:srgbClr val="FFFFFF"/>
                    </a:solidFill>
                  </a:tcPr>
                </a:tc>
                <a:tc>
                  <a:txBody>
                    <a:bodyPr wrap="square">
                      <a:noAutofit/>
                    </a:bodyPr>
                    <a:lstStyle/>
                    <a:p>
                      <a:r>
                        <a:rPr sz="1140" b="0">
                          <a:solidFill>
                            <a:srgbClr val="12263A"/>
                          </a:solidFill>
                          <a:latin typeface="Arial"/>
                          <a:ea typeface="Arial"/>
                          <a:cs typeface="Arial"/>
                        </a:rPr>
                        <a:t>ACT · Diffusion Policy</a:t>
                      </a:r>
                    </a:p>
                  </a:txBody>
                  <a:tcPr marL="91440" marR="91440" marT="45720" marB="45720" anchor="ctr">
                    <a:solidFill>
                      <a:srgbClr val="FFFFFF"/>
                    </a:solidFill>
                  </a:tcPr>
                </a:tc>
                <a:tc>
                  <a:txBody>
                    <a:bodyPr wrap="square">
                      <a:noAutofit/>
                    </a:bodyPr>
                    <a:lstStyle/>
                    <a:p>
                      <a:r>
                        <a:rPr sz="1140" b="0">
                          <a:solidFill>
                            <a:srgbClr val="12263A"/>
                          </a:solidFill>
                          <a:latin typeface="Arial"/>
                          <a:ea typeface="Arial"/>
                          <a:cs typeface="Arial"/>
                        </a:rPr>
                        <a:t>Observations/actions, loaders, policy endpoint</a:t>
                      </a:r>
                    </a:p>
                  </a:txBody>
                  <a:tcPr marL="91440" marR="91440" marT="45720" marB="45720" anchor="ctr">
                    <a:solidFill>
                      <a:srgbClr val="FFFFFF"/>
                    </a:solidFill>
                  </a:tcPr>
                </a:tc>
              </a:tr>
            </a:tbl>
          </a:graphicData>
        </a:graphic>
      </p:graphicFrame>
      <p:sp>
        <p:nvSpPr>
          <p:cNvPr id="44" name="Table caveat">
            <a:extLst xmlns:a="http://schemas.openxmlformats.org/drawingml/2006/main">
              <a:ext uri="{FF2B5EF4-FFF2-40B4-BE49-F238E27FC236}">
                <a16:creationId xmlns:a16="http://schemas.microsoft.com/office/drawing/2014/main" id="{79487D5C-2B11-4220-A5B9-1837F4508046}"/>
              </a:ext>
            </a:extLst>
          </p:cNvPr>
          <p:cNvSpPr>
            <a:spLocks xmlns:a="http://schemas.openxmlformats.org/drawingml/2006/main" noGrp="1"/>
          </p:cNvSpPr>
          <p:nvPr/>
        </p:nvSpPr>
        <p:spPr>
          <a:xfrm xmlns:a="http://schemas.openxmlformats.org/drawingml/2006/main">
            <a:off x="400050" y="42386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12263A"/>
                </a:solidFill>
                <a:latin typeface="Arial"/>
                <a:ea typeface="Arial"/>
                <a:cs typeface="Arial"/>
              </a:defRPr>
            </a:pPr>
            <a:r>
              <a:rPr sz="1140" b="1">
                <a:solidFill>
                  <a:srgbClr val="12263A"/>
                </a:solidFill>
                <a:latin typeface="Arial"/>
                <a:ea typeface="Arial"/>
                <a:cs typeface="Arial"/>
              </a:rPr>
              <a:t>Inspect experiments, appendices, and code. Separate explicit claims, interpretations, and unresolved evidence.</a:t>
            </a:r>
          </a:p>
        </p:txBody>
      </p:sp>
      <p:sp>
        <p:nvSpPr>
          <p:cNvPr id="45" name="Sources footer">
            <a:extLst xmlns:a="http://schemas.openxmlformats.org/drawingml/2006/main">
              <a:ext uri="{FF2B5EF4-FFF2-40B4-BE49-F238E27FC236}">
                <a16:creationId xmlns:a16="http://schemas.microsoft.com/office/drawing/2014/main" id="{7735A9B0-8089-4B24-B1EB-2CB32D6A8D2D}"/>
              </a:ext>
            </a:extLst>
          </p:cNvPr>
          <p:cNvSpPr>
            <a:spLocks xmlns:a="http://schemas.openxmlformats.org/drawingml/2006/main" noGrp="1"/>
          </p:cNvSpPr>
          <p:nvPr/>
        </p:nvSpPr>
        <p:spPr>
          <a:xfrm xmlns:a="http://schemas.openxmlformats.org/drawingml/2006/main">
            <a:off x="438150" y="4924425"/>
            <a:ext cx="72961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40" b="0">
                <a:solidFill>
                  <a:srgbClr val="234D78"/>
                </a:solidFill>
                <a:latin typeface="Arial"/>
                <a:ea typeface="Arial"/>
                <a:cs typeface="Arial"/>
              </a:defRPr>
            </a:pPr>
            <a:r>
              <a:rPr sz="640" b="0">
                <a:solidFill>
                  <a:srgbClr val="234D78"/>
                </a:solidFill>
                <a:latin typeface="Arial"/>
                <a:ea typeface="Arial"/>
                <a:cs typeface="Arial"/>
                <a:hlinkClick xmlns:r="http://schemas.openxmlformats.org/officeDocument/2006/relationships" r:id="R96b9e2f19a884982"/>
              </a:rPr>
              <a:t>Reader guide and sources</a:t>
            </a:r>
          </a:p>
        </p:txBody>
      </p:sp>
    </p:spTree>
    <p:extLst>
      <p:ext uri="{BB962C8B-B14F-4D97-AF65-F5344CB8AC3E}">
        <p14:creationId xmlns:p14="http://schemas.microsoft.com/office/powerpoint/2010/main" val="1105790378"/>
      </p:ext>
    </p:extLst>
  </p:cSld>
</p:sld>
</file>

<file path=ppt/slides/slide17.xml><?xml version="1.0" encoding="utf-8"?>
<p:sld xmlns:p="http://schemas.openxmlformats.org/presentationml/2006/main">
  <p:cSld>
    <p:bg>
      <p:bgPr>
        <a:solidFill xmlns:a="http://schemas.openxmlformats.org/drawingml/2006/main">
          <a:srgbClr val="16344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B9956BD-1CAD-4AFE-98D9-59DFAE609530}"/>
              </a:ext>
            </a:extLst>
          </p:cNvPr>
          <p:cNvSpPr>
            <a:spLocks xmlns:a="http://schemas.openxmlformats.org/drawingml/2006/main" noGrp="1"/>
          </p:cNvSpPr>
          <p:nvPr/>
        </p:nvSpPr>
        <p:spPr>
          <a:xfrm xmlns:a="http://schemas.openxmlformats.org/drawingml/2006/main">
            <a:off x="634901" y="1983730"/>
            <a:ext cx="8031682" cy="2361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60"/>
              </a:lnSpc>
              <a:buNone/>
              <a:defRPr sz="1500" b="1">
                <a:solidFill>
                  <a:srgbClr val="62C7D6"/>
                </a:solidFill>
                <a:latin typeface="Arial"/>
                <a:ea typeface="Arial"/>
                <a:cs typeface="Arial"/>
              </a:defRPr>
            </a:pPr>
            <a:r>
              <a:rPr sz="1500" b="1">
                <a:solidFill>
                  <a:srgbClr val="62C7D6"/>
                </a:solidFill>
                <a:latin typeface="Arial"/>
                <a:ea typeface="Arial"/>
                <a:cs typeface="Arial"/>
              </a:rPr>
              <a:t>SECTION 03</a:t>
            </a:r>
            <a:endParaRPr sz="1500"/>
          </a:p>
        </p:txBody>
      </p:sp>
      <p:sp>
        <p:nvSpPr>
          <p:cNvPr id="3" name="Text 1">
            <a:extLst xmlns:a="http://schemas.openxmlformats.org/drawingml/2006/main">
              <a:ext uri="{FF2B5EF4-FFF2-40B4-BE49-F238E27FC236}">
                <a16:creationId xmlns:a16="http://schemas.microsoft.com/office/drawing/2014/main" id="{09B8C24F-3A3F-47D7-99EA-14232E2C3CF0}"/>
              </a:ext>
            </a:extLst>
          </p:cNvPr>
          <p:cNvSpPr>
            <a:spLocks xmlns:a="http://schemas.openxmlformats.org/drawingml/2006/main" noGrp="1"/>
          </p:cNvSpPr>
          <p:nvPr/>
        </p:nvSpPr>
        <p:spPr>
          <a:xfrm xmlns:a="http://schemas.openxmlformats.org/drawingml/2006/main">
            <a:off x="634901" y="2334220"/>
            <a:ext cx="8031682" cy="474911"/>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3740"/>
              </a:lnSpc>
              <a:buNone/>
              <a:defRPr sz="3400" b="1">
                <a:solidFill>
                  <a:srgbClr val="FFFFFF"/>
                </a:solidFill>
                <a:latin typeface="Arial"/>
                <a:ea typeface="Arial"/>
                <a:cs typeface="Arial"/>
              </a:defRPr>
            </a:pPr>
            <a:r>
              <a:rPr sz="3400" b="1">
                <a:solidFill>
                  <a:srgbClr val="FFFFFF"/>
                </a:solidFill>
                <a:latin typeface="Arial"/>
                <a:ea typeface="Arial"/>
                <a:cs typeface="Arial"/>
              </a:rPr>
              <a:t>Experiments and reference results</a:t>
            </a:r>
            <a:endParaRPr sz="3400"/>
          </a:p>
        </p:txBody>
      </p:sp>
      <p:sp>
        <p:nvSpPr>
          <p:cNvPr id="4" name="Text 2">
            <a:extLst xmlns:a="http://schemas.openxmlformats.org/drawingml/2006/main">
              <a:ext uri="{FF2B5EF4-FFF2-40B4-BE49-F238E27FC236}">
                <a16:creationId xmlns:a16="http://schemas.microsoft.com/office/drawing/2014/main" id="{58380E31-9D98-48C6-B792-141E250F95D2}"/>
              </a:ext>
            </a:extLst>
          </p:cNvPr>
          <p:cNvSpPr>
            <a:spLocks xmlns:a="http://schemas.openxmlformats.org/drawingml/2006/main" noGrp="1"/>
          </p:cNvSpPr>
          <p:nvPr/>
        </p:nvSpPr>
        <p:spPr>
          <a:xfrm xmlns:a="http://schemas.openxmlformats.org/drawingml/2006/main">
            <a:off x="634937" y="2923413"/>
            <a:ext cx="8031671" cy="619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60"/>
              </a:lnSpc>
              <a:buNone/>
              <a:defRPr sz="1500" b="0">
                <a:solidFill>
                  <a:srgbClr val="DDE8F2"/>
                </a:solidFill>
                <a:latin typeface="Arial"/>
                <a:ea typeface="Arial"/>
                <a:cs typeface="Arial"/>
              </a:defRPr>
            </a:pPr>
            <a:r>
              <a:rPr sz="1500" b="0">
                <a:solidFill>
                  <a:srgbClr val="DDE8F2"/>
                </a:solidFill>
                <a:latin typeface="Arial"/>
                <a:ea typeface="Arial"/>
                <a:cs typeface="Arial"/>
              </a:rPr>
              <a:t>Noisy inputs must affect the plan and task outcome before correction-allocation strategies can be evaluated.</a:t>
            </a:r>
            <a:endParaRPr sz="1500"/>
          </a:p>
        </p:txBody>
      </p:sp>
      <p:sp>
        <p:nvSpPr>
          <p:cNvPr id="5" name="Text 3">
            <a:extLst xmlns:a="http://schemas.openxmlformats.org/drawingml/2006/main">
              <a:ext uri="{FF2B5EF4-FFF2-40B4-BE49-F238E27FC236}">
                <a16:creationId xmlns:a16="http://schemas.microsoft.com/office/drawing/2014/main" id="{57221708-C527-4FDE-A8B2-DBE8BDB82946}"/>
              </a:ext>
            </a:extLst>
          </p:cNvPr>
          <p:cNvSpPr>
            <a:spLocks xmlns:a="http://schemas.openxmlformats.org/drawingml/2006/main" noGrp="1"/>
          </p:cNvSpPr>
          <p:nvPr/>
        </p:nvSpPr>
        <p:spPr>
          <a:xfrm xmlns:a="http://schemas.openxmlformats.org/drawingml/2006/main">
            <a:off x="8339328" y="4965192"/>
            <a:ext cx="502920"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60">
                <a:solidFill>
                  <a:srgbClr val="7A8794"/>
                </a:solidFill>
                <a:latin typeface="Arial"/>
                <a:ea typeface="Arial"/>
                <a:cs typeface="Arial"/>
              </a:rPr>
              <a:t>17 / 31</a:t>
            </a:r>
            <a:endParaRPr sz="660"/>
          </a:p>
        </p:txBody>
      </p:sp>
      <p:sp>
        <p:nvSpPr>
          <p:cNvPr id="6" name="Sources footer">
            <a:extLst xmlns:a="http://schemas.openxmlformats.org/drawingml/2006/main">
              <a:ext uri="{FF2B5EF4-FFF2-40B4-BE49-F238E27FC236}">
                <a16:creationId xmlns:a16="http://schemas.microsoft.com/office/drawing/2014/main" id="{B779CB30-50B6-41E6-91B4-FF0E1E36C7CC}"/>
              </a:ext>
            </a:extLst>
          </p:cNvPr>
          <p:cNvSpPr>
            <a:spLocks xmlns:a="http://schemas.openxmlformats.org/drawingml/2006/main" noGrp="1"/>
          </p:cNvSpPr>
          <p:nvPr/>
        </p:nvSpPr>
        <p:spPr>
          <a:xfrm xmlns:a="http://schemas.openxmlformats.org/drawingml/2006/main">
            <a:off x="438150" y="4924425"/>
            <a:ext cx="72961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40" b="0">
                <a:solidFill>
                  <a:srgbClr val="CAD6E2"/>
                </a:solidFill>
                <a:latin typeface="Arial"/>
                <a:ea typeface="Arial"/>
                <a:cs typeface="Arial"/>
              </a:defRPr>
            </a:pPr>
            <a:r>
              <a:rPr sz="640" b="0">
                <a:solidFill>
                  <a:srgbClr val="CAD6E2"/>
                </a:solidFill>
                <a:latin typeface="Arial"/>
                <a:ea typeface="Arial"/>
                <a:cs typeface="Arial"/>
                <a:hlinkClick xmlns:r="http://schemas.openxmlformats.org/officeDocument/2006/relationships" r:id="Rf28abe42ed02466d"/>
              </a:rPr>
              <a:t>Reader guide and sources</a:t>
            </a:r>
          </a:p>
        </p:txBody>
      </p:sp>
    </p:spTree>
    <p:extLst>
      <p:ext uri="{BB962C8B-B14F-4D97-AF65-F5344CB8AC3E}">
        <p14:creationId xmlns:p14="http://schemas.microsoft.com/office/powerpoint/2010/main" val="109739219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F05893C-2429-4E96-9107-D4A660B6FB00}"/>
              </a:ext>
            </a:extLst>
          </p:cNvPr>
          <p:cNvSpPr>
            <a:spLocks xmlns:a="http://schemas.openxmlformats.org/drawingml/2006/main" noGrp="1"/>
          </p:cNvSpPr>
          <p:nvPr/>
        </p:nvSpPr>
        <p:spPr>
          <a:xfrm xmlns:a="http://schemas.openxmlformats.org/drawingml/2006/main">
            <a:off x="0" y="0"/>
            <a:ext cx="9144000" cy="609600"/>
          </a:xfrm>
          <a:prstGeom xmlns:a="http://schemas.openxmlformats.org/drawingml/2006/main" prst="rect">
            <a:avLst/>
          </a:prstGeom>
          <a:solidFill xmlns:a="http://schemas.openxmlformats.org/drawingml/2006/main">
            <a:srgbClr val="234D7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3" name="Text 1">
            <a:extLst xmlns:a="http://schemas.openxmlformats.org/drawingml/2006/main">
              <a:ext uri="{FF2B5EF4-FFF2-40B4-BE49-F238E27FC236}">
                <a16:creationId xmlns:a16="http://schemas.microsoft.com/office/drawing/2014/main" id="{1B337356-E213-4E93-AFE8-5559C369F671}"/>
              </a:ext>
            </a:extLst>
          </p:cNvPr>
          <p:cNvSpPr>
            <a:spLocks xmlns:a="http://schemas.openxmlformats.org/drawingml/2006/main" noGrp="1"/>
          </p:cNvSpPr>
          <p:nvPr/>
        </p:nvSpPr>
        <p:spPr>
          <a:xfrm xmlns:a="http://schemas.openxmlformats.org/drawingml/2006/main">
            <a:off x="330136" y="164116"/>
            <a:ext cx="6619875" cy="3238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2415"/>
              </a:lnSpc>
              <a:buNone/>
              <a:defRPr sz="2300" b="1">
                <a:solidFill>
                  <a:srgbClr val="FFFFFF"/>
                </a:solidFill>
                <a:latin typeface="Arial"/>
                <a:ea typeface="Arial"/>
                <a:cs typeface="Arial"/>
              </a:defRPr>
            </a:pPr>
            <a:r>
              <a:rPr sz="2300" b="1">
                <a:solidFill>
                  <a:srgbClr val="FFFFFF"/>
                </a:solidFill>
                <a:latin typeface="Arial"/>
                <a:ea typeface="Arial"/>
                <a:cs typeface="Arial"/>
              </a:rPr>
              <a:t>Candidate research question</a:t>
            </a:r>
            <a:endParaRPr sz="2300"/>
          </a:p>
        </p:txBody>
      </p:sp>
      <p:sp>
        <p:nvSpPr>
          <p:cNvPr id="4" name="Text 2">
            <a:extLst xmlns:a="http://schemas.openxmlformats.org/drawingml/2006/main">
              <a:ext uri="{FF2B5EF4-FFF2-40B4-BE49-F238E27FC236}">
                <a16:creationId xmlns:a16="http://schemas.microsoft.com/office/drawing/2014/main" id="{3A5A3446-DA60-45FD-84B6-72249313A189}"/>
              </a:ext>
            </a:extLst>
          </p:cNvPr>
          <p:cNvSpPr>
            <a:spLocks xmlns:a="http://schemas.openxmlformats.org/drawingml/2006/main" noGrp="1"/>
          </p:cNvSpPr>
          <p:nvPr/>
        </p:nvSpPr>
        <p:spPr>
          <a:xfrm xmlns:a="http://schemas.openxmlformats.org/drawingml/2006/main">
            <a:off x="7372350" y="190500"/>
            <a:ext cx="14478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r">
              <a:lnSpc>
                <a:spcPts val="1054"/>
              </a:lnSpc>
              <a:buNone/>
              <a:defRPr sz="788" b="1">
                <a:solidFill>
                  <a:srgbClr val="FFFFFF"/>
                </a:solidFill>
                <a:latin typeface="Arial"/>
                <a:ea typeface="Arial"/>
                <a:cs typeface="Arial"/>
              </a:defRPr>
            </a:pPr>
            <a:r>
              <a:rPr sz="788" b="1">
                <a:solidFill>
                  <a:srgbClr val="FFFFFF"/>
                </a:solidFill>
                <a:latin typeface="Arial"/>
                <a:ea typeface="Arial"/>
                <a:cs typeface="Arial"/>
              </a:rPr>
              <a:t>CS CAPSTONE REFERENCE</a:t>
            </a:r>
            <a:endParaRPr sz="850"/>
          </a:p>
        </p:txBody>
      </p:sp>
      <p:sp>
        <p:nvSpPr>
          <p:cNvPr id="5" name="Text 3">
            <a:extLst xmlns:a="http://schemas.openxmlformats.org/drawingml/2006/main">
              <a:ext uri="{FF2B5EF4-FFF2-40B4-BE49-F238E27FC236}">
                <a16:creationId xmlns:a16="http://schemas.microsoft.com/office/drawing/2014/main" id="{71121E1C-7470-4890-95CD-7EA30F3903C0}"/>
              </a:ext>
            </a:extLst>
          </p:cNvPr>
          <p:cNvSpPr>
            <a:spLocks xmlns:a="http://schemas.openxmlformats.org/drawingml/2006/main" noGrp="1"/>
          </p:cNvSpPr>
          <p:nvPr/>
        </p:nvSpPr>
        <p:spPr>
          <a:xfrm xmlns:a="http://schemas.openxmlformats.org/drawingml/2006/main">
            <a:off x="330101" y="609600"/>
            <a:ext cx="787301" cy="38100"/>
          </a:xfrm>
          <a:prstGeom xmlns:a="http://schemas.openxmlformats.org/drawingml/2006/main" prst="rect">
            <a:avLst/>
          </a:prstGeom>
          <a:solidFill xmlns:a="http://schemas.openxmlformats.org/drawingml/2006/main">
            <a:srgbClr val="D63B4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6" name="Text 4">
            <a:extLst xmlns:a="http://schemas.openxmlformats.org/drawingml/2006/main">
              <a:ext uri="{FF2B5EF4-FFF2-40B4-BE49-F238E27FC236}">
                <a16:creationId xmlns:a16="http://schemas.microsoft.com/office/drawing/2014/main" id="{3B00BAB8-523F-40A4-9EA2-57C410147E81}"/>
              </a:ext>
            </a:extLst>
          </p:cNvPr>
          <p:cNvSpPr>
            <a:spLocks xmlns:a="http://schemas.openxmlformats.org/drawingml/2006/main" noGrp="1"/>
          </p:cNvSpPr>
          <p:nvPr/>
        </p:nvSpPr>
        <p:spPr>
          <a:xfrm xmlns:a="http://schemas.openxmlformats.org/drawingml/2006/main">
            <a:off x="342900" y="850850"/>
            <a:ext cx="8458200" cy="941784"/>
          </a:xfrm>
          <a:prstGeom xmlns:a="http://schemas.openxmlformats.org/drawingml/2006/main" prst="rect">
            <a:avLst/>
          </a:prstGeom>
          <a:solidFill xmlns:a="http://schemas.openxmlformats.org/drawingml/2006/main">
            <a:srgbClr val="EEF4F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7" name="Shape 5">
            <a:extLst xmlns:a="http://schemas.openxmlformats.org/drawingml/2006/main">
              <a:ext uri="{FF2B5EF4-FFF2-40B4-BE49-F238E27FC236}">
                <a16:creationId xmlns:a16="http://schemas.microsoft.com/office/drawing/2014/main" id="{54A95A4F-B7F0-4A05-AF87-6867E61F2391}"/>
              </a:ext>
            </a:extLst>
          </p:cNvPr>
          <p:cNvSpPr>
            <a:spLocks xmlns:a="http://schemas.openxmlformats.org/drawingml/2006/main" noGrp="1"/>
          </p:cNvSpPr>
          <p:nvPr/>
        </p:nvSpPr>
        <p:spPr>
          <a:xfrm xmlns:a="http://schemas.openxmlformats.org/drawingml/2006/main">
            <a:off x="371475" y="850850"/>
            <a:ext cx="0" cy="941784"/>
          </a:xfrm>
          <a:prstGeom xmlns:a="http://schemas.openxmlformats.org/drawingml/2006/main" prst="line">
            <a:avLst/>
          </a:prstGeom>
          <a:noFill xmlns:a="http://schemas.openxmlformats.org/drawingml/2006/main"/>
          <a:ln xmlns:a="http://schemas.openxmlformats.org/drawingml/2006/main" w="57150">
            <a:solidFill>
              <a:srgbClr val="D63B4A"/>
            </a:solidFill>
            <a:prstDash val="solid"/>
          </a:ln>
        </p:spPr>
      </p:sp>
      <p:sp>
        <p:nvSpPr>
          <p:cNvPr id="8" name="Text 6">
            <a:extLst xmlns:a="http://schemas.openxmlformats.org/drawingml/2006/main">
              <a:ext uri="{FF2B5EF4-FFF2-40B4-BE49-F238E27FC236}">
                <a16:creationId xmlns:a16="http://schemas.microsoft.com/office/drawing/2014/main" id="{E8A08356-4CE2-4F5C-845C-CAD86743B7B1}"/>
              </a:ext>
            </a:extLst>
          </p:cNvPr>
          <p:cNvSpPr>
            <a:spLocks xmlns:a="http://schemas.openxmlformats.org/drawingml/2006/main" noGrp="1"/>
          </p:cNvSpPr>
          <p:nvPr/>
        </p:nvSpPr>
        <p:spPr>
          <a:xfrm xmlns:a="http://schemas.openxmlformats.org/drawingml/2006/main">
            <a:off x="603200" y="1054001"/>
            <a:ext cx="8154644" cy="535484"/>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2108"/>
              </a:lnSpc>
              <a:buNone/>
              <a:defRPr sz="1700" b="1">
                <a:solidFill>
                  <a:srgbClr val="16344F"/>
                </a:solidFill>
                <a:latin typeface="Arial"/>
                <a:ea typeface="Arial"/>
                <a:cs typeface="Arial"/>
              </a:defRPr>
            </a:pPr>
            <a:r>
              <a:rPr sz="1700" b="1">
                <a:solidFill>
                  <a:srgbClr val="16344F"/>
                </a:solidFill>
                <a:latin typeface="Arial"/>
                <a:ea typeface="Arial"/>
                <a:cs typeface="Arial"/>
              </a:rPr>
              <a:t>For a correction budget of B seconds, does reliability-guided segment selection improve task success over random selection and automatic recovery?</a:t>
            </a:r>
            <a:endParaRPr sz="1700"/>
          </a:p>
        </p:txBody>
      </p:sp>
      <p:sp>
        <p:nvSpPr>
          <p:cNvPr id="9" name="Text 7">
            <a:extLst xmlns:a="http://schemas.openxmlformats.org/drawingml/2006/main">
              <a:ext uri="{FF2B5EF4-FFF2-40B4-BE49-F238E27FC236}">
                <a16:creationId xmlns:a16="http://schemas.microsoft.com/office/drawing/2014/main" id="{C98E97DF-15B6-481B-BE3F-022C46E259A5}"/>
              </a:ext>
            </a:extLst>
          </p:cNvPr>
          <p:cNvSpPr>
            <a:spLocks xmlns:a="http://schemas.openxmlformats.org/drawingml/2006/main" noGrp="1"/>
          </p:cNvSpPr>
          <p:nvPr/>
        </p:nvSpPr>
        <p:spPr>
          <a:xfrm xmlns:a="http://schemas.openxmlformats.org/drawingml/2006/main">
            <a:off x="342900" y="1906935"/>
            <a:ext cx="2734717" cy="2494955"/>
          </a:xfrm>
          <a:prstGeom xmlns:a="http://schemas.openxmlformats.org/drawingml/2006/main" prst="roundRect">
            <a:avLst>
              <a:gd name="adj" fmla="val 4072"/>
            </a:avLst>
          </a:prstGeom>
          <a:solidFill xmlns:a="http://schemas.openxmlformats.org/drawingml/2006/main">
            <a:srgbClr val="EEF4F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10" name="Shape 8">
            <a:extLst xmlns:a="http://schemas.openxmlformats.org/drawingml/2006/main">
              <a:ext uri="{FF2B5EF4-FFF2-40B4-BE49-F238E27FC236}">
                <a16:creationId xmlns:a16="http://schemas.microsoft.com/office/drawing/2014/main" id="{98D848DD-2A26-4A52-AD87-5D0334AE8117}"/>
              </a:ext>
            </a:extLst>
          </p:cNvPr>
          <p:cNvSpPr>
            <a:spLocks xmlns:a="http://schemas.openxmlformats.org/drawingml/2006/main" noGrp="1"/>
          </p:cNvSpPr>
          <p:nvPr/>
        </p:nvSpPr>
        <p:spPr>
          <a:xfrm xmlns:a="http://schemas.openxmlformats.org/drawingml/2006/main">
            <a:off x="342900" y="1911697"/>
            <a:ext cx="2734717"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1" name="Shape 9">
            <a:extLst xmlns:a="http://schemas.openxmlformats.org/drawingml/2006/main">
              <a:ext uri="{FF2B5EF4-FFF2-40B4-BE49-F238E27FC236}">
                <a16:creationId xmlns:a16="http://schemas.microsoft.com/office/drawing/2014/main" id="{1611CDDB-C3E6-4732-B16E-58CFDC8E231C}"/>
              </a:ext>
            </a:extLst>
          </p:cNvPr>
          <p:cNvSpPr>
            <a:spLocks xmlns:a="http://schemas.openxmlformats.org/drawingml/2006/main" noGrp="1"/>
          </p:cNvSpPr>
          <p:nvPr/>
        </p:nvSpPr>
        <p:spPr>
          <a:xfrm xmlns:a="http://schemas.openxmlformats.org/drawingml/2006/main">
            <a:off x="3072854" y="1906935"/>
            <a:ext cx="0" cy="2494955"/>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2" name="Shape 10">
            <a:extLst xmlns:a="http://schemas.openxmlformats.org/drawingml/2006/main">
              <a:ext uri="{FF2B5EF4-FFF2-40B4-BE49-F238E27FC236}">
                <a16:creationId xmlns:a16="http://schemas.microsoft.com/office/drawing/2014/main" id="{74200CD6-B0C6-4472-AF41-6EA23D55EE4E}"/>
              </a:ext>
            </a:extLst>
          </p:cNvPr>
          <p:cNvSpPr>
            <a:spLocks xmlns:a="http://schemas.openxmlformats.org/drawingml/2006/main" noGrp="1"/>
          </p:cNvSpPr>
          <p:nvPr/>
        </p:nvSpPr>
        <p:spPr>
          <a:xfrm xmlns:a="http://schemas.openxmlformats.org/drawingml/2006/main">
            <a:off x="342900" y="4397127"/>
            <a:ext cx="2734717"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3" name="Shape 11">
            <a:extLst xmlns:a="http://schemas.openxmlformats.org/drawingml/2006/main">
              <a:ext uri="{FF2B5EF4-FFF2-40B4-BE49-F238E27FC236}">
                <a16:creationId xmlns:a16="http://schemas.microsoft.com/office/drawing/2014/main" id="{C9C83409-90DD-4C48-BCE5-EF8C3595497A}"/>
              </a:ext>
            </a:extLst>
          </p:cNvPr>
          <p:cNvSpPr>
            <a:spLocks xmlns:a="http://schemas.openxmlformats.org/drawingml/2006/main" noGrp="1"/>
          </p:cNvSpPr>
          <p:nvPr/>
        </p:nvSpPr>
        <p:spPr>
          <a:xfrm xmlns:a="http://schemas.openxmlformats.org/drawingml/2006/main">
            <a:off x="371475" y="1906935"/>
            <a:ext cx="0" cy="2494955"/>
          </a:xfrm>
          <a:prstGeom xmlns:a="http://schemas.openxmlformats.org/drawingml/2006/main" prst="line">
            <a:avLst/>
          </a:prstGeom>
          <a:noFill xmlns:a="http://schemas.openxmlformats.org/drawingml/2006/main"/>
          <a:ln xmlns:a="http://schemas.openxmlformats.org/drawingml/2006/main" w="57150">
            <a:solidFill>
              <a:srgbClr val="234D78"/>
            </a:solidFill>
            <a:prstDash val="solid"/>
          </a:ln>
        </p:spPr>
      </p:sp>
      <p:sp>
        <p:nvSpPr>
          <p:cNvPr id="14" name="Text 12">
            <a:extLst xmlns:a="http://schemas.openxmlformats.org/drawingml/2006/main">
              <a:ext uri="{FF2B5EF4-FFF2-40B4-BE49-F238E27FC236}">
                <a16:creationId xmlns:a16="http://schemas.microsoft.com/office/drawing/2014/main" id="{E14252E2-5125-4FC8-B969-CB19F6FE5F4F}"/>
              </a:ext>
            </a:extLst>
          </p:cNvPr>
          <p:cNvSpPr>
            <a:spLocks xmlns:a="http://schemas.openxmlformats.org/drawingml/2006/main" noGrp="1"/>
          </p:cNvSpPr>
          <p:nvPr/>
        </p:nvSpPr>
        <p:spPr>
          <a:xfrm xmlns:a="http://schemas.openxmlformats.org/drawingml/2006/main">
            <a:off x="552450" y="2068860"/>
            <a:ext cx="2410507"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Correction target</a:t>
            </a:r>
            <a:endParaRPr sz="1400"/>
          </a:p>
        </p:txBody>
      </p:sp>
      <p:sp>
        <p:nvSpPr>
          <p:cNvPr id="15" name="Text 13">
            <a:extLst xmlns:a="http://schemas.openxmlformats.org/drawingml/2006/main">
              <a:ext uri="{FF2B5EF4-FFF2-40B4-BE49-F238E27FC236}">
                <a16:creationId xmlns:a16="http://schemas.microsoft.com/office/drawing/2014/main" id="{35A73C47-54B5-40BD-A890-89EE997C64DA}"/>
              </a:ext>
            </a:extLst>
          </p:cNvPr>
          <p:cNvSpPr>
            <a:spLocks xmlns:a="http://schemas.openxmlformats.org/drawingml/2006/main" noGrp="1"/>
          </p:cNvSpPr>
          <p:nvPr/>
        </p:nvSpPr>
        <p:spPr>
          <a:xfrm xmlns:a="http://schemas.openxmlformats.org/drawingml/2006/main">
            <a:off x="552450" y="2336750"/>
            <a:ext cx="2410507" cy="383977"/>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513"/>
              </a:lnSpc>
              <a:buNone/>
              <a:defRPr sz="1220" b="0">
                <a:solidFill>
                  <a:srgbClr val="12263A"/>
                </a:solidFill>
                <a:latin typeface="Arial"/>
                <a:ea typeface="Arial"/>
                <a:cs typeface="Arial"/>
              </a:defRPr>
            </a:pPr>
            <a:r>
              <a:rPr sz="1220" b="0">
                <a:solidFill>
                  <a:srgbClr val="12263A"/>
                </a:solidFill>
                <a:latin typeface="Arial"/>
                <a:ea typeface="Arial"/>
                <a:cs typeface="Arial"/>
              </a:rPr>
              <a:t>Video-derived object poses. Separate global biases from local failures.</a:t>
            </a:r>
            <a:endParaRPr sz="1220"/>
          </a:p>
        </p:txBody>
      </p:sp>
      <p:sp>
        <p:nvSpPr>
          <p:cNvPr id="16" name="Text 14">
            <a:extLst xmlns:a="http://schemas.openxmlformats.org/drawingml/2006/main">
              <a:ext uri="{FF2B5EF4-FFF2-40B4-BE49-F238E27FC236}">
                <a16:creationId xmlns:a16="http://schemas.microsoft.com/office/drawing/2014/main" id="{CD3766C4-1980-4CBE-A2C2-95F30252C049}"/>
              </a:ext>
            </a:extLst>
          </p:cNvPr>
          <p:cNvSpPr>
            <a:spLocks xmlns:a="http://schemas.openxmlformats.org/drawingml/2006/main" noGrp="1"/>
          </p:cNvSpPr>
          <p:nvPr/>
        </p:nvSpPr>
        <p:spPr>
          <a:xfrm xmlns:a="http://schemas.openxmlformats.org/drawingml/2006/main">
            <a:off x="3204567" y="1906935"/>
            <a:ext cx="2734866" cy="2494955"/>
          </a:xfrm>
          <a:prstGeom xmlns:a="http://schemas.openxmlformats.org/drawingml/2006/main" prst="roundRect">
            <a:avLst>
              <a:gd name="adj" fmla="val 4072"/>
            </a:avLst>
          </a:prstGeom>
          <a:solidFill xmlns:a="http://schemas.openxmlformats.org/drawingml/2006/main">
            <a:srgbClr val="EDFAF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17" name="Shape 15">
            <a:extLst xmlns:a="http://schemas.openxmlformats.org/drawingml/2006/main">
              <a:ext uri="{FF2B5EF4-FFF2-40B4-BE49-F238E27FC236}">
                <a16:creationId xmlns:a16="http://schemas.microsoft.com/office/drawing/2014/main" id="{E0062C51-ECE0-4586-8A6D-C92409115E55}"/>
              </a:ext>
            </a:extLst>
          </p:cNvPr>
          <p:cNvSpPr>
            <a:spLocks xmlns:a="http://schemas.openxmlformats.org/drawingml/2006/main" noGrp="1"/>
          </p:cNvSpPr>
          <p:nvPr/>
        </p:nvSpPr>
        <p:spPr>
          <a:xfrm xmlns:a="http://schemas.openxmlformats.org/drawingml/2006/main">
            <a:off x="3204567" y="1911697"/>
            <a:ext cx="2734866"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8" name="Shape 16">
            <a:extLst xmlns:a="http://schemas.openxmlformats.org/drawingml/2006/main">
              <a:ext uri="{FF2B5EF4-FFF2-40B4-BE49-F238E27FC236}">
                <a16:creationId xmlns:a16="http://schemas.microsoft.com/office/drawing/2014/main" id="{A6771D28-2321-4CC3-BC92-5B465FF7CBD9}"/>
              </a:ext>
            </a:extLst>
          </p:cNvPr>
          <p:cNvSpPr>
            <a:spLocks xmlns:a="http://schemas.openxmlformats.org/drawingml/2006/main" noGrp="1"/>
          </p:cNvSpPr>
          <p:nvPr/>
        </p:nvSpPr>
        <p:spPr>
          <a:xfrm xmlns:a="http://schemas.openxmlformats.org/drawingml/2006/main">
            <a:off x="5934670" y="1906935"/>
            <a:ext cx="0" cy="2494955"/>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9" name="Shape 17">
            <a:extLst xmlns:a="http://schemas.openxmlformats.org/drawingml/2006/main">
              <a:ext uri="{FF2B5EF4-FFF2-40B4-BE49-F238E27FC236}">
                <a16:creationId xmlns:a16="http://schemas.microsoft.com/office/drawing/2014/main" id="{8C967221-A35D-489F-9F5F-37DFEB3CC60B}"/>
              </a:ext>
            </a:extLst>
          </p:cNvPr>
          <p:cNvSpPr>
            <a:spLocks xmlns:a="http://schemas.openxmlformats.org/drawingml/2006/main" noGrp="1"/>
          </p:cNvSpPr>
          <p:nvPr/>
        </p:nvSpPr>
        <p:spPr>
          <a:xfrm xmlns:a="http://schemas.openxmlformats.org/drawingml/2006/main">
            <a:off x="3204567" y="4397127"/>
            <a:ext cx="2734866"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20" name="Shape 18">
            <a:extLst xmlns:a="http://schemas.openxmlformats.org/drawingml/2006/main">
              <a:ext uri="{FF2B5EF4-FFF2-40B4-BE49-F238E27FC236}">
                <a16:creationId xmlns:a16="http://schemas.microsoft.com/office/drawing/2014/main" id="{DA6EDFC1-EC26-4267-B07B-7708AFC50167}"/>
              </a:ext>
            </a:extLst>
          </p:cNvPr>
          <p:cNvSpPr>
            <a:spLocks xmlns:a="http://schemas.openxmlformats.org/drawingml/2006/main" noGrp="1"/>
          </p:cNvSpPr>
          <p:nvPr/>
        </p:nvSpPr>
        <p:spPr>
          <a:xfrm xmlns:a="http://schemas.openxmlformats.org/drawingml/2006/main">
            <a:off x="3233142" y="1906935"/>
            <a:ext cx="0" cy="2494955"/>
          </a:xfrm>
          <a:prstGeom xmlns:a="http://schemas.openxmlformats.org/drawingml/2006/main" prst="line">
            <a:avLst/>
          </a:prstGeom>
          <a:noFill xmlns:a="http://schemas.openxmlformats.org/drawingml/2006/main"/>
          <a:ln xmlns:a="http://schemas.openxmlformats.org/drawingml/2006/main" w="57150">
            <a:solidFill>
              <a:srgbClr val="1D9E91"/>
            </a:solidFill>
            <a:prstDash val="solid"/>
          </a:ln>
        </p:spPr>
      </p:sp>
      <p:sp>
        <p:nvSpPr>
          <p:cNvPr id="21" name="Text 19">
            <a:extLst xmlns:a="http://schemas.openxmlformats.org/drawingml/2006/main">
              <a:ext uri="{FF2B5EF4-FFF2-40B4-BE49-F238E27FC236}">
                <a16:creationId xmlns:a16="http://schemas.microsoft.com/office/drawing/2014/main" id="{6E71FE3E-58B3-4AB7-9DF4-9712B52F0705}"/>
              </a:ext>
            </a:extLst>
          </p:cNvPr>
          <p:cNvSpPr>
            <a:spLocks xmlns:a="http://schemas.openxmlformats.org/drawingml/2006/main" noGrp="1"/>
          </p:cNvSpPr>
          <p:nvPr/>
        </p:nvSpPr>
        <p:spPr>
          <a:xfrm xmlns:a="http://schemas.openxmlformats.org/drawingml/2006/main">
            <a:off x="3414117" y="2068860"/>
            <a:ext cx="2410658"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Controlled comparison</a:t>
            </a:r>
            <a:endParaRPr sz="1400"/>
          </a:p>
        </p:txBody>
      </p:sp>
      <p:sp>
        <p:nvSpPr>
          <p:cNvPr id="22" name="Text 20">
            <a:extLst xmlns:a="http://schemas.openxmlformats.org/drawingml/2006/main">
              <a:ext uri="{FF2B5EF4-FFF2-40B4-BE49-F238E27FC236}">
                <a16:creationId xmlns:a16="http://schemas.microsoft.com/office/drawing/2014/main" id="{E91CFB25-088B-485C-A093-A48791F0DAA6}"/>
              </a:ext>
            </a:extLst>
          </p:cNvPr>
          <p:cNvSpPr>
            <a:spLocks xmlns:a="http://schemas.openxmlformats.org/drawingml/2006/main" noGrp="1"/>
          </p:cNvSpPr>
          <p:nvPr/>
        </p:nvSpPr>
        <p:spPr>
          <a:xfrm xmlns:a="http://schemas.openxmlformats.org/drawingml/2006/main">
            <a:off x="3414117" y="2336750"/>
            <a:ext cx="2410658" cy="383977"/>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513"/>
              </a:lnSpc>
              <a:buNone/>
              <a:defRPr sz="1220" b="0">
                <a:solidFill>
                  <a:srgbClr val="12263A"/>
                </a:solidFill>
                <a:latin typeface="Arial"/>
                <a:ea typeface="Arial"/>
                <a:cs typeface="Arial"/>
              </a:defRPr>
            </a:pPr>
            <a:r>
              <a:rPr sz="1220" b="0">
                <a:solidFill>
                  <a:srgbClr val="12263A"/>
                </a:solidFill>
                <a:latin typeface="Arial"/>
                <a:ea typeface="Arial"/>
                <a:cs typeface="Arial"/>
              </a:rPr>
              <a:t>Shared candidates, edit primitives, controller, and budget accounting.</a:t>
            </a:r>
            <a:endParaRPr sz="1220"/>
          </a:p>
        </p:txBody>
      </p:sp>
      <p:sp>
        <p:nvSpPr>
          <p:cNvPr id="23" name="Text 21">
            <a:extLst xmlns:a="http://schemas.openxmlformats.org/drawingml/2006/main">
              <a:ext uri="{FF2B5EF4-FFF2-40B4-BE49-F238E27FC236}">
                <a16:creationId xmlns:a16="http://schemas.microsoft.com/office/drawing/2014/main" id="{AAA517D1-9F1B-4CCE-928A-A6FCD9A3E371}"/>
              </a:ext>
            </a:extLst>
          </p:cNvPr>
          <p:cNvSpPr>
            <a:spLocks xmlns:a="http://schemas.openxmlformats.org/drawingml/2006/main" noGrp="1"/>
          </p:cNvSpPr>
          <p:nvPr/>
        </p:nvSpPr>
        <p:spPr>
          <a:xfrm xmlns:a="http://schemas.openxmlformats.org/drawingml/2006/main">
            <a:off x="6066383" y="1906935"/>
            <a:ext cx="2734717" cy="2494955"/>
          </a:xfrm>
          <a:prstGeom xmlns:a="http://schemas.openxmlformats.org/drawingml/2006/main" prst="roundRect">
            <a:avLst>
              <a:gd name="adj" fmla="val 4072"/>
            </a:avLst>
          </a:prstGeom>
          <a:solidFill xmlns:a="http://schemas.openxmlformats.org/drawingml/2006/main">
            <a:srgbClr val="FFF8E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24" name="Shape 22">
            <a:extLst xmlns:a="http://schemas.openxmlformats.org/drawingml/2006/main">
              <a:ext uri="{FF2B5EF4-FFF2-40B4-BE49-F238E27FC236}">
                <a16:creationId xmlns:a16="http://schemas.microsoft.com/office/drawing/2014/main" id="{AD442DE6-F047-4F0E-9F96-31B29D30475C}"/>
              </a:ext>
            </a:extLst>
          </p:cNvPr>
          <p:cNvSpPr>
            <a:spLocks xmlns:a="http://schemas.openxmlformats.org/drawingml/2006/main" noGrp="1"/>
          </p:cNvSpPr>
          <p:nvPr/>
        </p:nvSpPr>
        <p:spPr>
          <a:xfrm xmlns:a="http://schemas.openxmlformats.org/drawingml/2006/main">
            <a:off x="6066383" y="1911697"/>
            <a:ext cx="2734717"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25" name="Shape 23">
            <a:extLst xmlns:a="http://schemas.openxmlformats.org/drawingml/2006/main">
              <a:ext uri="{FF2B5EF4-FFF2-40B4-BE49-F238E27FC236}">
                <a16:creationId xmlns:a16="http://schemas.microsoft.com/office/drawing/2014/main" id="{27D363D8-A9DA-4EFA-BA91-51AF283AADD8}"/>
              </a:ext>
            </a:extLst>
          </p:cNvPr>
          <p:cNvSpPr>
            <a:spLocks xmlns:a="http://schemas.openxmlformats.org/drawingml/2006/main" noGrp="1"/>
          </p:cNvSpPr>
          <p:nvPr/>
        </p:nvSpPr>
        <p:spPr>
          <a:xfrm xmlns:a="http://schemas.openxmlformats.org/drawingml/2006/main">
            <a:off x="8796338" y="1906935"/>
            <a:ext cx="0" cy="2494955"/>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26" name="Shape 24">
            <a:extLst xmlns:a="http://schemas.openxmlformats.org/drawingml/2006/main">
              <a:ext uri="{FF2B5EF4-FFF2-40B4-BE49-F238E27FC236}">
                <a16:creationId xmlns:a16="http://schemas.microsoft.com/office/drawing/2014/main" id="{3AC4D532-05E1-4588-81F4-E4BB24D70345}"/>
              </a:ext>
            </a:extLst>
          </p:cNvPr>
          <p:cNvSpPr>
            <a:spLocks xmlns:a="http://schemas.openxmlformats.org/drawingml/2006/main" noGrp="1"/>
          </p:cNvSpPr>
          <p:nvPr/>
        </p:nvSpPr>
        <p:spPr>
          <a:xfrm xmlns:a="http://schemas.openxmlformats.org/drawingml/2006/main">
            <a:off x="6066383" y="4397127"/>
            <a:ext cx="2734717"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27" name="Shape 25">
            <a:extLst xmlns:a="http://schemas.openxmlformats.org/drawingml/2006/main">
              <a:ext uri="{FF2B5EF4-FFF2-40B4-BE49-F238E27FC236}">
                <a16:creationId xmlns:a16="http://schemas.microsoft.com/office/drawing/2014/main" id="{51230FEA-099A-4784-B896-D22739E471D1}"/>
              </a:ext>
            </a:extLst>
          </p:cNvPr>
          <p:cNvSpPr>
            <a:spLocks xmlns:a="http://schemas.openxmlformats.org/drawingml/2006/main" noGrp="1"/>
          </p:cNvSpPr>
          <p:nvPr/>
        </p:nvSpPr>
        <p:spPr>
          <a:xfrm xmlns:a="http://schemas.openxmlformats.org/drawingml/2006/main">
            <a:off x="6094958" y="1906935"/>
            <a:ext cx="0" cy="2494955"/>
          </a:xfrm>
          <a:prstGeom xmlns:a="http://schemas.openxmlformats.org/drawingml/2006/main" prst="line">
            <a:avLst/>
          </a:prstGeom>
          <a:noFill xmlns:a="http://schemas.openxmlformats.org/drawingml/2006/main"/>
          <a:ln xmlns:a="http://schemas.openxmlformats.org/drawingml/2006/main" w="57150">
            <a:solidFill>
              <a:srgbClr val="E8A525"/>
            </a:solidFill>
            <a:prstDash val="solid"/>
          </a:ln>
        </p:spPr>
      </p:sp>
      <p:sp>
        <p:nvSpPr>
          <p:cNvPr id="28" name="Text 26">
            <a:extLst xmlns:a="http://schemas.openxmlformats.org/drawingml/2006/main">
              <a:ext uri="{FF2B5EF4-FFF2-40B4-BE49-F238E27FC236}">
                <a16:creationId xmlns:a16="http://schemas.microsoft.com/office/drawing/2014/main" id="{F087131B-B48B-449E-AEDA-E0860191CAEE}"/>
              </a:ext>
            </a:extLst>
          </p:cNvPr>
          <p:cNvSpPr>
            <a:spLocks xmlns:a="http://schemas.openxmlformats.org/drawingml/2006/main" noGrp="1"/>
          </p:cNvSpPr>
          <p:nvPr/>
        </p:nvSpPr>
        <p:spPr>
          <a:xfrm xmlns:a="http://schemas.openxmlformats.org/drawingml/2006/main">
            <a:off x="6275933" y="2068860"/>
            <a:ext cx="2410507"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Primary endpoint</a:t>
            </a:r>
            <a:endParaRPr sz="1400"/>
          </a:p>
        </p:txBody>
      </p:sp>
      <p:sp>
        <p:nvSpPr>
          <p:cNvPr id="29" name="Text 27">
            <a:extLst xmlns:a="http://schemas.openxmlformats.org/drawingml/2006/main">
              <a:ext uri="{FF2B5EF4-FFF2-40B4-BE49-F238E27FC236}">
                <a16:creationId xmlns:a16="http://schemas.microsoft.com/office/drawing/2014/main" id="{ADF84130-4EA2-4219-A4D8-8DF3A43DB674}"/>
              </a:ext>
            </a:extLst>
          </p:cNvPr>
          <p:cNvSpPr>
            <a:spLocks xmlns:a="http://schemas.openxmlformats.org/drawingml/2006/main" noGrp="1"/>
          </p:cNvSpPr>
          <p:nvPr/>
        </p:nvSpPr>
        <p:spPr>
          <a:xfrm xmlns:a="http://schemas.openxmlformats.org/drawingml/2006/main">
            <a:off x="6275933" y="2336750"/>
            <a:ext cx="2410507" cy="383977"/>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513"/>
              </a:lnSpc>
              <a:buNone/>
              <a:defRPr sz="1220" b="0">
                <a:solidFill>
                  <a:srgbClr val="12263A"/>
                </a:solidFill>
                <a:latin typeface="Arial"/>
                <a:ea typeface="Arial"/>
                <a:cs typeface="Arial"/>
              </a:defRPr>
            </a:pPr>
            <a:r>
              <a:rPr sz="1220" b="0">
                <a:solidFill>
                  <a:srgbClr val="12263A"/>
                </a:solidFill>
                <a:latin typeface="Arial"/>
                <a:ea typeface="Arial"/>
                <a:cs typeface="Arial"/>
              </a:rPr>
              <a:t>Task success after retargeting. Include a GT-assisted oracle comparison.</a:t>
            </a:r>
            <a:endParaRPr sz="1220"/>
          </a:p>
        </p:txBody>
      </p:sp>
      <p:sp>
        <p:nvSpPr>
          <p:cNvPr id="30" name="Text 28">
            <a:extLst xmlns:a="http://schemas.openxmlformats.org/drawingml/2006/main">
              <a:ext uri="{FF2B5EF4-FFF2-40B4-BE49-F238E27FC236}">
                <a16:creationId xmlns:a16="http://schemas.microsoft.com/office/drawing/2014/main" id="{53697883-C0FF-4798-8679-54F245699865}"/>
              </a:ext>
            </a:extLst>
          </p:cNvPr>
          <p:cNvSpPr>
            <a:spLocks xmlns:a="http://schemas.openxmlformats.org/drawingml/2006/main" noGrp="1"/>
          </p:cNvSpPr>
          <p:nvPr/>
        </p:nvSpPr>
        <p:spPr>
          <a:xfrm xmlns:a="http://schemas.openxmlformats.org/drawingml/2006/main">
            <a:off x="342900" y="4516189"/>
            <a:ext cx="8627364" cy="14481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140"/>
              </a:lnSpc>
              <a:buNone/>
              <a:defRPr sz="950" b="1">
                <a:solidFill>
                  <a:srgbClr val="617286"/>
                </a:solidFill>
                <a:latin typeface="Arial"/>
                <a:ea typeface="Arial"/>
                <a:cs typeface="Arial"/>
              </a:defRPr>
            </a:pPr>
            <a:r>
              <a:rPr sz="950" b="1">
                <a:solidFill>
                  <a:srgbClr val="617286"/>
                </a:solidFill>
                <a:latin typeface="Arial"/>
                <a:ea typeface="Arial"/>
                <a:cs typeface="Arial"/>
              </a:rPr>
              <a:t>The question remains untested. A negative result is informative after protocol and input sensitivity are established.</a:t>
            </a:r>
            <a:endParaRPr sz="950"/>
          </a:p>
        </p:txBody>
      </p:sp>
      <p:sp>
        <p:nvSpPr>
          <p:cNvPr id="31" name="Text 29">
            <a:extLst xmlns:a="http://schemas.openxmlformats.org/drawingml/2006/main">
              <a:ext uri="{FF2B5EF4-FFF2-40B4-BE49-F238E27FC236}">
                <a16:creationId xmlns:a16="http://schemas.microsoft.com/office/drawing/2014/main" id="{0C655EDB-DD2C-47AF-B7B8-6CBDCE278490}"/>
              </a:ext>
            </a:extLst>
          </p:cNvPr>
          <p:cNvSpPr>
            <a:spLocks xmlns:a="http://schemas.openxmlformats.org/drawingml/2006/main" noGrp="1"/>
          </p:cNvSpPr>
          <p:nvPr/>
        </p:nvSpPr>
        <p:spPr>
          <a:xfrm xmlns:a="http://schemas.openxmlformats.org/drawingml/2006/main">
            <a:off x="8339328" y="4965192"/>
            <a:ext cx="502920"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60">
                <a:solidFill>
                  <a:srgbClr val="7A8794"/>
                </a:solidFill>
                <a:latin typeface="Arial"/>
                <a:ea typeface="Arial"/>
                <a:cs typeface="Arial"/>
              </a:rPr>
              <a:t>18 / 31</a:t>
            </a:r>
            <a:endParaRPr sz="660"/>
          </a:p>
        </p:txBody>
      </p:sp>
      <p:sp>
        <p:nvSpPr>
          <p:cNvPr id="32" name="Sources footer">
            <a:extLst xmlns:a="http://schemas.openxmlformats.org/drawingml/2006/main">
              <a:ext uri="{FF2B5EF4-FFF2-40B4-BE49-F238E27FC236}">
                <a16:creationId xmlns:a16="http://schemas.microsoft.com/office/drawing/2014/main" id="{F69A9AAA-161C-4A21-BCAA-A5C3F969D0F2}"/>
              </a:ext>
            </a:extLst>
          </p:cNvPr>
          <p:cNvSpPr>
            <a:spLocks xmlns:a="http://schemas.openxmlformats.org/drawingml/2006/main" noGrp="1"/>
          </p:cNvSpPr>
          <p:nvPr/>
        </p:nvSpPr>
        <p:spPr>
          <a:xfrm xmlns:a="http://schemas.openxmlformats.org/drawingml/2006/main">
            <a:off x="438150" y="4924425"/>
            <a:ext cx="72961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40" b="0">
                <a:solidFill>
                  <a:srgbClr val="234D78"/>
                </a:solidFill>
                <a:latin typeface="Arial"/>
                <a:ea typeface="Arial"/>
                <a:cs typeface="Arial"/>
              </a:defRPr>
            </a:pPr>
            <a:r>
              <a:rPr sz="640" b="0">
                <a:solidFill>
                  <a:srgbClr val="234D78"/>
                </a:solidFill>
                <a:latin typeface="Arial"/>
                <a:ea typeface="Arial"/>
                <a:cs typeface="Arial"/>
                <a:hlinkClick xmlns:r="http://schemas.openxmlformats.org/officeDocument/2006/relationships" r:id="R3d71b4b43a5646cb"/>
              </a:rPr>
              <a:t>Reader guide and sources</a:t>
            </a:r>
          </a:p>
        </p:txBody>
      </p:sp>
    </p:spTree>
    <p:extLst>
      <p:ext uri="{BB962C8B-B14F-4D97-AF65-F5344CB8AC3E}">
        <p14:creationId xmlns:p14="http://schemas.microsoft.com/office/powerpoint/2010/main" val="127397314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90756DC-9D31-48C9-AD06-65831157AF5C}"/>
              </a:ext>
            </a:extLst>
          </p:cNvPr>
          <p:cNvSpPr>
            <a:spLocks xmlns:a="http://schemas.openxmlformats.org/drawingml/2006/main" noGrp="1"/>
          </p:cNvSpPr>
          <p:nvPr/>
        </p:nvSpPr>
        <p:spPr>
          <a:xfrm xmlns:a="http://schemas.openxmlformats.org/drawingml/2006/main">
            <a:off x="0" y="0"/>
            <a:ext cx="9144000" cy="609600"/>
          </a:xfrm>
          <a:prstGeom xmlns:a="http://schemas.openxmlformats.org/drawingml/2006/main" prst="rect">
            <a:avLst/>
          </a:prstGeom>
          <a:solidFill xmlns:a="http://schemas.openxmlformats.org/drawingml/2006/main">
            <a:srgbClr val="234D7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3" name="Text 1">
            <a:extLst xmlns:a="http://schemas.openxmlformats.org/drawingml/2006/main">
              <a:ext uri="{FF2B5EF4-FFF2-40B4-BE49-F238E27FC236}">
                <a16:creationId xmlns:a16="http://schemas.microsoft.com/office/drawing/2014/main" id="{656B1FCC-6E6C-4941-89AF-5410401DC37C}"/>
              </a:ext>
            </a:extLst>
          </p:cNvPr>
          <p:cNvSpPr>
            <a:spLocks xmlns:a="http://schemas.openxmlformats.org/drawingml/2006/main" noGrp="1"/>
          </p:cNvSpPr>
          <p:nvPr/>
        </p:nvSpPr>
        <p:spPr>
          <a:xfrm xmlns:a="http://schemas.openxmlformats.org/drawingml/2006/main">
            <a:off x="330136" y="164116"/>
            <a:ext cx="6619875" cy="3238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2415"/>
              </a:lnSpc>
              <a:buNone/>
              <a:defRPr sz="2300" b="1">
                <a:solidFill>
                  <a:srgbClr val="FFFFFF"/>
                </a:solidFill>
                <a:latin typeface="Arial"/>
                <a:ea typeface="Arial"/>
                <a:cs typeface="Arial"/>
              </a:defRPr>
            </a:pPr>
            <a:r>
              <a:rPr sz="2300" b="1">
                <a:solidFill>
                  <a:srgbClr val="FFFFFF"/>
                </a:solidFill>
                <a:latin typeface="Arial"/>
                <a:ea typeface="Arial"/>
                <a:cs typeface="Arial"/>
              </a:rPr>
              <a:t>Pose inputs and data contracts</a:t>
            </a:r>
            <a:endParaRPr sz="2300"/>
          </a:p>
        </p:txBody>
      </p:sp>
      <p:sp>
        <p:nvSpPr>
          <p:cNvPr id="4" name="Text 2">
            <a:extLst xmlns:a="http://schemas.openxmlformats.org/drawingml/2006/main">
              <a:ext uri="{FF2B5EF4-FFF2-40B4-BE49-F238E27FC236}">
                <a16:creationId xmlns:a16="http://schemas.microsoft.com/office/drawing/2014/main" id="{009FF06D-B7A2-4D38-84A3-0672E310C96D}"/>
              </a:ext>
            </a:extLst>
          </p:cNvPr>
          <p:cNvSpPr>
            <a:spLocks xmlns:a="http://schemas.openxmlformats.org/drawingml/2006/main" noGrp="1"/>
          </p:cNvSpPr>
          <p:nvPr/>
        </p:nvSpPr>
        <p:spPr>
          <a:xfrm xmlns:a="http://schemas.openxmlformats.org/drawingml/2006/main">
            <a:off x="7372350" y="190500"/>
            <a:ext cx="14478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r">
              <a:lnSpc>
                <a:spcPts val="1054"/>
              </a:lnSpc>
              <a:buNone/>
              <a:defRPr sz="788" b="1">
                <a:solidFill>
                  <a:srgbClr val="FFFFFF"/>
                </a:solidFill>
                <a:latin typeface="Arial"/>
                <a:ea typeface="Arial"/>
                <a:cs typeface="Arial"/>
              </a:defRPr>
            </a:pPr>
            <a:r>
              <a:rPr sz="788" b="1">
                <a:solidFill>
                  <a:srgbClr val="FFFFFF"/>
                </a:solidFill>
                <a:latin typeface="Arial"/>
                <a:ea typeface="Arial"/>
                <a:cs typeface="Arial"/>
              </a:rPr>
              <a:t>CS CAPSTONE REFERENCE</a:t>
            </a:r>
            <a:endParaRPr sz="850"/>
          </a:p>
        </p:txBody>
      </p:sp>
      <p:sp>
        <p:nvSpPr>
          <p:cNvPr id="5" name="Text 3">
            <a:extLst xmlns:a="http://schemas.openxmlformats.org/drawingml/2006/main">
              <a:ext uri="{FF2B5EF4-FFF2-40B4-BE49-F238E27FC236}">
                <a16:creationId xmlns:a16="http://schemas.microsoft.com/office/drawing/2014/main" id="{0D4586DF-3EF1-466E-AA52-01AAF5968E95}"/>
              </a:ext>
            </a:extLst>
          </p:cNvPr>
          <p:cNvSpPr>
            <a:spLocks xmlns:a="http://schemas.openxmlformats.org/drawingml/2006/main" noGrp="1"/>
          </p:cNvSpPr>
          <p:nvPr/>
        </p:nvSpPr>
        <p:spPr>
          <a:xfrm xmlns:a="http://schemas.openxmlformats.org/drawingml/2006/main">
            <a:off x="330101" y="609600"/>
            <a:ext cx="787301" cy="38100"/>
          </a:xfrm>
          <a:prstGeom xmlns:a="http://schemas.openxmlformats.org/drawingml/2006/main" prst="rect">
            <a:avLst/>
          </a:prstGeom>
          <a:solidFill xmlns:a="http://schemas.openxmlformats.org/drawingml/2006/main">
            <a:srgbClr val="D63B4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6" name="Text 4">
            <a:extLst xmlns:a="http://schemas.openxmlformats.org/drawingml/2006/main">
              <a:ext uri="{FF2B5EF4-FFF2-40B4-BE49-F238E27FC236}">
                <a16:creationId xmlns:a16="http://schemas.microsoft.com/office/drawing/2014/main" id="{6BF1C3B4-FE4B-4A46-B477-4903A53199EE}"/>
              </a:ext>
            </a:extLst>
          </p:cNvPr>
          <p:cNvSpPr>
            <a:spLocks xmlns:a="http://schemas.openxmlformats.org/drawingml/2006/main" noGrp="1"/>
          </p:cNvSpPr>
          <p:nvPr/>
        </p:nvSpPr>
        <p:spPr>
          <a:xfrm xmlns:a="http://schemas.openxmlformats.org/drawingml/2006/main">
            <a:off x="342900" y="1035695"/>
            <a:ext cx="1366689" cy="846237"/>
          </a:xfrm>
          <a:prstGeom xmlns:a="http://schemas.openxmlformats.org/drawingml/2006/main" prst="roundRect">
            <a:avLst>
              <a:gd name="adj" fmla="val 10505"/>
            </a:avLst>
          </a:prstGeom>
          <a:solidFill xmlns:a="http://schemas.openxmlformats.org/drawingml/2006/main">
            <a:srgbClr val="FFFFFF"/>
          </a:solidFill>
          <a:ln xmlns:a="http://schemas.openxmlformats.org/drawingml/2006/main" w="9525">
            <a:solidFill>
              <a:srgbClr val="CAD6E2"/>
            </a:solidFill>
          </a:ln>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7" name="Text 5">
            <a:extLst xmlns:a="http://schemas.openxmlformats.org/drawingml/2006/main">
              <a:ext uri="{FF2B5EF4-FFF2-40B4-BE49-F238E27FC236}">
                <a16:creationId xmlns:a16="http://schemas.microsoft.com/office/drawing/2014/main" id="{3AE65BB7-632F-411E-AC55-B198ED94B27B}"/>
              </a:ext>
            </a:extLst>
          </p:cNvPr>
          <p:cNvSpPr>
            <a:spLocks xmlns:a="http://schemas.openxmlformats.org/drawingml/2006/main" noGrp="1"/>
          </p:cNvSpPr>
          <p:nvPr/>
        </p:nvSpPr>
        <p:spPr>
          <a:xfrm xmlns:a="http://schemas.openxmlformats.org/drawingml/2006/main">
            <a:off x="455535" y="1159520"/>
            <a:ext cx="1141419"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ctr">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1 · Input</a:t>
            </a:r>
            <a:endParaRPr sz="1400"/>
          </a:p>
        </p:txBody>
      </p:sp>
      <p:sp>
        <p:nvSpPr>
          <p:cNvPr id="8" name="Text 6">
            <a:extLst xmlns:a="http://schemas.openxmlformats.org/drawingml/2006/main">
              <a:ext uri="{FF2B5EF4-FFF2-40B4-BE49-F238E27FC236}">
                <a16:creationId xmlns:a16="http://schemas.microsoft.com/office/drawing/2014/main" id="{4B0E6034-2CE8-45A9-AF8E-43D51B42101E}"/>
              </a:ext>
            </a:extLst>
          </p:cNvPr>
          <p:cNvSpPr>
            <a:spLocks xmlns:a="http://schemas.openxmlformats.org/drawingml/2006/main" noGrp="1"/>
          </p:cNvSpPr>
          <p:nvPr/>
        </p:nvSpPr>
        <p:spPr>
          <a:xfrm xmlns:a="http://schemas.openxmlformats.org/drawingml/2006/main">
            <a:off x="455535" y="1427411"/>
            <a:ext cx="1141419" cy="330696"/>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ctr">
              <a:lnSpc>
                <a:spcPts val="1302"/>
              </a:lnSpc>
              <a:buNone/>
              <a:defRPr sz="1050" b="0">
                <a:solidFill>
                  <a:srgbClr val="12263A"/>
                </a:solidFill>
                <a:latin typeface="Arial"/>
                <a:ea typeface="Arial"/>
                <a:cs typeface="Arial"/>
              </a:defRPr>
            </a:pPr>
            <a:r>
              <a:rPr sz="1050" b="0">
                <a:solidFill>
                  <a:srgbClr val="12263A"/>
                </a:solidFill>
                <a:latin typeface="Arial"/>
                <a:ea typeface="Arial"/>
                <a:cs typeface="Arial"/>
              </a:rPr>
              <a:t>Calibration, timestamps, scale provenance</a:t>
            </a:r>
            <a:endParaRPr sz="1050"/>
          </a:p>
        </p:txBody>
      </p:sp>
      <p:sp>
        <p:nvSpPr>
          <p:cNvPr id="9" name="Text 7">
            <a:extLst xmlns:a="http://schemas.openxmlformats.org/drawingml/2006/main">
              <a:ext uri="{FF2B5EF4-FFF2-40B4-BE49-F238E27FC236}">
                <a16:creationId xmlns:a16="http://schemas.microsoft.com/office/drawing/2014/main" id="{B1817494-DC7E-473B-9B91-22AFB3892E9B}"/>
              </a:ext>
            </a:extLst>
          </p:cNvPr>
          <p:cNvSpPr>
            <a:spLocks xmlns:a="http://schemas.openxmlformats.org/drawingml/2006/main" noGrp="1"/>
          </p:cNvSpPr>
          <p:nvPr/>
        </p:nvSpPr>
        <p:spPr>
          <a:xfrm xmlns:a="http://schemas.openxmlformats.org/drawingml/2006/main">
            <a:off x="1809058" y="1317129"/>
            <a:ext cx="207213" cy="283369"/>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2232"/>
              </a:lnSpc>
              <a:buNone/>
            </a:pPr>
            <a:r>
              <a:rPr sz="1800" b="1">
                <a:solidFill>
                  <a:srgbClr val="D63B4A"/>
                </a:solidFill>
                <a:latin typeface="Arial"/>
                <a:ea typeface="Arial"/>
                <a:cs typeface="Arial"/>
              </a:rPr>
              <a:t>→</a:t>
            </a:r>
            <a:endParaRPr sz="1800"/>
          </a:p>
        </p:txBody>
      </p:sp>
      <p:sp>
        <p:nvSpPr>
          <p:cNvPr id="10" name="Text 8">
            <a:extLst xmlns:a="http://schemas.openxmlformats.org/drawingml/2006/main">
              <a:ext uri="{FF2B5EF4-FFF2-40B4-BE49-F238E27FC236}">
                <a16:creationId xmlns:a16="http://schemas.microsoft.com/office/drawing/2014/main" id="{8E4E61FF-D7F2-4D8B-AC9B-1AECCA857185}"/>
              </a:ext>
            </a:extLst>
          </p:cNvPr>
          <p:cNvSpPr>
            <a:spLocks xmlns:a="http://schemas.openxmlformats.org/drawingml/2006/main" noGrp="1"/>
          </p:cNvSpPr>
          <p:nvPr/>
        </p:nvSpPr>
        <p:spPr>
          <a:xfrm xmlns:a="http://schemas.openxmlformats.org/drawingml/2006/main">
            <a:off x="2115741" y="1035695"/>
            <a:ext cx="1366838" cy="846237"/>
          </a:xfrm>
          <a:prstGeom xmlns:a="http://schemas.openxmlformats.org/drawingml/2006/main" prst="roundRect">
            <a:avLst>
              <a:gd name="adj" fmla="val 10505"/>
            </a:avLst>
          </a:prstGeom>
          <a:solidFill xmlns:a="http://schemas.openxmlformats.org/drawingml/2006/main">
            <a:srgbClr val="FFFFFF"/>
          </a:solidFill>
          <a:ln xmlns:a="http://schemas.openxmlformats.org/drawingml/2006/main" w="9525">
            <a:solidFill>
              <a:srgbClr val="CAD6E2"/>
            </a:solidFill>
          </a:ln>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11" name="Text 9">
            <a:extLst xmlns:a="http://schemas.openxmlformats.org/drawingml/2006/main">
              <a:ext uri="{FF2B5EF4-FFF2-40B4-BE49-F238E27FC236}">
                <a16:creationId xmlns:a16="http://schemas.microsoft.com/office/drawing/2014/main" id="{E46A5429-5D47-41A9-A946-412C162E49AB}"/>
              </a:ext>
            </a:extLst>
          </p:cNvPr>
          <p:cNvSpPr>
            <a:spLocks xmlns:a="http://schemas.openxmlformats.org/drawingml/2006/main" noGrp="1"/>
          </p:cNvSpPr>
          <p:nvPr/>
        </p:nvSpPr>
        <p:spPr>
          <a:xfrm xmlns:a="http://schemas.openxmlformats.org/drawingml/2006/main">
            <a:off x="2228374" y="1159520"/>
            <a:ext cx="1141571"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ctr">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2 · Estimate</a:t>
            </a:r>
            <a:endParaRPr sz="1400"/>
          </a:p>
        </p:txBody>
      </p:sp>
      <p:sp>
        <p:nvSpPr>
          <p:cNvPr id="12" name="Text 10">
            <a:extLst xmlns:a="http://schemas.openxmlformats.org/drawingml/2006/main">
              <a:ext uri="{FF2B5EF4-FFF2-40B4-BE49-F238E27FC236}">
                <a16:creationId xmlns:a16="http://schemas.microsoft.com/office/drawing/2014/main" id="{C120A348-4368-461F-B7C4-4F181FE86EF6}"/>
              </a:ext>
            </a:extLst>
          </p:cNvPr>
          <p:cNvSpPr>
            <a:spLocks xmlns:a="http://schemas.openxmlformats.org/drawingml/2006/main" noGrp="1"/>
          </p:cNvSpPr>
          <p:nvPr/>
        </p:nvSpPr>
        <p:spPr>
          <a:xfrm xmlns:a="http://schemas.openxmlformats.org/drawingml/2006/main">
            <a:off x="2228374" y="1427411"/>
            <a:ext cx="1141571" cy="330696"/>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ctr">
              <a:lnSpc>
                <a:spcPts val="1302"/>
              </a:lnSpc>
              <a:buNone/>
              <a:defRPr sz="1050" b="0">
                <a:solidFill>
                  <a:srgbClr val="12263A"/>
                </a:solidFill>
                <a:latin typeface="Arial"/>
                <a:ea typeface="Arial"/>
                <a:cs typeface="Arial"/>
              </a:defRPr>
            </a:pPr>
            <a:r>
              <a:rPr sz="1050" b="0">
                <a:solidFill>
                  <a:srgbClr val="12263A"/>
                </a:solidFill>
                <a:latin typeface="Arial"/>
                <a:ea typeface="Arial"/>
                <a:cs typeface="Arial"/>
              </a:rPr>
              <a:t>SE(3), validity mask, diagnostics</a:t>
            </a:r>
            <a:endParaRPr sz="1050"/>
          </a:p>
        </p:txBody>
      </p:sp>
      <p:sp>
        <p:nvSpPr>
          <p:cNvPr id="13" name="Text 11">
            <a:extLst xmlns:a="http://schemas.openxmlformats.org/drawingml/2006/main">
              <a:ext uri="{FF2B5EF4-FFF2-40B4-BE49-F238E27FC236}">
                <a16:creationId xmlns:a16="http://schemas.microsoft.com/office/drawing/2014/main" id="{F74C5B03-3E10-4E0B-B86F-A89FFCAEFF40}"/>
              </a:ext>
            </a:extLst>
          </p:cNvPr>
          <p:cNvSpPr>
            <a:spLocks xmlns:a="http://schemas.openxmlformats.org/drawingml/2006/main" noGrp="1"/>
          </p:cNvSpPr>
          <p:nvPr/>
        </p:nvSpPr>
        <p:spPr>
          <a:xfrm xmlns:a="http://schemas.openxmlformats.org/drawingml/2006/main">
            <a:off x="3582047" y="1317129"/>
            <a:ext cx="207213" cy="283369"/>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2232"/>
              </a:lnSpc>
              <a:buNone/>
            </a:pPr>
            <a:r>
              <a:rPr sz="1800" b="1">
                <a:solidFill>
                  <a:srgbClr val="D63B4A"/>
                </a:solidFill>
                <a:latin typeface="Arial"/>
                <a:ea typeface="Arial"/>
                <a:cs typeface="Arial"/>
              </a:rPr>
              <a:t>→</a:t>
            </a:r>
            <a:endParaRPr sz="1800"/>
          </a:p>
        </p:txBody>
      </p:sp>
      <p:sp>
        <p:nvSpPr>
          <p:cNvPr id="14" name="Text 12">
            <a:extLst xmlns:a="http://schemas.openxmlformats.org/drawingml/2006/main">
              <a:ext uri="{FF2B5EF4-FFF2-40B4-BE49-F238E27FC236}">
                <a16:creationId xmlns:a16="http://schemas.microsoft.com/office/drawing/2014/main" id="{FCDB461A-E090-4C62-A318-D23A96C02330}"/>
              </a:ext>
            </a:extLst>
          </p:cNvPr>
          <p:cNvSpPr>
            <a:spLocks xmlns:a="http://schemas.openxmlformats.org/drawingml/2006/main" noGrp="1"/>
          </p:cNvSpPr>
          <p:nvPr/>
        </p:nvSpPr>
        <p:spPr>
          <a:xfrm xmlns:a="http://schemas.openxmlformats.org/drawingml/2006/main">
            <a:off x="3888730" y="850850"/>
            <a:ext cx="1366689" cy="1216075"/>
          </a:xfrm>
          <a:prstGeom xmlns:a="http://schemas.openxmlformats.org/drawingml/2006/main" prst="roundRect">
            <a:avLst>
              <a:gd name="adj" fmla="val 7310"/>
            </a:avLst>
          </a:prstGeom>
          <a:solidFill xmlns:a="http://schemas.openxmlformats.org/drawingml/2006/main">
            <a:srgbClr val="FFFFFF"/>
          </a:solidFill>
          <a:ln xmlns:a="http://schemas.openxmlformats.org/drawingml/2006/main" w="9525">
            <a:solidFill>
              <a:srgbClr val="CAD6E2"/>
            </a:solidFill>
          </a:ln>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15" name="Text 13">
            <a:extLst xmlns:a="http://schemas.openxmlformats.org/drawingml/2006/main">
              <a:ext uri="{FF2B5EF4-FFF2-40B4-BE49-F238E27FC236}">
                <a16:creationId xmlns:a16="http://schemas.microsoft.com/office/drawing/2014/main" id="{CCB1876A-4B6D-47DC-8B3E-9D1A6AC0DC45}"/>
              </a:ext>
            </a:extLst>
          </p:cNvPr>
          <p:cNvSpPr>
            <a:spLocks xmlns:a="http://schemas.openxmlformats.org/drawingml/2006/main" noGrp="1"/>
          </p:cNvSpPr>
          <p:nvPr/>
        </p:nvSpPr>
        <p:spPr>
          <a:xfrm xmlns:a="http://schemas.openxmlformats.org/drawingml/2006/main">
            <a:off x="4001365" y="974675"/>
            <a:ext cx="1141419" cy="4089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ctr">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3 · Events</a:t>
            </a:r>
            <a:endParaRPr sz="1400"/>
          </a:p>
        </p:txBody>
      </p:sp>
      <p:sp>
        <p:nvSpPr>
          <p:cNvPr id="16" name="Text 14">
            <a:extLst xmlns:a="http://schemas.openxmlformats.org/drawingml/2006/main">
              <a:ext uri="{FF2B5EF4-FFF2-40B4-BE49-F238E27FC236}">
                <a16:creationId xmlns:a16="http://schemas.microsoft.com/office/drawing/2014/main" id="{21278EEA-3859-4E61-B18C-9B3C84349DDC}"/>
              </a:ext>
            </a:extLst>
          </p:cNvPr>
          <p:cNvSpPr>
            <a:spLocks xmlns:a="http://schemas.openxmlformats.org/drawingml/2006/main" noGrp="1"/>
          </p:cNvSpPr>
          <p:nvPr/>
        </p:nvSpPr>
        <p:spPr>
          <a:xfrm xmlns:a="http://schemas.openxmlformats.org/drawingml/2006/main">
            <a:off x="4001365" y="1447056"/>
            <a:ext cx="1141419" cy="496044"/>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ctr">
              <a:lnSpc>
                <a:spcPts val="1302"/>
              </a:lnSpc>
              <a:buNone/>
              <a:defRPr sz="1050" b="0">
                <a:solidFill>
                  <a:srgbClr val="12263A"/>
                </a:solidFill>
                <a:latin typeface="Arial"/>
                <a:ea typeface="Arial"/>
                <a:cs typeface="Arial"/>
              </a:defRPr>
            </a:pPr>
            <a:r>
              <a:rPr sz="1050" b="0">
                <a:solidFill>
                  <a:srgbClr val="12263A"/>
                </a:solidFill>
                <a:latin typeface="Arial"/>
                <a:ea typeface="Arial"/>
                <a:cs typeface="Arial"/>
              </a:rPr>
              <a:t>TCP, gripper, phases, and goal</a:t>
            </a:r>
            <a:endParaRPr sz="1050"/>
          </a:p>
        </p:txBody>
      </p:sp>
      <p:sp>
        <p:nvSpPr>
          <p:cNvPr id="17" name="Text 15">
            <a:extLst xmlns:a="http://schemas.openxmlformats.org/drawingml/2006/main">
              <a:ext uri="{FF2B5EF4-FFF2-40B4-BE49-F238E27FC236}">
                <a16:creationId xmlns:a16="http://schemas.microsoft.com/office/drawing/2014/main" id="{FF14DF0A-6B82-48AE-BF2B-4C46E3DD063E}"/>
              </a:ext>
            </a:extLst>
          </p:cNvPr>
          <p:cNvSpPr>
            <a:spLocks xmlns:a="http://schemas.openxmlformats.org/drawingml/2006/main" noGrp="1"/>
          </p:cNvSpPr>
          <p:nvPr/>
        </p:nvSpPr>
        <p:spPr>
          <a:xfrm xmlns:a="http://schemas.openxmlformats.org/drawingml/2006/main">
            <a:off x="5354888" y="1317129"/>
            <a:ext cx="207213" cy="283369"/>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2232"/>
              </a:lnSpc>
              <a:buNone/>
            </a:pPr>
            <a:r>
              <a:rPr sz="1800" b="1">
                <a:solidFill>
                  <a:srgbClr val="D63B4A"/>
                </a:solidFill>
                <a:latin typeface="Arial"/>
                <a:ea typeface="Arial"/>
                <a:cs typeface="Arial"/>
              </a:rPr>
              <a:t>→</a:t>
            </a:r>
            <a:endParaRPr sz="1800"/>
          </a:p>
        </p:txBody>
      </p:sp>
      <p:sp>
        <p:nvSpPr>
          <p:cNvPr id="18" name="Text 16">
            <a:extLst xmlns:a="http://schemas.openxmlformats.org/drawingml/2006/main">
              <a:ext uri="{FF2B5EF4-FFF2-40B4-BE49-F238E27FC236}">
                <a16:creationId xmlns:a16="http://schemas.microsoft.com/office/drawing/2014/main" id="{8A8359B2-5472-4F3A-83C1-DBA4D9DAD3BD}"/>
              </a:ext>
            </a:extLst>
          </p:cNvPr>
          <p:cNvSpPr>
            <a:spLocks xmlns:a="http://schemas.openxmlformats.org/drawingml/2006/main" noGrp="1"/>
          </p:cNvSpPr>
          <p:nvPr/>
        </p:nvSpPr>
        <p:spPr>
          <a:xfrm xmlns:a="http://schemas.openxmlformats.org/drawingml/2006/main">
            <a:off x="5661571" y="1035695"/>
            <a:ext cx="1366689" cy="846237"/>
          </a:xfrm>
          <a:prstGeom xmlns:a="http://schemas.openxmlformats.org/drawingml/2006/main" prst="roundRect">
            <a:avLst>
              <a:gd name="adj" fmla="val 10505"/>
            </a:avLst>
          </a:prstGeom>
          <a:solidFill xmlns:a="http://schemas.openxmlformats.org/drawingml/2006/main">
            <a:srgbClr val="FFFFFF"/>
          </a:solidFill>
          <a:ln xmlns:a="http://schemas.openxmlformats.org/drawingml/2006/main" w="9525">
            <a:solidFill>
              <a:srgbClr val="CAD6E2"/>
            </a:solidFill>
          </a:ln>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19" name="Text 17">
            <a:extLst xmlns:a="http://schemas.openxmlformats.org/drawingml/2006/main">
              <a:ext uri="{FF2B5EF4-FFF2-40B4-BE49-F238E27FC236}">
                <a16:creationId xmlns:a16="http://schemas.microsoft.com/office/drawing/2014/main" id="{4444D832-CE65-492B-AB91-89F2FB39D817}"/>
              </a:ext>
            </a:extLst>
          </p:cNvPr>
          <p:cNvSpPr>
            <a:spLocks xmlns:a="http://schemas.openxmlformats.org/drawingml/2006/main" noGrp="1"/>
          </p:cNvSpPr>
          <p:nvPr/>
        </p:nvSpPr>
        <p:spPr>
          <a:xfrm xmlns:a="http://schemas.openxmlformats.org/drawingml/2006/main">
            <a:off x="5774205" y="1159520"/>
            <a:ext cx="1141419"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ctr">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4 · Retarget</a:t>
            </a:r>
            <a:endParaRPr sz="1400"/>
          </a:p>
        </p:txBody>
      </p:sp>
      <p:sp>
        <p:nvSpPr>
          <p:cNvPr id="20" name="Text 18">
            <a:extLst xmlns:a="http://schemas.openxmlformats.org/drawingml/2006/main">
              <a:ext uri="{FF2B5EF4-FFF2-40B4-BE49-F238E27FC236}">
                <a16:creationId xmlns:a16="http://schemas.microsoft.com/office/drawing/2014/main" id="{AE9722E0-7430-4166-8437-C9EE550DC452}"/>
              </a:ext>
            </a:extLst>
          </p:cNvPr>
          <p:cNvSpPr>
            <a:spLocks xmlns:a="http://schemas.openxmlformats.org/drawingml/2006/main" noGrp="1"/>
          </p:cNvSpPr>
          <p:nvPr/>
        </p:nvSpPr>
        <p:spPr>
          <a:xfrm xmlns:a="http://schemas.openxmlformats.org/drawingml/2006/main">
            <a:off x="5774205" y="1427411"/>
            <a:ext cx="1141419" cy="330696"/>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ctr">
              <a:lnSpc>
                <a:spcPts val="1302"/>
              </a:lnSpc>
              <a:buNone/>
              <a:defRPr sz="1050" b="0">
                <a:solidFill>
                  <a:srgbClr val="12263A"/>
                </a:solidFill>
                <a:latin typeface="Arial"/>
                <a:ea typeface="Arial"/>
                <a:cs typeface="Arial"/>
              </a:defRPr>
            </a:pPr>
            <a:r>
              <a:rPr sz="1050" b="0">
                <a:solidFill>
                  <a:srgbClr val="12263A"/>
                </a:solidFill>
                <a:latin typeface="Arial"/>
                <a:ea typeface="Arial"/>
                <a:cs typeface="Arial"/>
              </a:rPr>
              <a:t>Requested plan and executed states</a:t>
            </a:r>
            <a:endParaRPr sz="1050"/>
          </a:p>
        </p:txBody>
      </p:sp>
      <p:sp>
        <p:nvSpPr>
          <p:cNvPr id="21" name="Text 19">
            <a:extLst xmlns:a="http://schemas.openxmlformats.org/drawingml/2006/main">
              <a:ext uri="{FF2B5EF4-FFF2-40B4-BE49-F238E27FC236}">
                <a16:creationId xmlns:a16="http://schemas.microsoft.com/office/drawing/2014/main" id="{FA96BDA8-D1BE-47A3-9DE5-F36C701137C7}"/>
              </a:ext>
            </a:extLst>
          </p:cNvPr>
          <p:cNvSpPr>
            <a:spLocks xmlns:a="http://schemas.openxmlformats.org/drawingml/2006/main" noGrp="1"/>
          </p:cNvSpPr>
          <p:nvPr/>
        </p:nvSpPr>
        <p:spPr>
          <a:xfrm xmlns:a="http://schemas.openxmlformats.org/drawingml/2006/main">
            <a:off x="7127729" y="1317129"/>
            <a:ext cx="207213" cy="283369"/>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2232"/>
              </a:lnSpc>
              <a:buNone/>
            </a:pPr>
            <a:r>
              <a:rPr sz="1800" b="1">
                <a:solidFill>
                  <a:srgbClr val="D63B4A"/>
                </a:solidFill>
                <a:latin typeface="Arial"/>
                <a:ea typeface="Arial"/>
                <a:cs typeface="Arial"/>
              </a:rPr>
              <a:t>→</a:t>
            </a:r>
            <a:endParaRPr sz="1800"/>
          </a:p>
        </p:txBody>
      </p:sp>
      <p:sp>
        <p:nvSpPr>
          <p:cNvPr id="22" name="Text 20">
            <a:extLst xmlns:a="http://schemas.openxmlformats.org/drawingml/2006/main">
              <a:ext uri="{FF2B5EF4-FFF2-40B4-BE49-F238E27FC236}">
                <a16:creationId xmlns:a16="http://schemas.microsoft.com/office/drawing/2014/main" id="{58471153-6B3E-46DD-B2E6-E43BD0724786}"/>
              </a:ext>
            </a:extLst>
          </p:cNvPr>
          <p:cNvSpPr>
            <a:spLocks xmlns:a="http://schemas.openxmlformats.org/drawingml/2006/main" noGrp="1"/>
          </p:cNvSpPr>
          <p:nvPr/>
        </p:nvSpPr>
        <p:spPr>
          <a:xfrm xmlns:a="http://schemas.openxmlformats.org/drawingml/2006/main">
            <a:off x="7434411" y="1035695"/>
            <a:ext cx="1366689" cy="846237"/>
          </a:xfrm>
          <a:prstGeom xmlns:a="http://schemas.openxmlformats.org/drawingml/2006/main" prst="roundRect">
            <a:avLst>
              <a:gd name="adj" fmla="val 10505"/>
            </a:avLst>
          </a:prstGeom>
          <a:solidFill xmlns:a="http://schemas.openxmlformats.org/drawingml/2006/main">
            <a:srgbClr val="FFFFFF"/>
          </a:solidFill>
          <a:ln xmlns:a="http://schemas.openxmlformats.org/drawingml/2006/main" w="9525">
            <a:solidFill>
              <a:srgbClr val="CAD6E2"/>
            </a:solidFill>
          </a:ln>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23" name="Text 21">
            <a:extLst xmlns:a="http://schemas.openxmlformats.org/drawingml/2006/main">
              <a:ext uri="{FF2B5EF4-FFF2-40B4-BE49-F238E27FC236}">
                <a16:creationId xmlns:a16="http://schemas.microsoft.com/office/drawing/2014/main" id="{99ED2D45-3F6E-4C76-8EF8-FB7C5E0B8414}"/>
              </a:ext>
            </a:extLst>
          </p:cNvPr>
          <p:cNvSpPr>
            <a:spLocks xmlns:a="http://schemas.openxmlformats.org/drawingml/2006/main" noGrp="1"/>
          </p:cNvSpPr>
          <p:nvPr/>
        </p:nvSpPr>
        <p:spPr>
          <a:xfrm xmlns:a="http://schemas.openxmlformats.org/drawingml/2006/main">
            <a:off x="7547046" y="1159520"/>
            <a:ext cx="1141419"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ctr">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5 · Evaluate</a:t>
            </a:r>
            <a:endParaRPr sz="1400"/>
          </a:p>
        </p:txBody>
      </p:sp>
      <p:sp>
        <p:nvSpPr>
          <p:cNvPr id="24" name="Text 22">
            <a:extLst xmlns:a="http://schemas.openxmlformats.org/drawingml/2006/main">
              <a:ext uri="{FF2B5EF4-FFF2-40B4-BE49-F238E27FC236}">
                <a16:creationId xmlns:a16="http://schemas.microsoft.com/office/drawing/2014/main" id="{28AB14A3-64DB-4EBB-86A9-63FA37F59AD8}"/>
              </a:ext>
            </a:extLst>
          </p:cNvPr>
          <p:cNvSpPr>
            <a:spLocks xmlns:a="http://schemas.openxmlformats.org/drawingml/2006/main" noGrp="1"/>
          </p:cNvSpPr>
          <p:nvPr/>
        </p:nvSpPr>
        <p:spPr>
          <a:xfrm xmlns:a="http://schemas.openxmlformats.org/drawingml/2006/main">
            <a:off x="7547046" y="1427411"/>
            <a:ext cx="1141419" cy="330696"/>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ctr">
              <a:lnSpc>
                <a:spcPts val="1302"/>
              </a:lnSpc>
              <a:buNone/>
              <a:defRPr sz="1050" b="0">
                <a:solidFill>
                  <a:srgbClr val="12263A"/>
                </a:solidFill>
                <a:latin typeface="Arial"/>
                <a:ea typeface="Arial"/>
                <a:cs typeface="Arial"/>
              </a:defRPr>
            </a:pPr>
            <a:r>
              <a:rPr sz="1050" b="0">
                <a:solidFill>
                  <a:srgbClr val="12263A"/>
                </a:solidFill>
                <a:latin typeface="Arial"/>
                <a:ea typeface="Arial"/>
                <a:cs typeface="Arial"/>
              </a:rPr>
              <a:t>Task criteria, failures, and cost</a:t>
            </a:r>
            <a:endParaRPr sz="1050"/>
          </a:p>
        </p:txBody>
      </p:sp>
      <p:sp>
        <p:nvSpPr>
          <p:cNvPr id="25" name="Text 23">
            <a:extLst xmlns:a="http://schemas.openxmlformats.org/drawingml/2006/main">
              <a:ext uri="{FF2B5EF4-FFF2-40B4-BE49-F238E27FC236}">
                <a16:creationId xmlns:a16="http://schemas.microsoft.com/office/drawing/2014/main" id="{EEDB57D9-2BFD-45ED-ACCE-417A550D3F38}"/>
              </a:ext>
            </a:extLst>
          </p:cNvPr>
          <p:cNvSpPr>
            <a:spLocks xmlns:a="http://schemas.openxmlformats.org/drawingml/2006/main" noGrp="1"/>
          </p:cNvSpPr>
          <p:nvPr/>
        </p:nvSpPr>
        <p:spPr>
          <a:xfrm xmlns:a="http://schemas.openxmlformats.org/drawingml/2006/main">
            <a:off x="342900" y="2358926"/>
            <a:ext cx="2734717" cy="2302073"/>
          </a:xfrm>
          <a:prstGeom xmlns:a="http://schemas.openxmlformats.org/drawingml/2006/main" prst="roundRect">
            <a:avLst>
              <a:gd name="adj" fmla="val 4413"/>
            </a:avLst>
          </a:prstGeom>
          <a:solidFill xmlns:a="http://schemas.openxmlformats.org/drawingml/2006/main">
            <a:srgbClr val="FFF1F3"/>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26" name="Shape 24">
            <a:extLst xmlns:a="http://schemas.openxmlformats.org/drawingml/2006/main">
              <a:ext uri="{FF2B5EF4-FFF2-40B4-BE49-F238E27FC236}">
                <a16:creationId xmlns:a16="http://schemas.microsoft.com/office/drawing/2014/main" id="{7A7EFFC5-5700-49B1-ABE7-B04811572017}"/>
              </a:ext>
            </a:extLst>
          </p:cNvPr>
          <p:cNvSpPr>
            <a:spLocks xmlns:a="http://schemas.openxmlformats.org/drawingml/2006/main" noGrp="1"/>
          </p:cNvSpPr>
          <p:nvPr/>
        </p:nvSpPr>
        <p:spPr>
          <a:xfrm xmlns:a="http://schemas.openxmlformats.org/drawingml/2006/main">
            <a:off x="342900" y="2363688"/>
            <a:ext cx="2734717"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27" name="Shape 25">
            <a:extLst xmlns:a="http://schemas.openxmlformats.org/drawingml/2006/main">
              <a:ext uri="{FF2B5EF4-FFF2-40B4-BE49-F238E27FC236}">
                <a16:creationId xmlns:a16="http://schemas.microsoft.com/office/drawing/2014/main" id="{FEC354D0-5BF4-4491-AB78-DBA4D9B4DE02}"/>
              </a:ext>
            </a:extLst>
          </p:cNvPr>
          <p:cNvSpPr>
            <a:spLocks xmlns:a="http://schemas.openxmlformats.org/drawingml/2006/main" noGrp="1"/>
          </p:cNvSpPr>
          <p:nvPr/>
        </p:nvSpPr>
        <p:spPr>
          <a:xfrm xmlns:a="http://schemas.openxmlformats.org/drawingml/2006/main">
            <a:off x="3072854" y="2358926"/>
            <a:ext cx="0" cy="2302073"/>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28" name="Shape 26">
            <a:extLst xmlns:a="http://schemas.openxmlformats.org/drawingml/2006/main">
              <a:ext uri="{FF2B5EF4-FFF2-40B4-BE49-F238E27FC236}">
                <a16:creationId xmlns:a16="http://schemas.microsoft.com/office/drawing/2014/main" id="{B5774282-3F02-48BB-BA1B-A3AD07A77282}"/>
              </a:ext>
            </a:extLst>
          </p:cNvPr>
          <p:cNvSpPr>
            <a:spLocks xmlns:a="http://schemas.openxmlformats.org/drawingml/2006/main" noGrp="1"/>
          </p:cNvSpPr>
          <p:nvPr/>
        </p:nvSpPr>
        <p:spPr>
          <a:xfrm xmlns:a="http://schemas.openxmlformats.org/drawingml/2006/main">
            <a:off x="342900" y="4656237"/>
            <a:ext cx="2734717"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29" name="Shape 27">
            <a:extLst xmlns:a="http://schemas.openxmlformats.org/drawingml/2006/main">
              <a:ext uri="{FF2B5EF4-FFF2-40B4-BE49-F238E27FC236}">
                <a16:creationId xmlns:a16="http://schemas.microsoft.com/office/drawing/2014/main" id="{800C7917-4906-494D-AB7D-3E9741354F7A}"/>
              </a:ext>
            </a:extLst>
          </p:cNvPr>
          <p:cNvSpPr>
            <a:spLocks xmlns:a="http://schemas.openxmlformats.org/drawingml/2006/main" noGrp="1"/>
          </p:cNvSpPr>
          <p:nvPr/>
        </p:nvSpPr>
        <p:spPr>
          <a:xfrm xmlns:a="http://schemas.openxmlformats.org/drawingml/2006/main">
            <a:off x="371475" y="2358926"/>
            <a:ext cx="0" cy="2302073"/>
          </a:xfrm>
          <a:prstGeom xmlns:a="http://schemas.openxmlformats.org/drawingml/2006/main" prst="line">
            <a:avLst/>
          </a:prstGeom>
          <a:noFill xmlns:a="http://schemas.openxmlformats.org/drawingml/2006/main"/>
          <a:ln xmlns:a="http://schemas.openxmlformats.org/drawingml/2006/main" w="57150">
            <a:solidFill>
              <a:srgbClr val="D63B4A"/>
            </a:solidFill>
            <a:prstDash val="solid"/>
          </a:ln>
        </p:spPr>
      </p:sp>
      <p:sp>
        <p:nvSpPr>
          <p:cNvPr id="30" name="Text 28">
            <a:extLst xmlns:a="http://schemas.openxmlformats.org/drawingml/2006/main">
              <a:ext uri="{FF2B5EF4-FFF2-40B4-BE49-F238E27FC236}">
                <a16:creationId xmlns:a16="http://schemas.microsoft.com/office/drawing/2014/main" id="{3D509A85-FFD3-4B51-976F-30C8C5BE0A6D}"/>
              </a:ext>
            </a:extLst>
          </p:cNvPr>
          <p:cNvSpPr>
            <a:spLocks xmlns:a="http://schemas.openxmlformats.org/drawingml/2006/main" noGrp="1"/>
          </p:cNvSpPr>
          <p:nvPr/>
        </p:nvSpPr>
        <p:spPr>
          <a:xfrm xmlns:a="http://schemas.openxmlformats.org/drawingml/2006/main">
            <a:off x="552450" y="2520851"/>
            <a:ext cx="2410507"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Frame conventions</a:t>
            </a:r>
            <a:endParaRPr sz="1400"/>
          </a:p>
        </p:txBody>
      </p:sp>
      <p:sp>
        <p:nvSpPr>
          <p:cNvPr id="31" name="Text 29">
            <a:extLst xmlns:a="http://schemas.openxmlformats.org/drawingml/2006/main">
              <a:ext uri="{FF2B5EF4-FFF2-40B4-BE49-F238E27FC236}">
                <a16:creationId xmlns:a16="http://schemas.microsoft.com/office/drawing/2014/main" id="{6F98CC6F-D2C3-4244-9DA8-75E5F56A7C35}"/>
              </a:ext>
            </a:extLst>
          </p:cNvPr>
          <p:cNvSpPr>
            <a:spLocks xmlns:a="http://schemas.openxmlformats.org/drawingml/2006/main" noGrp="1"/>
          </p:cNvSpPr>
          <p:nvPr/>
        </p:nvSpPr>
        <p:spPr>
          <a:xfrm xmlns:a="http://schemas.openxmlformats.org/drawingml/2006/main">
            <a:off x="552450" y="2788741"/>
            <a:ext cx="2410507" cy="383977"/>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513"/>
              </a:lnSpc>
              <a:buNone/>
              <a:defRPr sz="1220" b="0">
                <a:solidFill>
                  <a:srgbClr val="12263A"/>
                </a:solidFill>
                <a:latin typeface="Arial"/>
                <a:ea typeface="Arial"/>
                <a:cs typeface="Arial"/>
              </a:defRPr>
            </a:pPr>
            <a:r>
              <a:rPr sz="1220" b="0">
                <a:solidFill>
                  <a:srgbClr val="12263A"/>
                </a:solidFill>
                <a:latin typeface="Arial"/>
                <a:ea typeface="Arial"/>
                <a:cs typeface="Arial"/>
              </a:rPr>
              <a:t>T_A_B maps B to A. Use metres, seconds, and wxyz quaternions. Retain missing frames.</a:t>
            </a:r>
            <a:endParaRPr sz="1220"/>
          </a:p>
        </p:txBody>
      </p:sp>
      <p:sp>
        <p:nvSpPr>
          <p:cNvPr id="32" name="Text 30">
            <a:extLst xmlns:a="http://schemas.openxmlformats.org/drawingml/2006/main">
              <a:ext uri="{FF2B5EF4-FFF2-40B4-BE49-F238E27FC236}">
                <a16:creationId xmlns:a16="http://schemas.microsoft.com/office/drawing/2014/main" id="{05859FC2-D454-4321-A90B-E88DB16F223A}"/>
              </a:ext>
            </a:extLst>
          </p:cNvPr>
          <p:cNvSpPr>
            <a:spLocks xmlns:a="http://schemas.openxmlformats.org/drawingml/2006/main" noGrp="1"/>
          </p:cNvSpPr>
          <p:nvPr/>
        </p:nvSpPr>
        <p:spPr>
          <a:xfrm xmlns:a="http://schemas.openxmlformats.org/drawingml/2006/main">
            <a:off x="3204567" y="2358926"/>
            <a:ext cx="2734866" cy="2302073"/>
          </a:xfrm>
          <a:prstGeom xmlns:a="http://schemas.openxmlformats.org/drawingml/2006/main" prst="roundRect">
            <a:avLst>
              <a:gd name="adj" fmla="val 4413"/>
            </a:avLst>
          </a:prstGeom>
          <a:solidFill xmlns:a="http://schemas.openxmlformats.org/drawingml/2006/main">
            <a:srgbClr val="EEF4F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33" name="Shape 31">
            <a:extLst xmlns:a="http://schemas.openxmlformats.org/drawingml/2006/main">
              <a:ext uri="{FF2B5EF4-FFF2-40B4-BE49-F238E27FC236}">
                <a16:creationId xmlns:a16="http://schemas.microsoft.com/office/drawing/2014/main" id="{4A0890A9-3CA3-4669-9412-12DC5C454FE0}"/>
              </a:ext>
            </a:extLst>
          </p:cNvPr>
          <p:cNvSpPr>
            <a:spLocks xmlns:a="http://schemas.openxmlformats.org/drawingml/2006/main" noGrp="1"/>
          </p:cNvSpPr>
          <p:nvPr/>
        </p:nvSpPr>
        <p:spPr>
          <a:xfrm xmlns:a="http://schemas.openxmlformats.org/drawingml/2006/main">
            <a:off x="3204567" y="2363688"/>
            <a:ext cx="2734866"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34" name="Shape 32">
            <a:extLst xmlns:a="http://schemas.openxmlformats.org/drawingml/2006/main">
              <a:ext uri="{FF2B5EF4-FFF2-40B4-BE49-F238E27FC236}">
                <a16:creationId xmlns:a16="http://schemas.microsoft.com/office/drawing/2014/main" id="{29DC5FBE-90E6-4B43-8A27-5BFEBD4DDA38}"/>
              </a:ext>
            </a:extLst>
          </p:cNvPr>
          <p:cNvSpPr>
            <a:spLocks xmlns:a="http://schemas.openxmlformats.org/drawingml/2006/main" noGrp="1"/>
          </p:cNvSpPr>
          <p:nvPr/>
        </p:nvSpPr>
        <p:spPr>
          <a:xfrm xmlns:a="http://schemas.openxmlformats.org/drawingml/2006/main">
            <a:off x="5934670" y="2358926"/>
            <a:ext cx="0" cy="2302073"/>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35" name="Shape 33">
            <a:extLst xmlns:a="http://schemas.openxmlformats.org/drawingml/2006/main">
              <a:ext uri="{FF2B5EF4-FFF2-40B4-BE49-F238E27FC236}">
                <a16:creationId xmlns:a16="http://schemas.microsoft.com/office/drawing/2014/main" id="{3642D85F-DEEF-4632-99E2-734DADCBF399}"/>
              </a:ext>
            </a:extLst>
          </p:cNvPr>
          <p:cNvSpPr>
            <a:spLocks xmlns:a="http://schemas.openxmlformats.org/drawingml/2006/main" noGrp="1"/>
          </p:cNvSpPr>
          <p:nvPr/>
        </p:nvSpPr>
        <p:spPr>
          <a:xfrm xmlns:a="http://schemas.openxmlformats.org/drawingml/2006/main">
            <a:off x="3204567" y="4656237"/>
            <a:ext cx="2734866"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36" name="Shape 34">
            <a:extLst xmlns:a="http://schemas.openxmlformats.org/drawingml/2006/main">
              <a:ext uri="{FF2B5EF4-FFF2-40B4-BE49-F238E27FC236}">
                <a16:creationId xmlns:a16="http://schemas.microsoft.com/office/drawing/2014/main" id="{E907A203-5375-457B-97D7-81DF136A731B}"/>
              </a:ext>
            </a:extLst>
          </p:cNvPr>
          <p:cNvSpPr>
            <a:spLocks xmlns:a="http://schemas.openxmlformats.org/drawingml/2006/main" noGrp="1"/>
          </p:cNvSpPr>
          <p:nvPr/>
        </p:nvSpPr>
        <p:spPr>
          <a:xfrm xmlns:a="http://schemas.openxmlformats.org/drawingml/2006/main">
            <a:off x="3233142" y="2358926"/>
            <a:ext cx="0" cy="2302073"/>
          </a:xfrm>
          <a:prstGeom xmlns:a="http://schemas.openxmlformats.org/drawingml/2006/main" prst="line">
            <a:avLst/>
          </a:prstGeom>
          <a:noFill xmlns:a="http://schemas.openxmlformats.org/drawingml/2006/main"/>
          <a:ln xmlns:a="http://schemas.openxmlformats.org/drawingml/2006/main" w="57150">
            <a:solidFill>
              <a:srgbClr val="234D78"/>
            </a:solidFill>
            <a:prstDash val="solid"/>
          </a:ln>
        </p:spPr>
      </p:sp>
      <p:sp>
        <p:nvSpPr>
          <p:cNvPr id="37" name="Text 35">
            <a:extLst xmlns:a="http://schemas.openxmlformats.org/drawingml/2006/main">
              <a:ext uri="{FF2B5EF4-FFF2-40B4-BE49-F238E27FC236}">
                <a16:creationId xmlns:a16="http://schemas.microsoft.com/office/drawing/2014/main" id="{D8046B42-29C4-4A4C-8125-28D7259FA4DE}"/>
              </a:ext>
            </a:extLst>
          </p:cNvPr>
          <p:cNvSpPr>
            <a:spLocks xmlns:a="http://schemas.openxmlformats.org/drawingml/2006/main" noGrp="1"/>
          </p:cNvSpPr>
          <p:nvPr/>
        </p:nvSpPr>
        <p:spPr>
          <a:xfrm xmlns:a="http://schemas.openxmlformats.org/drawingml/2006/main">
            <a:off x="3414117" y="2520851"/>
            <a:ext cx="2410658"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Ground-truth isolation</a:t>
            </a:r>
            <a:endParaRPr sz="1400"/>
          </a:p>
        </p:txBody>
      </p:sp>
      <p:sp>
        <p:nvSpPr>
          <p:cNvPr id="38" name="Text 36">
            <a:extLst xmlns:a="http://schemas.openxmlformats.org/drawingml/2006/main">
              <a:ext uri="{FF2B5EF4-FFF2-40B4-BE49-F238E27FC236}">
                <a16:creationId xmlns:a16="http://schemas.microsoft.com/office/drawing/2014/main" id="{5126205B-C514-4E2F-9524-3A17AAE12FEC}"/>
              </a:ext>
            </a:extLst>
          </p:cNvPr>
          <p:cNvSpPr>
            <a:spLocks xmlns:a="http://schemas.openxmlformats.org/drawingml/2006/main" noGrp="1"/>
          </p:cNvSpPr>
          <p:nvPr/>
        </p:nvSpPr>
        <p:spPr>
          <a:xfrm xmlns:a="http://schemas.openxmlformats.org/drawingml/2006/main">
            <a:off x="3414117" y="2788741"/>
            <a:ext cx="2410658" cy="383977"/>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513"/>
              </a:lnSpc>
              <a:buNone/>
              <a:defRPr sz="1220" b="0">
                <a:solidFill>
                  <a:srgbClr val="12263A"/>
                </a:solidFill>
                <a:latin typeface="Arial"/>
                <a:ea typeface="Arial"/>
                <a:cs typeface="Arial"/>
              </a:defRPr>
            </a:pPr>
            <a:r>
              <a:rPr sz="1220" b="0">
                <a:solidFill>
                  <a:srgbClr val="12263A"/>
                </a:solidFill>
                <a:latin typeface="Arial"/>
                <a:ea typeface="Arial"/>
                <a:cs typeface="Arial"/>
              </a:rPr>
              <a:t>GT enters the evaluator/oracle only. Estimated poses must reach the planner without a clean-state shortcut.</a:t>
            </a:r>
            <a:endParaRPr sz="1220"/>
          </a:p>
        </p:txBody>
      </p:sp>
      <p:sp>
        <p:nvSpPr>
          <p:cNvPr id="39" name="Text 37">
            <a:extLst xmlns:a="http://schemas.openxmlformats.org/drawingml/2006/main">
              <a:ext uri="{FF2B5EF4-FFF2-40B4-BE49-F238E27FC236}">
                <a16:creationId xmlns:a16="http://schemas.microsoft.com/office/drawing/2014/main" id="{A73A33B0-C42E-429D-9DC2-DF181A3F226A}"/>
              </a:ext>
            </a:extLst>
          </p:cNvPr>
          <p:cNvSpPr>
            <a:spLocks xmlns:a="http://schemas.openxmlformats.org/drawingml/2006/main" noGrp="1"/>
          </p:cNvSpPr>
          <p:nvPr/>
        </p:nvSpPr>
        <p:spPr>
          <a:xfrm xmlns:a="http://schemas.openxmlformats.org/drawingml/2006/main">
            <a:off x="6066383" y="2358926"/>
            <a:ext cx="2734717" cy="2302073"/>
          </a:xfrm>
          <a:prstGeom xmlns:a="http://schemas.openxmlformats.org/drawingml/2006/main" prst="roundRect">
            <a:avLst>
              <a:gd name="adj" fmla="val 4413"/>
            </a:avLst>
          </a:prstGeom>
          <a:solidFill xmlns:a="http://schemas.openxmlformats.org/drawingml/2006/main">
            <a:srgbClr val="EDFAF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40" name="Shape 38">
            <a:extLst xmlns:a="http://schemas.openxmlformats.org/drawingml/2006/main">
              <a:ext uri="{FF2B5EF4-FFF2-40B4-BE49-F238E27FC236}">
                <a16:creationId xmlns:a16="http://schemas.microsoft.com/office/drawing/2014/main" id="{AEF93905-C9BD-484E-A794-B9C2A3CBDF76}"/>
              </a:ext>
            </a:extLst>
          </p:cNvPr>
          <p:cNvSpPr>
            <a:spLocks xmlns:a="http://schemas.openxmlformats.org/drawingml/2006/main" noGrp="1"/>
          </p:cNvSpPr>
          <p:nvPr/>
        </p:nvSpPr>
        <p:spPr>
          <a:xfrm xmlns:a="http://schemas.openxmlformats.org/drawingml/2006/main">
            <a:off x="6066383" y="2363688"/>
            <a:ext cx="2734717"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41" name="Shape 39">
            <a:extLst xmlns:a="http://schemas.openxmlformats.org/drawingml/2006/main">
              <a:ext uri="{FF2B5EF4-FFF2-40B4-BE49-F238E27FC236}">
                <a16:creationId xmlns:a16="http://schemas.microsoft.com/office/drawing/2014/main" id="{DBB3608F-080F-4EF4-B9A2-B3CE9695F76A}"/>
              </a:ext>
            </a:extLst>
          </p:cNvPr>
          <p:cNvSpPr>
            <a:spLocks xmlns:a="http://schemas.openxmlformats.org/drawingml/2006/main" noGrp="1"/>
          </p:cNvSpPr>
          <p:nvPr/>
        </p:nvSpPr>
        <p:spPr>
          <a:xfrm xmlns:a="http://schemas.openxmlformats.org/drawingml/2006/main">
            <a:off x="8796338" y="2358926"/>
            <a:ext cx="0" cy="2302073"/>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42" name="Shape 40">
            <a:extLst xmlns:a="http://schemas.openxmlformats.org/drawingml/2006/main">
              <a:ext uri="{FF2B5EF4-FFF2-40B4-BE49-F238E27FC236}">
                <a16:creationId xmlns:a16="http://schemas.microsoft.com/office/drawing/2014/main" id="{0D3A60BA-87DE-4066-A68F-B0ECBB16BB5C}"/>
              </a:ext>
            </a:extLst>
          </p:cNvPr>
          <p:cNvSpPr>
            <a:spLocks xmlns:a="http://schemas.openxmlformats.org/drawingml/2006/main" noGrp="1"/>
          </p:cNvSpPr>
          <p:nvPr/>
        </p:nvSpPr>
        <p:spPr>
          <a:xfrm xmlns:a="http://schemas.openxmlformats.org/drawingml/2006/main">
            <a:off x="6066383" y="4656237"/>
            <a:ext cx="2734717"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43" name="Shape 41">
            <a:extLst xmlns:a="http://schemas.openxmlformats.org/drawingml/2006/main">
              <a:ext uri="{FF2B5EF4-FFF2-40B4-BE49-F238E27FC236}">
                <a16:creationId xmlns:a16="http://schemas.microsoft.com/office/drawing/2014/main" id="{4248BD88-1FDD-49EF-B30A-F8C7FA75CFE8}"/>
              </a:ext>
            </a:extLst>
          </p:cNvPr>
          <p:cNvSpPr>
            <a:spLocks xmlns:a="http://schemas.openxmlformats.org/drawingml/2006/main" noGrp="1"/>
          </p:cNvSpPr>
          <p:nvPr/>
        </p:nvSpPr>
        <p:spPr>
          <a:xfrm xmlns:a="http://schemas.openxmlformats.org/drawingml/2006/main">
            <a:off x="6094958" y="2358926"/>
            <a:ext cx="0" cy="2302073"/>
          </a:xfrm>
          <a:prstGeom xmlns:a="http://schemas.openxmlformats.org/drawingml/2006/main" prst="line">
            <a:avLst/>
          </a:prstGeom>
          <a:noFill xmlns:a="http://schemas.openxmlformats.org/drawingml/2006/main"/>
          <a:ln xmlns:a="http://schemas.openxmlformats.org/drawingml/2006/main" w="57150">
            <a:solidFill>
              <a:srgbClr val="1D9E91"/>
            </a:solidFill>
            <a:prstDash val="solid"/>
          </a:ln>
        </p:spPr>
      </p:sp>
      <p:sp>
        <p:nvSpPr>
          <p:cNvPr id="44" name="Text 42">
            <a:extLst xmlns:a="http://schemas.openxmlformats.org/drawingml/2006/main">
              <a:ext uri="{FF2B5EF4-FFF2-40B4-BE49-F238E27FC236}">
                <a16:creationId xmlns:a16="http://schemas.microsoft.com/office/drawing/2014/main" id="{F8E374B7-65F9-4463-86C0-D68385CDEBBF}"/>
              </a:ext>
            </a:extLst>
          </p:cNvPr>
          <p:cNvSpPr>
            <a:spLocks xmlns:a="http://schemas.openxmlformats.org/drawingml/2006/main" noGrp="1"/>
          </p:cNvSpPr>
          <p:nvPr/>
        </p:nvSpPr>
        <p:spPr>
          <a:xfrm xmlns:a="http://schemas.openxmlformats.org/drawingml/2006/main">
            <a:off x="6275933" y="2520851"/>
            <a:ext cx="2410507"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Training export</a:t>
            </a:r>
            <a:endParaRPr sz="1400"/>
          </a:p>
        </p:txBody>
      </p:sp>
      <p:sp>
        <p:nvSpPr>
          <p:cNvPr id="45" name="Text 43">
            <a:extLst xmlns:a="http://schemas.openxmlformats.org/drawingml/2006/main">
              <a:ext uri="{FF2B5EF4-FFF2-40B4-BE49-F238E27FC236}">
                <a16:creationId xmlns:a16="http://schemas.microsoft.com/office/drawing/2014/main" id="{961C4158-28D2-4DFA-BAFF-B2C68FC9E119}"/>
              </a:ext>
            </a:extLst>
          </p:cNvPr>
          <p:cNvSpPr>
            <a:spLocks xmlns:a="http://schemas.openxmlformats.org/drawingml/2006/main" noGrp="1"/>
          </p:cNvSpPr>
          <p:nvPr/>
        </p:nvSpPr>
        <p:spPr>
          <a:xfrm xmlns:a="http://schemas.openxmlformats.org/drawingml/2006/main">
            <a:off x="6275933" y="2788741"/>
            <a:ext cx="2410507" cy="383977"/>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513"/>
              </a:lnSpc>
              <a:buNone/>
              <a:defRPr sz="1220" b="0">
                <a:solidFill>
                  <a:srgbClr val="12263A"/>
                </a:solidFill>
                <a:latin typeface="Arial"/>
                <a:ea typeface="Arial"/>
                <a:cs typeface="Arial"/>
              </a:defRPr>
            </a:pPr>
            <a:r>
              <a:rPr sz="1220" b="0">
                <a:solidFill>
                  <a:srgbClr val="12263A"/>
                </a:solidFill>
                <a:latin typeface="Arial"/>
                <a:ea typeface="Arial"/>
                <a:cs typeface="Arial"/>
              </a:rPr>
              <a:t>LeRobot/HDF5 requires an adapter and loader roundtrip. Physics JSON alone is not an ACT/Diffusion dataset.</a:t>
            </a:r>
            <a:endParaRPr sz="1220"/>
          </a:p>
        </p:txBody>
      </p:sp>
      <p:sp>
        <p:nvSpPr>
          <p:cNvPr id="46" name="Text 44">
            <a:extLst xmlns:a="http://schemas.openxmlformats.org/drawingml/2006/main">
              <a:ext uri="{FF2B5EF4-FFF2-40B4-BE49-F238E27FC236}">
                <a16:creationId xmlns:a16="http://schemas.microsoft.com/office/drawing/2014/main" id="{DB0E56AF-3828-4D0B-9184-81C8D1E0CFFA}"/>
              </a:ext>
            </a:extLst>
          </p:cNvPr>
          <p:cNvSpPr>
            <a:spLocks xmlns:a="http://schemas.openxmlformats.org/drawingml/2006/main" noGrp="1"/>
          </p:cNvSpPr>
          <p:nvPr/>
        </p:nvSpPr>
        <p:spPr>
          <a:xfrm xmlns:a="http://schemas.openxmlformats.org/drawingml/2006/main">
            <a:off x="8339328" y="4965192"/>
            <a:ext cx="502920"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60">
                <a:solidFill>
                  <a:srgbClr val="7A8794"/>
                </a:solidFill>
                <a:latin typeface="Arial"/>
                <a:ea typeface="Arial"/>
                <a:cs typeface="Arial"/>
              </a:rPr>
              <a:t>19 / 31</a:t>
            </a:r>
            <a:endParaRPr sz="660"/>
          </a:p>
        </p:txBody>
      </p:sp>
      <p:sp>
        <p:nvSpPr>
          <p:cNvPr id="47" name="Sources footer">
            <a:extLst xmlns:a="http://schemas.openxmlformats.org/drawingml/2006/main">
              <a:ext uri="{FF2B5EF4-FFF2-40B4-BE49-F238E27FC236}">
                <a16:creationId xmlns:a16="http://schemas.microsoft.com/office/drawing/2014/main" id="{DB83BBB3-7060-46A5-847F-B11E84BD8D21}"/>
              </a:ext>
            </a:extLst>
          </p:cNvPr>
          <p:cNvSpPr>
            <a:spLocks xmlns:a="http://schemas.openxmlformats.org/drawingml/2006/main" noGrp="1"/>
          </p:cNvSpPr>
          <p:nvPr/>
        </p:nvSpPr>
        <p:spPr>
          <a:xfrm xmlns:a="http://schemas.openxmlformats.org/drawingml/2006/main">
            <a:off x="438150" y="4924425"/>
            <a:ext cx="72961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40" b="0">
                <a:solidFill>
                  <a:srgbClr val="234D78"/>
                </a:solidFill>
                <a:latin typeface="Arial"/>
                <a:ea typeface="Arial"/>
                <a:cs typeface="Arial"/>
              </a:defRPr>
            </a:pPr>
            <a:r>
              <a:rPr sz="640" b="0">
                <a:solidFill>
                  <a:srgbClr val="234D78"/>
                </a:solidFill>
                <a:latin typeface="Arial"/>
                <a:ea typeface="Arial"/>
                <a:cs typeface="Arial"/>
                <a:hlinkClick xmlns:r="http://schemas.openxmlformats.org/officeDocument/2006/relationships" r:id="R38a11817a85f4603"/>
              </a:rPr>
              <a:t>Reader guide and sources</a:t>
            </a:r>
          </a:p>
        </p:txBody>
      </p:sp>
    </p:spTree>
    <p:extLst>
      <p:ext uri="{BB962C8B-B14F-4D97-AF65-F5344CB8AC3E}">
        <p14:creationId xmlns:p14="http://schemas.microsoft.com/office/powerpoint/2010/main" val="180145299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8799549-489A-48F5-BEB8-E13B91B87669}"/>
              </a:ext>
            </a:extLst>
          </p:cNvPr>
          <p:cNvSpPr>
            <a:spLocks xmlns:a="http://schemas.openxmlformats.org/drawingml/2006/main" noGrp="1"/>
          </p:cNvSpPr>
          <p:nvPr/>
        </p:nvSpPr>
        <p:spPr>
          <a:xfrm xmlns:a="http://schemas.openxmlformats.org/drawingml/2006/main">
            <a:off x="0" y="0"/>
            <a:ext cx="9144000" cy="609600"/>
          </a:xfrm>
          <a:prstGeom xmlns:a="http://schemas.openxmlformats.org/drawingml/2006/main" prst="rect">
            <a:avLst/>
          </a:prstGeom>
          <a:solidFill xmlns:a="http://schemas.openxmlformats.org/drawingml/2006/main">
            <a:srgbClr val="234D7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3" name="Text 1">
            <a:extLst xmlns:a="http://schemas.openxmlformats.org/drawingml/2006/main">
              <a:ext uri="{FF2B5EF4-FFF2-40B4-BE49-F238E27FC236}">
                <a16:creationId xmlns:a16="http://schemas.microsoft.com/office/drawing/2014/main" id="{3E9FEFAE-CC68-4F66-A2AD-6FEF93CDC92F}"/>
              </a:ext>
            </a:extLst>
          </p:cNvPr>
          <p:cNvSpPr>
            <a:spLocks xmlns:a="http://schemas.openxmlformats.org/drawingml/2006/main" noGrp="1"/>
          </p:cNvSpPr>
          <p:nvPr/>
        </p:nvSpPr>
        <p:spPr>
          <a:xfrm xmlns:a="http://schemas.openxmlformats.org/drawingml/2006/main">
            <a:off x="330136" y="164116"/>
            <a:ext cx="6619875" cy="3238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2415"/>
              </a:lnSpc>
              <a:buNone/>
              <a:defRPr sz="2300" b="1">
                <a:solidFill>
                  <a:srgbClr val="FFFFFF"/>
                </a:solidFill>
                <a:latin typeface="Arial"/>
                <a:ea typeface="Arial"/>
                <a:cs typeface="Arial"/>
              </a:defRPr>
            </a:pPr>
            <a:r>
              <a:rPr sz="2300" b="1">
                <a:solidFill>
                  <a:srgbClr val="FFFFFF"/>
                </a:solidFill>
                <a:latin typeface="Arial"/>
                <a:ea typeface="Arial"/>
                <a:cs typeface="Arial"/>
              </a:rPr>
              <a:t>Clean-state physics: held-out results</a:t>
            </a:r>
            <a:endParaRPr sz="2300"/>
          </a:p>
        </p:txBody>
      </p:sp>
      <p:sp>
        <p:nvSpPr>
          <p:cNvPr id="4" name="Text 2">
            <a:extLst xmlns:a="http://schemas.openxmlformats.org/drawingml/2006/main">
              <a:ext uri="{FF2B5EF4-FFF2-40B4-BE49-F238E27FC236}">
                <a16:creationId xmlns:a16="http://schemas.microsoft.com/office/drawing/2014/main" id="{9B98634F-3BAB-4036-950F-ACED3DE83121}"/>
              </a:ext>
            </a:extLst>
          </p:cNvPr>
          <p:cNvSpPr>
            <a:spLocks xmlns:a="http://schemas.openxmlformats.org/drawingml/2006/main" noGrp="1"/>
          </p:cNvSpPr>
          <p:nvPr/>
        </p:nvSpPr>
        <p:spPr>
          <a:xfrm xmlns:a="http://schemas.openxmlformats.org/drawingml/2006/main">
            <a:off x="7372350" y="190500"/>
            <a:ext cx="14478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r">
              <a:lnSpc>
                <a:spcPts val="1054"/>
              </a:lnSpc>
              <a:buNone/>
              <a:defRPr sz="788" b="1">
                <a:solidFill>
                  <a:srgbClr val="FFFFFF"/>
                </a:solidFill>
                <a:latin typeface="Arial"/>
                <a:ea typeface="Arial"/>
                <a:cs typeface="Arial"/>
              </a:defRPr>
            </a:pPr>
            <a:r>
              <a:rPr sz="788" b="1">
                <a:solidFill>
                  <a:srgbClr val="FFFFFF"/>
                </a:solidFill>
                <a:latin typeface="Arial"/>
                <a:ea typeface="Arial"/>
                <a:cs typeface="Arial"/>
              </a:rPr>
              <a:t>CS CAPSTONE REFERENCE</a:t>
            </a:r>
            <a:endParaRPr sz="850"/>
          </a:p>
        </p:txBody>
      </p:sp>
      <p:sp>
        <p:nvSpPr>
          <p:cNvPr id="5" name="Text 3">
            <a:extLst xmlns:a="http://schemas.openxmlformats.org/drawingml/2006/main">
              <a:ext uri="{FF2B5EF4-FFF2-40B4-BE49-F238E27FC236}">
                <a16:creationId xmlns:a16="http://schemas.microsoft.com/office/drawing/2014/main" id="{8A5A528D-076F-4E36-AA6B-F2264837AFE9}"/>
              </a:ext>
            </a:extLst>
          </p:cNvPr>
          <p:cNvSpPr>
            <a:spLocks xmlns:a="http://schemas.openxmlformats.org/drawingml/2006/main" noGrp="1"/>
          </p:cNvSpPr>
          <p:nvPr/>
        </p:nvSpPr>
        <p:spPr>
          <a:xfrm xmlns:a="http://schemas.openxmlformats.org/drawingml/2006/main">
            <a:off x="330101" y="609600"/>
            <a:ext cx="787301" cy="38100"/>
          </a:xfrm>
          <a:prstGeom xmlns:a="http://schemas.openxmlformats.org/drawingml/2006/main" prst="rect">
            <a:avLst/>
          </a:prstGeom>
          <a:solidFill xmlns:a="http://schemas.openxmlformats.org/drawingml/2006/main">
            <a:srgbClr val="D63B4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23" name="Text 21">
            <a:extLst xmlns:a="http://schemas.openxmlformats.org/drawingml/2006/main">
              <a:ext uri="{FF2B5EF4-FFF2-40B4-BE49-F238E27FC236}">
                <a16:creationId xmlns:a16="http://schemas.microsoft.com/office/drawing/2014/main" id="{ADCBED52-65F4-4343-91EF-D0C0991203DA}"/>
              </a:ext>
            </a:extLst>
          </p:cNvPr>
          <p:cNvSpPr>
            <a:spLocks xmlns:a="http://schemas.openxmlformats.org/drawingml/2006/main" noGrp="1"/>
          </p:cNvSpPr>
          <p:nvPr/>
        </p:nvSpPr>
        <p:spPr>
          <a:xfrm xmlns:a="http://schemas.openxmlformats.org/drawingml/2006/main">
            <a:off x="8339328" y="4965192"/>
            <a:ext cx="502920"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60">
                <a:solidFill>
                  <a:srgbClr val="7A8794"/>
                </a:solidFill>
                <a:latin typeface="Arial"/>
                <a:ea typeface="Arial"/>
                <a:cs typeface="Arial"/>
              </a:rPr>
              <a:t>20 / 31</a:t>
            </a:r>
            <a:endParaRPr sz="660"/>
          </a:p>
        </p:txBody>
      </p:sp>
      <p:graphicFrame>
        <p:nvGraphicFramePr>
          <p:cNvPr id="32" name=""/>
          <p:cNvGraphicFramePr/>
          <p:nvPr/>
        </p:nvGraphicFramePr>
        <p:xfrm>
          <a:off xmlns:a="http://schemas.openxmlformats.org/drawingml/2006/main" x="342900" y="1085850"/>
          <a:ext xmlns:a="http://schemas.openxmlformats.org/drawingml/2006/main" cx="8458200" cy="2571750"/>
        </p:xfrm>
        <a:graphic xmlns:a="http://schemas.openxmlformats.org/drawingml/2006/main">
          <a:graphicData uri="http://schemas.openxmlformats.org/drawingml/2006/table">
            <a:tbl>
              <a:tblPr firstRow="1" bandRow="0"/>
              <a:tblGrid>
                <a:gridCol w="2714625"/>
                <a:gridCol w="1143000"/>
                <a:gridCol w="2028825"/>
                <a:gridCol w="2571750"/>
              </a:tblGrid>
              <a:tr h="514350">
                <a:tc>
                  <a:txBody>
                    <a:bodyPr wrap="square">
                      <a:noAutofit/>
                    </a:bodyPr>
                    <a:lstStyle/>
                    <a:p>
                      <a:r>
                        <a:rPr sz="1125" b="1">
                          <a:solidFill>
                            <a:srgbClr val="FFFFFF"/>
                          </a:solidFill>
                          <a:latin typeface="Arial"/>
                          <a:ea typeface="Arial"/>
                          <a:cs typeface="Arial"/>
                        </a:rPr>
                        <a:t>Method</a:t>
                      </a:r>
                    </a:p>
                  </a:txBody>
                  <a:tcPr marL="91440" marR="91440" marT="45720" marB="45720" anchor="ctr">
                    <a:solidFill>
                      <a:srgbClr val="234D78"/>
                    </a:solidFill>
                  </a:tcPr>
                </a:tc>
                <a:tc>
                  <a:txBody>
                    <a:bodyPr wrap="square">
                      <a:noAutofit/>
                    </a:bodyPr>
                    <a:lstStyle/>
                    <a:p>
                      <a:r>
                        <a:rPr sz="1125" b="1">
                          <a:solidFill>
                            <a:srgbClr val="FFFFFF"/>
                          </a:solidFill>
                          <a:latin typeface="Arial"/>
                          <a:ea typeface="Arial"/>
                          <a:cs typeface="Arial"/>
                        </a:rPr>
                        <a:t>Success / N</a:t>
                      </a:r>
                    </a:p>
                  </a:txBody>
                  <a:tcPr marL="91440" marR="91440" marT="45720" marB="45720" anchor="ctr">
                    <a:solidFill>
                      <a:srgbClr val="234D78"/>
                    </a:solidFill>
                  </a:tcPr>
                </a:tc>
                <a:tc>
                  <a:txBody>
                    <a:bodyPr wrap="square">
                      <a:noAutofit/>
                    </a:bodyPr>
                    <a:lstStyle/>
                    <a:p>
                      <a:r>
                        <a:rPr sz="1125" b="1">
                          <a:solidFill>
                            <a:srgbClr val="FFFFFF"/>
                          </a:solidFill>
                          <a:latin typeface="Arial"/>
                          <a:ea typeface="Arial"/>
                          <a:cs typeface="Arial"/>
                        </a:rPr>
                        <a:t>Wilson 95% CI</a:t>
                      </a:r>
                    </a:p>
                  </a:txBody>
                  <a:tcPr marL="91440" marR="91440" marT="45720" marB="45720" anchor="ctr">
                    <a:solidFill>
                      <a:srgbClr val="234D78"/>
                    </a:solidFill>
                  </a:tcPr>
                </a:tc>
                <a:tc>
                  <a:txBody>
                    <a:bodyPr wrap="square">
                      <a:noAutofit/>
                    </a:bodyPr>
                    <a:lstStyle/>
                    <a:p>
                      <a:r>
                        <a:rPr sz="1125" b="1">
                          <a:solidFill>
                            <a:srgbClr val="FFFFFF"/>
                          </a:solidFill>
                          <a:latin typeface="Arial"/>
                          <a:ea typeface="Arial"/>
                          <a:cs typeface="Arial"/>
                        </a:rPr>
                        <a:t>Failures</a:t>
                      </a:r>
                    </a:p>
                  </a:txBody>
                  <a:tcPr marL="91440" marR="91440" marT="45720" marB="45720" anchor="ctr">
                    <a:solidFill>
                      <a:srgbClr val="234D78"/>
                    </a:solidFill>
                  </a:tcPr>
                </a:tc>
              </a:tr>
              <a:tr h="514350">
                <a:tc>
                  <a:txBody>
                    <a:bodyPr wrap="square">
                      <a:noAutofit/>
                    </a:bodyPr>
                    <a:lstStyle/>
                    <a:p>
                      <a:r>
                        <a:rPr sz="1140" b="1">
                          <a:solidFill>
                            <a:srgbClr val="12263A"/>
                          </a:solidFill>
                          <a:latin typeface="Arial"/>
                          <a:ea typeface="Arial"/>
                          <a:cs typeface="Arial"/>
                        </a:rPr>
                        <a:t>World-frame</a:t>
                      </a:r>
                    </a:p>
                  </a:txBody>
                  <a:tcPr marL="91440" marR="91440" marT="45720" marB="45720" anchor="ctr">
                    <a:solidFill>
                      <a:srgbClr val="FFFFFF"/>
                    </a:solidFill>
                  </a:tcPr>
                </a:tc>
                <a:tc>
                  <a:txBody>
                    <a:bodyPr wrap="square">
                      <a:noAutofit/>
                    </a:bodyPr>
                    <a:lstStyle/>
                    <a:p>
                      <a:r>
                        <a:rPr sz="1140" b="0">
                          <a:solidFill>
                            <a:srgbClr val="12263A"/>
                          </a:solidFill>
                          <a:latin typeface="Arial"/>
                          <a:ea typeface="Arial"/>
                          <a:cs typeface="Arial"/>
                        </a:rPr>
                        <a:t>0 / 100</a:t>
                      </a:r>
                    </a:p>
                  </a:txBody>
                  <a:tcPr marL="91440" marR="91440" marT="45720" marB="45720" anchor="ctr">
                    <a:solidFill>
                      <a:srgbClr val="FFFFFF"/>
                    </a:solidFill>
                  </a:tcPr>
                </a:tc>
                <a:tc>
                  <a:txBody>
                    <a:bodyPr wrap="square">
                      <a:noAutofit/>
                    </a:bodyPr>
                    <a:lstStyle/>
                    <a:p>
                      <a:r>
                        <a:rPr sz="1140" b="0">
                          <a:solidFill>
                            <a:srgbClr val="12263A"/>
                          </a:solidFill>
                          <a:latin typeface="Arial"/>
                          <a:ea typeface="Arial"/>
                          <a:cs typeface="Arial"/>
                        </a:rPr>
                        <a:t>0.00–3.70%</a:t>
                      </a:r>
                    </a:p>
                  </a:txBody>
                  <a:tcPr marL="91440" marR="91440" marT="45720" marB="45720" anchor="ctr">
                    <a:solidFill>
                      <a:srgbClr val="FFFFFF"/>
                    </a:solidFill>
                  </a:tcPr>
                </a:tc>
                <a:tc>
                  <a:txBody>
                    <a:bodyPr wrap="square">
                      <a:noAutofit/>
                    </a:bodyPr>
                    <a:lstStyle/>
                    <a:p>
                      <a:r>
                        <a:rPr sz="1140" b="0">
                          <a:solidFill>
                            <a:srgbClr val="12263A"/>
                          </a:solidFill>
                          <a:latin typeface="Arial"/>
                          <a:ea typeface="Arial"/>
                          <a:cs typeface="Arial"/>
                        </a:rPr>
                        <a:t>94 grasp, 2 drop, 4 place</a:t>
                      </a:r>
                    </a:p>
                  </a:txBody>
                  <a:tcPr marL="91440" marR="91440" marT="45720" marB="45720" anchor="ctr">
                    <a:solidFill>
                      <a:srgbClr val="FFFFFF"/>
                    </a:solidFill>
                  </a:tcPr>
                </a:tc>
              </a:tr>
              <a:tr h="514350">
                <a:tc>
                  <a:txBody>
                    <a:bodyPr wrap="square">
                      <a:noAutofit/>
                    </a:bodyPr>
                    <a:lstStyle/>
                    <a:p>
                      <a:r>
                        <a:rPr sz="1140" b="1">
                          <a:solidFill>
                            <a:srgbClr val="12263A"/>
                          </a:solidFill>
                          <a:latin typeface="Arial"/>
                          <a:ea typeface="Arial"/>
                          <a:cs typeface="Arial"/>
                        </a:rPr>
                        <a:t>Object-relative</a:t>
                      </a:r>
                    </a:p>
                  </a:txBody>
                  <a:tcPr marL="91440" marR="91440" marT="45720" marB="45720" anchor="ctr">
                    <a:solidFill>
                      <a:srgbClr val="F7F9FC"/>
                    </a:solidFill>
                  </a:tcPr>
                </a:tc>
                <a:tc>
                  <a:txBody>
                    <a:bodyPr wrap="square">
                      <a:noAutofit/>
                    </a:bodyPr>
                    <a:lstStyle/>
                    <a:p>
                      <a:r>
                        <a:rPr sz="1140" b="0">
                          <a:solidFill>
                            <a:srgbClr val="12263A"/>
                          </a:solidFill>
                          <a:latin typeface="Arial"/>
                          <a:ea typeface="Arial"/>
                          <a:cs typeface="Arial"/>
                        </a:rPr>
                        <a:t>89 / 100</a:t>
                      </a:r>
                    </a:p>
                  </a:txBody>
                  <a:tcPr marL="91440" marR="91440" marT="45720" marB="45720" anchor="ctr">
                    <a:solidFill>
                      <a:srgbClr val="F7F9FC"/>
                    </a:solidFill>
                  </a:tcPr>
                </a:tc>
                <a:tc>
                  <a:txBody>
                    <a:bodyPr wrap="square">
                      <a:noAutofit/>
                    </a:bodyPr>
                    <a:lstStyle/>
                    <a:p>
                      <a:r>
                        <a:rPr sz="1140" b="0">
                          <a:solidFill>
                            <a:srgbClr val="12263A"/>
                          </a:solidFill>
                          <a:latin typeface="Arial"/>
                          <a:ea typeface="Arial"/>
                          <a:cs typeface="Arial"/>
                        </a:rPr>
                        <a:t>81.37–93.75%</a:t>
                      </a:r>
                    </a:p>
                  </a:txBody>
                  <a:tcPr marL="91440" marR="91440" marT="45720" marB="45720" anchor="ctr">
                    <a:solidFill>
                      <a:srgbClr val="F7F9FC"/>
                    </a:solidFill>
                  </a:tcPr>
                </a:tc>
                <a:tc>
                  <a:txBody>
                    <a:bodyPr wrap="square">
                      <a:noAutofit/>
                    </a:bodyPr>
                    <a:lstStyle/>
                    <a:p>
                      <a:r>
                        <a:rPr sz="1140" b="0">
                          <a:solidFill>
                            <a:srgbClr val="12263A"/>
                          </a:solidFill>
                          <a:latin typeface="Arial"/>
                          <a:ea typeface="Arial"/>
                          <a:cs typeface="Arial"/>
                        </a:rPr>
                        <a:t>11 IK failures</a:t>
                      </a:r>
                    </a:p>
                  </a:txBody>
                  <a:tcPr marL="91440" marR="91440" marT="45720" marB="45720" anchor="ctr">
                    <a:solidFill>
                      <a:srgbClr val="F7F9FC"/>
                    </a:solidFill>
                  </a:tcPr>
                </a:tc>
              </a:tr>
              <a:tr h="514350">
                <a:tc>
                  <a:txBody>
                    <a:bodyPr wrap="square">
                      <a:noAutofit/>
                    </a:bodyPr>
                    <a:lstStyle/>
                    <a:p>
                      <a:r>
                        <a:rPr sz="1140" b="1">
                          <a:solidFill>
                            <a:srgbClr val="12263A"/>
                          </a:solidFill>
                          <a:latin typeface="Arial"/>
                          <a:ea typeface="Arial"/>
                          <a:cs typeface="Arial"/>
                        </a:rPr>
                        <a:t>Object-relative trimmed</a:t>
                      </a:r>
                    </a:p>
                  </a:txBody>
                  <a:tcPr marL="91440" marR="91440" marT="45720" marB="45720" anchor="ctr">
                    <a:solidFill>
                      <a:srgbClr val="FFFFFF"/>
                    </a:solidFill>
                  </a:tcPr>
                </a:tc>
                <a:tc>
                  <a:txBody>
                    <a:bodyPr wrap="square">
                      <a:noAutofit/>
                    </a:bodyPr>
                    <a:lstStyle/>
                    <a:p>
                      <a:r>
                        <a:rPr sz="1140" b="0">
                          <a:solidFill>
                            <a:srgbClr val="12263A"/>
                          </a:solidFill>
                          <a:latin typeface="Arial"/>
                          <a:ea typeface="Arial"/>
                          <a:cs typeface="Arial"/>
                        </a:rPr>
                        <a:t>100 / 100</a:t>
                      </a:r>
                    </a:p>
                  </a:txBody>
                  <a:tcPr marL="91440" marR="91440" marT="45720" marB="45720" anchor="ctr">
                    <a:solidFill>
                      <a:srgbClr val="FFFFFF"/>
                    </a:solidFill>
                  </a:tcPr>
                </a:tc>
                <a:tc>
                  <a:txBody>
                    <a:bodyPr wrap="square">
                      <a:noAutofit/>
                    </a:bodyPr>
                    <a:lstStyle/>
                    <a:p>
                      <a:r>
                        <a:rPr sz="1140" b="0">
                          <a:solidFill>
                            <a:srgbClr val="12263A"/>
                          </a:solidFill>
                          <a:latin typeface="Arial"/>
                          <a:ea typeface="Arial"/>
                          <a:cs typeface="Arial"/>
                        </a:rPr>
                        <a:t>96.30–100.00%</a:t>
                      </a:r>
                    </a:p>
                  </a:txBody>
                  <a:tcPr marL="91440" marR="91440" marT="45720" marB="45720" anchor="ctr">
                    <a:solidFill>
                      <a:srgbClr val="FFFFFF"/>
                    </a:solidFill>
                  </a:tcPr>
                </a:tc>
                <a:tc>
                  <a:txBody>
                    <a:bodyPr wrap="square">
                      <a:noAutofit/>
                    </a:bodyPr>
                    <a:lstStyle/>
                    <a:p>
                      <a:r>
                        <a:rPr sz="1140" b="0">
                          <a:solidFill>
                            <a:srgbClr val="12263A"/>
                          </a:solidFill>
                          <a:latin typeface="Arial"/>
                          <a:ea typeface="Arial"/>
                          <a:cs typeface="Arial"/>
                        </a:rPr>
                        <a:t>None in this sample</a:t>
                      </a:r>
                    </a:p>
                  </a:txBody>
                  <a:tcPr marL="91440" marR="91440" marT="45720" marB="45720" anchor="ctr">
                    <a:solidFill>
                      <a:srgbClr val="FFFFFF"/>
                    </a:solidFill>
                  </a:tcPr>
                </a:tc>
              </a:tr>
              <a:tr h="514350">
                <a:tc>
                  <a:txBody>
                    <a:bodyPr wrap="square">
                      <a:noAutofit/>
                    </a:bodyPr>
                    <a:lstStyle/>
                    <a:p>
                      <a:r>
                        <a:rPr sz="1140" b="1">
                          <a:solidFill>
                            <a:srgbClr val="12263A"/>
                          </a:solidFill>
                          <a:latin typeface="Arial"/>
                          <a:ea typeface="Arial"/>
                          <a:cs typeface="Arial"/>
                        </a:rPr>
                        <a:t>Target scripted reference</a:t>
                      </a:r>
                    </a:p>
                  </a:txBody>
                  <a:tcPr marL="91440" marR="91440" marT="45720" marB="45720" anchor="ctr">
                    <a:solidFill>
                      <a:srgbClr val="F7F9FC"/>
                    </a:solidFill>
                  </a:tcPr>
                </a:tc>
                <a:tc>
                  <a:txBody>
                    <a:bodyPr wrap="square">
                      <a:noAutofit/>
                    </a:bodyPr>
                    <a:lstStyle/>
                    <a:p>
                      <a:r>
                        <a:rPr sz="1140" b="0">
                          <a:solidFill>
                            <a:srgbClr val="12263A"/>
                          </a:solidFill>
                          <a:latin typeface="Arial"/>
                          <a:ea typeface="Arial"/>
                          <a:cs typeface="Arial"/>
                        </a:rPr>
                        <a:t>100 / 100</a:t>
                      </a:r>
                    </a:p>
                  </a:txBody>
                  <a:tcPr marL="91440" marR="91440" marT="45720" marB="45720" anchor="ctr">
                    <a:solidFill>
                      <a:srgbClr val="F7F9FC"/>
                    </a:solidFill>
                  </a:tcPr>
                </a:tc>
                <a:tc>
                  <a:txBody>
                    <a:bodyPr wrap="square">
                      <a:noAutofit/>
                    </a:bodyPr>
                    <a:lstStyle/>
                    <a:p>
                      <a:r>
                        <a:rPr sz="1140" b="0">
                          <a:solidFill>
                            <a:srgbClr val="12263A"/>
                          </a:solidFill>
                          <a:latin typeface="Arial"/>
                          <a:ea typeface="Arial"/>
                          <a:cs typeface="Arial"/>
                        </a:rPr>
                        <a:t>96.30–100.00%</a:t>
                      </a:r>
                    </a:p>
                  </a:txBody>
                  <a:tcPr marL="91440" marR="91440" marT="45720" marB="45720" anchor="ctr">
                    <a:solidFill>
                      <a:srgbClr val="F7F9FC"/>
                    </a:solidFill>
                  </a:tcPr>
                </a:tc>
                <a:tc>
                  <a:txBody>
                    <a:bodyPr wrap="square">
                      <a:noAutofit/>
                    </a:bodyPr>
                    <a:lstStyle/>
                    <a:p>
                      <a:r>
                        <a:rPr sz="1140" b="0">
                          <a:solidFill>
                            <a:srgbClr val="12263A"/>
                          </a:solidFill>
                          <a:latin typeface="Arial"/>
                          <a:ea typeface="Arial"/>
                          <a:cs typeface="Arial"/>
                        </a:rPr>
                        <a:t>None in this sample</a:t>
                      </a:r>
                    </a:p>
                  </a:txBody>
                  <a:tcPr marL="91440" marR="91440" marT="45720" marB="45720" anchor="ctr">
                    <a:solidFill>
                      <a:srgbClr val="F7F9FC"/>
                    </a:solidFill>
                  </a:tcPr>
                </a:tc>
              </a:tr>
            </a:tbl>
          </a:graphicData>
        </a:graphic>
      </p:graphicFrame>
      <p:sp>
        <p:nvSpPr>
          <p:cNvPr id="25" name="Table caveat">
            <a:extLst xmlns:a="http://schemas.openxmlformats.org/drawingml/2006/main">
              <a:ext uri="{FF2B5EF4-FFF2-40B4-BE49-F238E27FC236}">
                <a16:creationId xmlns:a16="http://schemas.microsoft.com/office/drawing/2014/main" id="{C856D5B2-186C-463D-B579-91D914BB4B28}"/>
              </a:ext>
            </a:extLst>
          </p:cNvPr>
          <p:cNvSpPr>
            <a:spLocks xmlns:a="http://schemas.openxmlformats.org/drawingml/2006/main" noGrp="1"/>
          </p:cNvSpPr>
          <p:nvPr/>
        </p:nvSpPr>
        <p:spPr>
          <a:xfrm xmlns:a="http://schemas.openxmlformats.org/drawingml/2006/main">
            <a:off x="400050" y="3829050"/>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12263A"/>
                </a:solidFill>
                <a:latin typeface="Arial"/>
                <a:ea typeface="Arial"/>
                <a:cs typeface="Arial"/>
              </a:defRPr>
            </a:pPr>
            <a:r>
              <a:rPr sz="1140" b="1">
                <a:solidFill>
                  <a:srgbClr val="12263A"/>
                </a:solidFill>
                <a:latin typeface="Arial"/>
                <a:ea typeface="Arial"/>
                <a:cs typeface="Arial"/>
              </a:rPr>
              <a:t>One cube, one source demonstration, 100 target layouts at seed 7. Clean state without video or correction.</a:t>
            </a:r>
          </a:p>
        </p:txBody>
      </p:sp>
      <p:sp>
        <p:nvSpPr>
          <p:cNvPr id="26" name="Sources footer">
            <a:extLst xmlns:a="http://schemas.openxmlformats.org/drawingml/2006/main">
              <a:ext uri="{FF2B5EF4-FFF2-40B4-BE49-F238E27FC236}">
                <a16:creationId xmlns:a16="http://schemas.microsoft.com/office/drawing/2014/main" id="{ED64CEDD-1385-4B23-8A2D-F75DF362E070}"/>
              </a:ext>
            </a:extLst>
          </p:cNvPr>
          <p:cNvSpPr>
            <a:spLocks xmlns:a="http://schemas.openxmlformats.org/drawingml/2006/main" noGrp="1"/>
          </p:cNvSpPr>
          <p:nvPr/>
        </p:nvSpPr>
        <p:spPr>
          <a:xfrm xmlns:a="http://schemas.openxmlformats.org/drawingml/2006/main">
            <a:off x="438150" y="4924425"/>
            <a:ext cx="72961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40" b="0">
                <a:solidFill>
                  <a:srgbClr val="234D78"/>
                </a:solidFill>
                <a:latin typeface="Arial"/>
                <a:ea typeface="Arial"/>
                <a:cs typeface="Arial"/>
              </a:defRPr>
            </a:pPr>
            <a:r>
              <a:rPr sz="640" b="0">
                <a:solidFill>
                  <a:srgbClr val="234D78"/>
                </a:solidFill>
                <a:latin typeface="Arial"/>
                <a:ea typeface="Arial"/>
                <a:cs typeface="Arial"/>
                <a:hlinkClick xmlns:r="http://schemas.openxmlformats.org/officeDocument/2006/relationships" r:id="R2af5601bc5a84e5f"/>
              </a:rPr>
              <a:t>Reader guide and sources</a:t>
            </a:r>
          </a:p>
        </p:txBody>
      </p:sp>
    </p:spTree>
    <p:extLst>
      <p:ext uri="{BB962C8B-B14F-4D97-AF65-F5344CB8AC3E}">
        <p14:creationId xmlns:p14="http://schemas.microsoft.com/office/powerpoint/2010/main" val="105437676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45EF383-9BB3-479E-8E70-64FED7A2B63B}"/>
              </a:ext>
            </a:extLst>
          </p:cNvPr>
          <p:cNvSpPr>
            <a:spLocks xmlns:a="http://schemas.openxmlformats.org/drawingml/2006/main" noGrp="1"/>
          </p:cNvSpPr>
          <p:nvPr/>
        </p:nvSpPr>
        <p:spPr>
          <a:xfrm xmlns:a="http://schemas.openxmlformats.org/drawingml/2006/main">
            <a:off x="0" y="0"/>
            <a:ext cx="9144000" cy="609600"/>
          </a:xfrm>
          <a:prstGeom xmlns:a="http://schemas.openxmlformats.org/drawingml/2006/main" prst="rect">
            <a:avLst/>
          </a:prstGeom>
          <a:solidFill xmlns:a="http://schemas.openxmlformats.org/drawingml/2006/main">
            <a:srgbClr val="234D7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3" name="Text 1">
            <a:extLst xmlns:a="http://schemas.openxmlformats.org/drawingml/2006/main">
              <a:ext uri="{FF2B5EF4-FFF2-40B4-BE49-F238E27FC236}">
                <a16:creationId xmlns:a16="http://schemas.microsoft.com/office/drawing/2014/main" id="{7122F4AD-00DC-45EC-B805-B3E95115C074}"/>
              </a:ext>
            </a:extLst>
          </p:cNvPr>
          <p:cNvSpPr>
            <a:spLocks xmlns:a="http://schemas.openxmlformats.org/drawingml/2006/main" noGrp="1"/>
          </p:cNvSpPr>
          <p:nvPr/>
        </p:nvSpPr>
        <p:spPr>
          <a:xfrm xmlns:a="http://schemas.openxmlformats.org/drawingml/2006/main">
            <a:off x="330136" y="164116"/>
            <a:ext cx="6619875" cy="3238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2415"/>
              </a:lnSpc>
              <a:buNone/>
              <a:defRPr sz="2300" b="1">
                <a:solidFill>
                  <a:srgbClr val="FFFFFF"/>
                </a:solidFill>
                <a:latin typeface="Arial"/>
                <a:ea typeface="Arial"/>
                <a:cs typeface="Arial"/>
              </a:defRPr>
            </a:pPr>
            <a:r>
              <a:rPr sz="2300" b="1">
                <a:solidFill>
                  <a:srgbClr val="FFFFFF"/>
                </a:solidFill>
                <a:latin typeface="Arial"/>
                <a:ea typeface="Arial"/>
                <a:cs typeface="Arial"/>
              </a:rPr>
              <a:t>Module contracts and integration</a:t>
            </a:r>
            <a:endParaRPr sz="2300"/>
          </a:p>
        </p:txBody>
      </p:sp>
      <p:sp>
        <p:nvSpPr>
          <p:cNvPr id="4" name="Text 2">
            <a:extLst xmlns:a="http://schemas.openxmlformats.org/drawingml/2006/main">
              <a:ext uri="{FF2B5EF4-FFF2-40B4-BE49-F238E27FC236}">
                <a16:creationId xmlns:a16="http://schemas.microsoft.com/office/drawing/2014/main" id="{4650850A-3037-4858-B527-A9298EEB97CC}"/>
              </a:ext>
            </a:extLst>
          </p:cNvPr>
          <p:cNvSpPr>
            <a:spLocks xmlns:a="http://schemas.openxmlformats.org/drawingml/2006/main" noGrp="1"/>
          </p:cNvSpPr>
          <p:nvPr/>
        </p:nvSpPr>
        <p:spPr>
          <a:xfrm xmlns:a="http://schemas.openxmlformats.org/drawingml/2006/main">
            <a:off x="7372350" y="190500"/>
            <a:ext cx="14478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r">
              <a:lnSpc>
                <a:spcPts val="1054"/>
              </a:lnSpc>
              <a:buNone/>
              <a:defRPr sz="788" b="1">
                <a:solidFill>
                  <a:srgbClr val="FFFFFF"/>
                </a:solidFill>
                <a:latin typeface="Arial"/>
                <a:ea typeface="Arial"/>
                <a:cs typeface="Arial"/>
              </a:defRPr>
            </a:pPr>
            <a:r>
              <a:rPr sz="788" b="1">
                <a:solidFill>
                  <a:srgbClr val="FFFFFF"/>
                </a:solidFill>
                <a:latin typeface="Arial"/>
                <a:ea typeface="Arial"/>
                <a:cs typeface="Arial"/>
              </a:rPr>
              <a:t>CS CAPSTONE REFERENCE</a:t>
            </a:r>
            <a:endParaRPr sz="850"/>
          </a:p>
        </p:txBody>
      </p:sp>
      <p:sp>
        <p:nvSpPr>
          <p:cNvPr id="5" name="Text 3">
            <a:extLst xmlns:a="http://schemas.openxmlformats.org/drawingml/2006/main">
              <a:ext uri="{FF2B5EF4-FFF2-40B4-BE49-F238E27FC236}">
                <a16:creationId xmlns:a16="http://schemas.microsoft.com/office/drawing/2014/main" id="{0D992DDD-B192-421E-A86B-50FFFA764EEA}"/>
              </a:ext>
            </a:extLst>
          </p:cNvPr>
          <p:cNvSpPr>
            <a:spLocks xmlns:a="http://schemas.openxmlformats.org/drawingml/2006/main" noGrp="1"/>
          </p:cNvSpPr>
          <p:nvPr/>
        </p:nvSpPr>
        <p:spPr>
          <a:xfrm xmlns:a="http://schemas.openxmlformats.org/drawingml/2006/main">
            <a:off x="330101" y="609600"/>
            <a:ext cx="787301" cy="38100"/>
          </a:xfrm>
          <a:prstGeom xmlns:a="http://schemas.openxmlformats.org/drawingml/2006/main" prst="rect">
            <a:avLst/>
          </a:prstGeom>
          <a:solidFill xmlns:a="http://schemas.openxmlformats.org/drawingml/2006/main">
            <a:srgbClr val="D63B4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45" name="Text 43">
            <a:extLst xmlns:a="http://schemas.openxmlformats.org/drawingml/2006/main">
              <a:ext uri="{FF2B5EF4-FFF2-40B4-BE49-F238E27FC236}">
                <a16:creationId xmlns:a16="http://schemas.microsoft.com/office/drawing/2014/main" id="{BACCD0FD-39D7-4707-88ED-4389D69EA3DC}"/>
              </a:ext>
            </a:extLst>
          </p:cNvPr>
          <p:cNvSpPr>
            <a:spLocks xmlns:a="http://schemas.openxmlformats.org/drawingml/2006/main" noGrp="1"/>
          </p:cNvSpPr>
          <p:nvPr/>
        </p:nvSpPr>
        <p:spPr>
          <a:xfrm xmlns:a="http://schemas.openxmlformats.org/drawingml/2006/main">
            <a:off x="8339328" y="4965192"/>
            <a:ext cx="502920"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60">
                <a:solidFill>
                  <a:srgbClr val="7A8794"/>
                </a:solidFill>
                <a:latin typeface="Arial"/>
                <a:ea typeface="Arial"/>
                <a:cs typeface="Arial"/>
              </a:rPr>
              <a:t>21 / 31</a:t>
            </a:r>
            <a:endParaRPr sz="660"/>
          </a:p>
        </p:txBody>
      </p:sp>
      <p:graphicFrame>
        <p:nvGraphicFramePr>
          <p:cNvPr id="54" name=""/>
          <p:cNvGraphicFramePr/>
          <p:nvPr/>
        </p:nvGraphicFramePr>
        <p:xfrm>
          <a:off xmlns:a="http://schemas.openxmlformats.org/drawingml/2006/main" x="342900" y="1000125"/>
          <a:ext xmlns:a="http://schemas.openxmlformats.org/drawingml/2006/main" cx="8458200" cy="3000375"/>
        </p:xfrm>
        <a:graphic xmlns:a="http://schemas.openxmlformats.org/drawingml/2006/main">
          <a:graphicData uri="http://schemas.openxmlformats.org/drawingml/2006/table">
            <a:tbl>
              <a:tblPr firstRow="1" bandRow="0"/>
              <a:tblGrid>
                <a:gridCol w="1666875"/>
                <a:gridCol w="3381375"/>
                <a:gridCol w="3409950"/>
              </a:tblGrid>
              <a:tr h="500063">
                <a:tc>
                  <a:txBody>
                    <a:bodyPr wrap="square">
                      <a:noAutofit/>
                    </a:bodyPr>
                    <a:lstStyle/>
                    <a:p>
                      <a:r>
                        <a:rPr sz="1125" b="1">
                          <a:solidFill>
                            <a:srgbClr val="FFFFFF"/>
                          </a:solidFill>
                          <a:latin typeface="Arial"/>
                          <a:ea typeface="Arial"/>
                          <a:cs typeface="Arial"/>
                        </a:rPr>
                        <a:t>Module</a:t>
                      </a:r>
                    </a:p>
                  </a:txBody>
                  <a:tcPr marL="91440" marR="91440" marT="45720" marB="45720" anchor="ctr">
                    <a:solidFill>
                      <a:srgbClr val="234D78"/>
                    </a:solidFill>
                  </a:tcPr>
                </a:tc>
                <a:tc>
                  <a:txBody>
                    <a:bodyPr wrap="square">
                      <a:noAutofit/>
                    </a:bodyPr>
                    <a:lstStyle/>
                    <a:p>
                      <a:r>
                        <a:rPr sz="1125" b="1">
                          <a:solidFill>
                            <a:srgbClr val="FFFFFF"/>
                          </a:solidFill>
                          <a:latin typeface="Arial"/>
                          <a:ea typeface="Arial"/>
                          <a:cs typeface="Arial"/>
                        </a:rPr>
                        <a:t>Principal contract</a:t>
                      </a:r>
                    </a:p>
                  </a:txBody>
                  <a:tcPr marL="91440" marR="91440" marT="45720" marB="45720" anchor="ctr">
                    <a:solidFill>
                      <a:srgbClr val="234D78"/>
                    </a:solidFill>
                  </a:tcPr>
                </a:tc>
                <a:tc>
                  <a:txBody>
                    <a:bodyPr wrap="square">
                      <a:noAutofit/>
                    </a:bodyPr>
                    <a:lstStyle/>
                    <a:p>
                      <a:r>
                        <a:rPr sz="1125" b="1">
                          <a:solidFill>
                            <a:srgbClr val="FFFFFF"/>
                          </a:solidFill>
                          <a:latin typeface="Arial"/>
                          <a:ea typeface="Arial"/>
                          <a:cs typeface="Arial"/>
                        </a:rPr>
                        <a:t>Implementation status</a:t>
                      </a:r>
                    </a:p>
                  </a:txBody>
                  <a:tcPr marL="91440" marR="91440" marT="45720" marB="45720" anchor="ctr">
                    <a:solidFill>
                      <a:srgbClr val="234D78"/>
                    </a:solidFill>
                  </a:tcPr>
                </a:tc>
              </a:tr>
              <a:tr h="500063">
                <a:tc>
                  <a:txBody>
                    <a:bodyPr wrap="square">
                      <a:noAutofit/>
                    </a:bodyPr>
                    <a:lstStyle/>
                    <a:p>
                      <a:r>
                        <a:rPr sz="1140" b="1">
                          <a:solidFill>
                            <a:srgbClr val="12263A"/>
                          </a:solidFill>
                          <a:latin typeface="Arial"/>
                          <a:ea typeface="Arial"/>
                          <a:cs typeface="Arial"/>
                        </a:rPr>
                        <a:t>Physics replay</a:t>
                      </a:r>
                    </a:p>
                  </a:txBody>
                  <a:tcPr marL="91440" marR="91440" marT="45720" marB="45720" anchor="ctr">
                    <a:solidFill>
                      <a:srgbClr val="FFFFFF"/>
                    </a:solidFill>
                  </a:tcPr>
                </a:tc>
                <a:tc>
                  <a:txBody>
                    <a:bodyPr wrap="square">
                      <a:noAutofit/>
                    </a:bodyPr>
                    <a:lstStyle/>
                    <a:p>
                      <a:r>
                        <a:rPr sz="1140" b="0">
                          <a:solidFill>
                            <a:srgbClr val="12263A"/>
                          </a:solidFill>
                          <a:latin typeface="Arial"/>
                          <a:ea typeface="Arial"/>
                          <a:cs typeface="Arial"/>
                        </a:rPr>
                        <a:t>TCP/object/goal, grasp command, task criteria</a:t>
                      </a:r>
                    </a:p>
                  </a:txBody>
                  <a:tcPr marL="91440" marR="91440" marT="45720" marB="45720" anchor="ctr">
                    <a:solidFill>
                      <a:srgbClr val="FFFFFF"/>
                    </a:solidFill>
                  </a:tcPr>
                </a:tc>
                <a:tc>
                  <a:txBody>
                    <a:bodyPr wrap="square">
                      <a:noAutofit/>
                    </a:bodyPr>
                    <a:lstStyle/>
                    <a:p>
                      <a:r>
                        <a:rPr sz="1140" b="0">
                          <a:solidFill>
                            <a:srgbClr val="12263A"/>
                          </a:solidFill>
                          <a:latin typeface="Arial"/>
                          <a:ea typeface="Arial"/>
                          <a:cs typeface="Arial"/>
                        </a:rPr>
                        <a:t>Clean demonstration and benchmark</a:t>
                      </a:r>
                    </a:p>
                  </a:txBody>
                  <a:tcPr marL="91440" marR="91440" marT="45720" marB="45720" anchor="ctr">
                    <a:solidFill>
                      <a:srgbClr val="FFFFFF"/>
                    </a:solidFill>
                  </a:tcPr>
                </a:tc>
              </a:tr>
              <a:tr h="500063">
                <a:tc>
                  <a:txBody>
                    <a:bodyPr wrap="square">
                      <a:noAutofit/>
                    </a:bodyPr>
                    <a:lstStyle/>
                    <a:p>
                      <a:r>
                        <a:rPr sz="1140" b="1">
                          <a:solidFill>
                            <a:srgbClr val="12263A"/>
                          </a:solidFill>
                          <a:latin typeface="Arial"/>
                          <a:ea typeface="Arial"/>
                          <a:cs typeface="Arial"/>
                        </a:rPr>
                        <a:t>Video / marker</a:t>
                      </a:r>
                    </a:p>
                  </a:txBody>
                  <a:tcPr marL="91440" marR="91440" marT="45720" marB="45720" anchor="ctr">
                    <a:solidFill>
                      <a:srgbClr val="F7F9FC"/>
                    </a:solidFill>
                  </a:tcPr>
                </a:tc>
                <a:tc>
                  <a:txBody>
                    <a:bodyPr wrap="square">
                      <a:noAutofit/>
                    </a:bodyPr>
                    <a:lstStyle/>
                    <a:p>
                      <a:r>
                        <a:rPr sz="1140" b="0">
                          <a:solidFill>
                            <a:srgbClr val="12263A"/>
                          </a:solidFill>
                          <a:latin typeface="Arial"/>
                          <a:ea typeface="Arial"/>
                          <a:cs typeface="Arial"/>
                        </a:rPr>
                        <a:t>Pixels, calibration, estimates, validity mask</a:t>
                      </a:r>
                    </a:p>
                  </a:txBody>
                  <a:tcPr marL="91440" marR="91440" marT="45720" marB="45720" anchor="ctr">
                    <a:solidFill>
                      <a:srgbClr val="F7F9FC"/>
                    </a:solidFill>
                  </a:tcPr>
                </a:tc>
                <a:tc>
                  <a:txBody>
                    <a:bodyPr wrap="square">
                      <a:noAutofit/>
                    </a:bodyPr>
                    <a:lstStyle/>
                    <a:p>
                      <a:r>
                        <a:rPr sz="1140" b="0">
                          <a:solidFill>
                            <a:srgbClr val="12263A"/>
                          </a:solidFill>
                          <a:latin typeface="Arial"/>
                          <a:ea typeface="Arial"/>
                          <a:cs typeface="Arial"/>
                        </a:rPr>
                        <a:t>Synthetic/PnP pilot; translation only</a:t>
                      </a:r>
                    </a:p>
                  </a:txBody>
                  <a:tcPr marL="91440" marR="91440" marT="45720" marB="45720" anchor="ctr">
                    <a:solidFill>
                      <a:srgbClr val="F7F9FC"/>
                    </a:solidFill>
                  </a:tcPr>
                </a:tc>
              </a:tr>
              <a:tr h="500063">
                <a:tc>
                  <a:txBody>
                    <a:bodyPr wrap="square">
                      <a:noAutofit/>
                    </a:bodyPr>
                    <a:lstStyle/>
                    <a:p>
                      <a:r>
                        <a:rPr sz="1140" b="1">
                          <a:solidFill>
                            <a:srgbClr val="12263A"/>
                          </a:solidFill>
                          <a:latin typeface="Arial"/>
                          <a:ea typeface="Arial"/>
                          <a:cs typeface="Arial"/>
                        </a:rPr>
                        <a:t>Retarget input</a:t>
                      </a:r>
                    </a:p>
                  </a:txBody>
                  <a:tcPr marL="91440" marR="91440" marT="45720" marB="45720" anchor="ctr">
                    <a:solidFill>
                      <a:srgbClr val="FFFFFF"/>
                    </a:solidFill>
                  </a:tcPr>
                </a:tc>
                <a:tc>
                  <a:txBody>
                    <a:bodyPr wrap="square">
                      <a:noAutofit/>
                    </a:bodyPr>
                    <a:lstStyle/>
                    <a:p>
                      <a:r>
                        <a:rPr sz="1140" b="0">
                          <a:solidFill>
                            <a:srgbClr val="12263A"/>
                          </a:solidFill>
                          <a:latin typeface="Arial"/>
                          <a:ea typeface="Arial"/>
                          <a:cs typeface="Arial"/>
                        </a:rPr>
                        <a:t>Initial object anchor + TCP/goal trajectory</a:t>
                      </a:r>
                    </a:p>
                  </a:txBody>
                  <a:tcPr marL="91440" marR="91440" marT="45720" marB="45720" anchor="ctr">
                    <a:solidFill>
                      <a:srgbClr val="FFFFFF"/>
                    </a:solidFill>
                  </a:tcPr>
                </a:tc>
                <a:tc>
                  <a:txBody>
                    <a:bodyPr wrap="square">
                      <a:noAutofit/>
                    </a:bodyPr>
                    <a:lstStyle/>
                    <a:p>
                      <a:r>
                        <a:rPr sz="1140" b="0">
                          <a:solidFill>
                            <a:srgbClr val="12263A"/>
                          </a:solidFill>
                          <a:latin typeface="Arial"/>
                          <a:ea typeface="Arial"/>
                          <a:cs typeface="Arial"/>
                        </a:rPr>
                        <a:t>65 edited pose frames leave plan unchanged</a:t>
                      </a:r>
                    </a:p>
                  </a:txBody>
                  <a:tcPr marL="91440" marR="91440" marT="45720" marB="45720" anchor="ctr">
                    <a:solidFill>
                      <a:srgbClr val="FFFFFF"/>
                    </a:solidFill>
                  </a:tcPr>
                </a:tc>
              </a:tr>
              <a:tr h="500063">
                <a:tc>
                  <a:txBody>
                    <a:bodyPr wrap="square">
                      <a:noAutofit/>
                    </a:bodyPr>
                    <a:lstStyle/>
                    <a:p>
                      <a:r>
                        <a:rPr sz="1140" b="1">
                          <a:solidFill>
                            <a:srgbClr val="12263A"/>
                          </a:solidFill>
                          <a:latin typeface="Arial"/>
                          <a:ea typeface="Arial"/>
                          <a:cs typeface="Arial"/>
                        </a:rPr>
                        <a:t>Correction / cost</a:t>
                      </a:r>
                    </a:p>
                  </a:txBody>
                  <a:tcPr marL="91440" marR="91440" marT="45720" marB="45720" anchor="ctr">
                    <a:solidFill>
                      <a:srgbClr val="F7F9FC"/>
                    </a:solidFill>
                  </a:tcPr>
                </a:tc>
                <a:tc>
                  <a:txBody>
                    <a:bodyPr wrap="square">
                      <a:noAutofit/>
                    </a:bodyPr>
                    <a:lstStyle/>
                    <a:p>
                      <a:r>
                        <a:rPr sz="1140" b="0">
                          <a:solidFill>
                            <a:srgbClr val="12263A"/>
                          </a:solidFill>
                          <a:latin typeface="Arial"/>
                          <a:ea typeface="Arial"/>
                          <a:cs typeface="Arial"/>
                        </a:rPr>
                        <a:t>Edited artifacts, candidates, time receipts</a:t>
                      </a:r>
                    </a:p>
                  </a:txBody>
                  <a:tcPr marL="91440" marR="91440" marT="45720" marB="45720" anchor="ctr">
                    <a:solidFill>
                      <a:srgbClr val="F7F9FC"/>
                    </a:solidFill>
                  </a:tcPr>
                </a:tc>
                <a:tc>
                  <a:txBody>
                    <a:bodyPr wrap="square">
                      <a:noAutofit/>
                    </a:bodyPr>
                    <a:lstStyle/>
                    <a:p>
                      <a:r>
                        <a:rPr sz="1140" b="0">
                          <a:solidFill>
                            <a:srgbClr val="12263A"/>
                          </a:solidFill>
                          <a:latin typeface="Arial"/>
                          <a:ea typeface="Arial"/>
                          <a:cs typeface="Arial"/>
                        </a:rPr>
                        <a:t>Assumed oracle cost; terminal editor</a:t>
                      </a:r>
                    </a:p>
                  </a:txBody>
                  <a:tcPr marL="91440" marR="91440" marT="45720" marB="45720" anchor="ctr">
                    <a:solidFill>
                      <a:srgbClr val="F7F9FC"/>
                    </a:solidFill>
                  </a:tcPr>
                </a:tc>
              </a:tr>
              <a:tr h="500063">
                <a:tc>
                  <a:txBody>
                    <a:bodyPr wrap="square">
                      <a:noAutofit/>
                    </a:bodyPr>
                    <a:lstStyle/>
                    <a:p>
                      <a:r>
                        <a:rPr sz="1140" b="1">
                          <a:solidFill>
                            <a:srgbClr val="12263A"/>
                          </a:solidFill>
                          <a:latin typeface="Arial"/>
                          <a:ea typeface="Arial"/>
                          <a:cs typeface="Arial"/>
                        </a:rPr>
                        <a:t>Bridge / export</a:t>
                      </a:r>
                    </a:p>
                  </a:txBody>
                  <a:tcPr marL="91440" marR="91440" marT="45720" marB="45720" anchor="ctr">
                    <a:solidFill>
                      <a:srgbClr val="FFFFFF"/>
                    </a:solidFill>
                  </a:tcPr>
                </a:tc>
                <a:tc>
                  <a:txBody>
                    <a:bodyPr wrap="square">
                      <a:noAutofit/>
                    </a:bodyPr>
                    <a:lstStyle/>
                    <a:p>
                      <a:r>
                        <a:rPr sz="1140" b="0">
                          <a:solidFill>
                            <a:srgbClr val="12263A"/>
                          </a:solidFill>
                          <a:latin typeface="Arial"/>
                          <a:ea typeface="Arial"/>
                          <a:cs typeface="Arial"/>
                        </a:rPr>
                        <a:t>Consequential pose inputs, physics, labels</a:t>
                      </a:r>
                    </a:p>
                  </a:txBody>
                  <a:tcPr marL="91440" marR="91440" marT="45720" marB="45720" anchor="ctr">
                    <a:solidFill>
                      <a:srgbClr val="FFFFFF"/>
                    </a:solidFill>
                  </a:tcPr>
                </a:tc>
                <a:tc>
                  <a:txBody>
                    <a:bodyPr wrap="square">
                      <a:noAutofit/>
                    </a:bodyPr>
                    <a:lstStyle/>
                    <a:p>
                      <a:r>
                        <a:rPr sz="1140" b="0">
                          <a:solidFill>
                            <a:srgbClr val="12263A"/>
                          </a:solidFill>
                          <a:latin typeface="Arial"/>
                          <a:ea typeface="Arial"/>
                          <a:cs typeface="Arial"/>
                        </a:rPr>
                        <a:t>End-to-end integration remains absent</a:t>
                      </a:r>
                    </a:p>
                  </a:txBody>
                  <a:tcPr marL="91440" marR="91440" marT="45720" marB="45720" anchor="ctr">
                    <a:solidFill>
                      <a:srgbClr val="FFFFFF"/>
                    </a:solidFill>
                  </a:tcPr>
                </a:tc>
              </a:tr>
            </a:tbl>
          </a:graphicData>
        </a:graphic>
      </p:graphicFrame>
      <p:sp>
        <p:nvSpPr>
          <p:cNvPr id="47" name="Table caveat">
            <a:extLst xmlns:a="http://schemas.openxmlformats.org/drawingml/2006/main">
              <a:ext uri="{FF2B5EF4-FFF2-40B4-BE49-F238E27FC236}">
                <a16:creationId xmlns:a16="http://schemas.microsoft.com/office/drawing/2014/main" id="{485B856A-B50F-4788-AA9E-2737B82315D4}"/>
              </a:ext>
            </a:extLst>
          </p:cNvPr>
          <p:cNvSpPr>
            <a:spLocks xmlns:a="http://schemas.openxmlformats.org/drawingml/2006/main" noGrp="1"/>
          </p:cNvSpPr>
          <p:nvPr/>
        </p:nvSpPr>
        <p:spPr>
          <a:xfrm xmlns:a="http://schemas.openxmlformats.org/drawingml/2006/main">
            <a:off x="400050" y="4238625"/>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12263A"/>
                </a:solidFill>
                <a:latin typeface="Arial"/>
                <a:ea typeface="Arial"/>
                <a:cs typeface="Arial"/>
              </a:defRPr>
            </a:pPr>
            <a:r>
              <a:rPr sz="1140" b="1">
                <a:solidFill>
                  <a:srgbClr val="12263A"/>
                </a:solidFill>
                <a:latin typeface="Arial"/>
                <a:ea typeface="Arial"/>
                <a:cs typeface="Arial"/>
              </a:rPr>
              <a:t>The missing bridge: edited inputs must alter the plan before downstream success can be assessed.</a:t>
            </a:r>
          </a:p>
        </p:txBody>
      </p:sp>
      <p:sp>
        <p:nvSpPr>
          <p:cNvPr id="48" name="Sources footer">
            <a:extLst xmlns:a="http://schemas.openxmlformats.org/drawingml/2006/main">
              <a:ext uri="{FF2B5EF4-FFF2-40B4-BE49-F238E27FC236}">
                <a16:creationId xmlns:a16="http://schemas.microsoft.com/office/drawing/2014/main" id="{F7D7B838-185B-4F07-B14D-4F73272BF149}"/>
              </a:ext>
            </a:extLst>
          </p:cNvPr>
          <p:cNvSpPr>
            <a:spLocks xmlns:a="http://schemas.openxmlformats.org/drawingml/2006/main" noGrp="1"/>
          </p:cNvSpPr>
          <p:nvPr/>
        </p:nvSpPr>
        <p:spPr>
          <a:xfrm xmlns:a="http://schemas.openxmlformats.org/drawingml/2006/main">
            <a:off x="438150" y="4924425"/>
            <a:ext cx="72961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40" b="0">
                <a:solidFill>
                  <a:srgbClr val="234D78"/>
                </a:solidFill>
                <a:latin typeface="Arial"/>
                <a:ea typeface="Arial"/>
                <a:cs typeface="Arial"/>
              </a:defRPr>
            </a:pPr>
            <a:r>
              <a:rPr sz="640" b="0">
                <a:solidFill>
                  <a:srgbClr val="234D78"/>
                </a:solidFill>
                <a:latin typeface="Arial"/>
                <a:ea typeface="Arial"/>
                <a:cs typeface="Arial"/>
                <a:hlinkClick xmlns:r="http://schemas.openxmlformats.org/officeDocument/2006/relationships" r:id="R1a9f29fa4f104a4c"/>
              </a:rPr>
              <a:t>Reader guide and sources</a:t>
            </a:r>
          </a:p>
        </p:txBody>
      </p:sp>
    </p:spTree>
    <p:extLst>
      <p:ext uri="{BB962C8B-B14F-4D97-AF65-F5344CB8AC3E}">
        <p14:creationId xmlns:p14="http://schemas.microsoft.com/office/powerpoint/2010/main" val="606904035"/>
      </p:ext>
    </p:extLst>
  </p:cSld>
</p:sld>
</file>

<file path=ppt/slides/slide22.xml><?xml version="1.0" encoding="utf-8"?>
<p:sld xmlns:p="http://schemas.openxmlformats.org/presentationml/2006/main">
  <p:cSld>
    <p:bg>
      <p:bgPr>
        <a:solidFill xmlns:a="http://schemas.openxmlformats.org/drawingml/2006/main">
          <a:srgbClr val="16344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C82AAB3-5AC2-423F-936A-024FB3E374DD}"/>
              </a:ext>
            </a:extLst>
          </p:cNvPr>
          <p:cNvSpPr>
            <a:spLocks xmlns:a="http://schemas.openxmlformats.org/drawingml/2006/main" noGrp="1"/>
          </p:cNvSpPr>
          <p:nvPr/>
        </p:nvSpPr>
        <p:spPr>
          <a:xfrm xmlns:a="http://schemas.openxmlformats.org/drawingml/2006/main">
            <a:off x="634901" y="1983730"/>
            <a:ext cx="8031682" cy="2361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60"/>
              </a:lnSpc>
              <a:buNone/>
              <a:defRPr sz="1500" b="1">
                <a:solidFill>
                  <a:srgbClr val="62C7D6"/>
                </a:solidFill>
                <a:latin typeface="Arial"/>
                <a:ea typeface="Arial"/>
                <a:cs typeface="Arial"/>
              </a:defRPr>
            </a:pPr>
            <a:r>
              <a:rPr sz="1500" b="1">
                <a:solidFill>
                  <a:srgbClr val="62C7D6"/>
                </a:solidFill>
                <a:latin typeface="Arial"/>
                <a:ea typeface="Arial"/>
                <a:cs typeface="Arial"/>
              </a:rPr>
              <a:t>SECTION 04</a:t>
            </a:r>
            <a:endParaRPr sz="1500"/>
          </a:p>
        </p:txBody>
      </p:sp>
      <p:sp>
        <p:nvSpPr>
          <p:cNvPr id="3" name="Text 1">
            <a:extLst xmlns:a="http://schemas.openxmlformats.org/drawingml/2006/main">
              <a:ext uri="{FF2B5EF4-FFF2-40B4-BE49-F238E27FC236}">
                <a16:creationId xmlns:a16="http://schemas.microsoft.com/office/drawing/2014/main" id="{FAE823C1-0884-40CA-87AF-A4675BA5A0BD}"/>
              </a:ext>
            </a:extLst>
          </p:cNvPr>
          <p:cNvSpPr>
            <a:spLocks xmlns:a="http://schemas.openxmlformats.org/drawingml/2006/main" noGrp="1"/>
          </p:cNvSpPr>
          <p:nvPr/>
        </p:nvSpPr>
        <p:spPr>
          <a:xfrm xmlns:a="http://schemas.openxmlformats.org/drawingml/2006/main">
            <a:off x="634901" y="2334220"/>
            <a:ext cx="8031682" cy="474911"/>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3740"/>
              </a:lnSpc>
              <a:buNone/>
              <a:defRPr sz="3400" b="1">
                <a:solidFill>
                  <a:srgbClr val="FFFFFF"/>
                </a:solidFill>
                <a:latin typeface="Arial"/>
                <a:ea typeface="Arial"/>
                <a:cs typeface="Arial"/>
              </a:defRPr>
            </a:pPr>
            <a:r>
              <a:rPr sz="3400" b="1">
                <a:solidFill>
                  <a:srgbClr val="FFFFFF"/>
                </a:solidFill>
                <a:latin typeface="Arial"/>
                <a:ea typeface="Arial"/>
                <a:cs typeface="Arial"/>
              </a:rPr>
              <a:t>TeleGuide and correction budgets</a:t>
            </a:r>
            <a:endParaRPr sz="3400"/>
          </a:p>
        </p:txBody>
      </p:sp>
      <p:sp>
        <p:nvSpPr>
          <p:cNvPr id="4" name="Text 2">
            <a:extLst xmlns:a="http://schemas.openxmlformats.org/drawingml/2006/main">
              <a:ext uri="{FF2B5EF4-FFF2-40B4-BE49-F238E27FC236}">
                <a16:creationId xmlns:a16="http://schemas.microsoft.com/office/drawing/2014/main" id="{AFB47AB5-BEC6-4DF4-84CA-50E04AAC042C}"/>
              </a:ext>
            </a:extLst>
          </p:cNvPr>
          <p:cNvSpPr>
            <a:spLocks xmlns:a="http://schemas.openxmlformats.org/drawingml/2006/main" noGrp="1"/>
          </p:cNvSpPr>
          <p:nvPr/>
        </p:nvSpPr>
        <p:spPr>
          <a:xfrm xmlns:a="http://schemas.openxmlformats.org/drawingml/2006/main">
            <a:off x="634937" y="2923413"/>
            <a:ext cx="8031671" cy="619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60"/>
              </a:lnSpc>
              <a:buNone/>
              <a:defRPr sz="1500" b="0">
                <a:solidFill>
                  <a:srgbClr val="DDE8F2"/>
                </a:solidFill>
                <a:latin typeface="Arial"/>
                <a:ea typeface="Arial"/>
                <a:cs typeface="Arial"/>
              </a:defRPr>
            </a:pPr>
            <a:r>
              <a:rPr sz="1500" b="0">
                <a:solidFill>
                  <a:srgbClr val="DDE8F2"/>
                </a:solidFill>
                <a:latin typeface="Arial"/>
                <a:ea typeface="Arial"/>
                <a:cs typeface="Arial"/>
              </a:rPr>
              <a:t>An intervention must produce a replayable correction artifact, time records, and an observable outcome.</a:t>
            </a:r>
            <a:endParaRPr sz="1500"/>
          </a:p>
        </p:txBody>
      </p:sp>
      <p:sp>
        <p:nvSpPr>
          <p:cNvPr id="5" name="Text 3">
            <a:extLst xmlns:a="http://schemas.openxmlformats.org/drawingml/2006/main">
              <a:ext uri="{FF2B5EF4-FFF2-40B4-BE49-F238E27FC236}">
                <a16:creationId xmlns:a16="http://schemas.microsoft.com/office/drawing/2014/main" id="{636EBCF2-7DE4-4E4B-8C3A-B5ADC73D257A}"/>
              </a:ext>
            </a:extLst>
          </p:cNvPr>
          <p:cNvSpPr>
            <a:spLocks xmlns:a="http://schemas.openxmlformats.org/drawingml/2006/main" noGrp="1"/>
          </p:cNvSpPr>
          <p:nvPr/>
        </p:nvSpPr>
        <p:spPr>
          <a:xfrm xmlns:a="http://schemas.openxmlformats.org/drawingml/2006/main">
            <a:off x="8339328" y="4965192"/>
            <a:ext cx="502920"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60">
                <a:solidFill>
                  <a:srgbClr val="7A8794"/>
                </a:solidFill>
                <a:latin typeface="Arial"/>
                <a:ea typeface="Arial"/>
                <a:cs typeface="Arial"/>
              </a:rPr>
              <a:t>22 / 31</a:t>
            </a:r>
            <a:endParaRPr sz="660"/>
          </a:p>
        </p:txBody>
      </p:sp>
      <p:sp>
        <p:nvSpPr>
          <p:cNvPr id="6" name="Sources footer">
            <a:extLst xmlns:a="http://schemas.openxmlformats.org/drawingml/2006/main">
              <a:ext uri="{FF2B5EF4-FFF2-40B4-BE49-F238E27FC236}">
                <a16:creationId xmlns:a16="http://schemas.microsoft.com/office/drawing/2014/main" id="{699A9D2C-CAC7-43D3-9FF2-CE2C55CA02E4}"/>
              </a:ext>
            </a:extLst>
          </p:cNvPr>
          <p:cNvSpPr>
            <a:spLocks xmlns:a="http://schemas.openxmlformats.org/drawingml/2006/main" noGrp="1"/>
          </p:cNvSpPr>
          <p:nvPr/>
        </p:nvSpPr>
        <p:spPr>
          <a:xfrm xmlns:a="http://schemas.openxmlformats.org/drawingml/2006/main">
            <a:off x="438150" y="4924425"/>
            <a:ext cx="72961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40" b="0">
                <a:solidFill>
                  <a:srgbClr val="CAD6E2"/>
                </a:solidFill>
                <a:latin typeface="Arial"/>
                <a:ea typeface="Arial"/>
                <a:cs typeface="Arial"/>
              </a:defRPr>
            </a:pPr>
            <a:r>
              <a:rPr sz="640" b="0">
                <a:solidFill>
                  <a:srgbClr val="CAD6E2"/>
                </a:solidFill>
                <a:latin typeface="Arial"/>
                <a:ea typeface="Arial"/>
                <a:cs typeface="Arial"/>
                <a:hlinkClick xmlns:r="http://schemas.openxmlformats.org/officeDocument/2006/relationships" r:id="Rcb093ce4434e4ddc"/>
              </a:rPr>
              <a:t>Reader guide and sources</a:t>
            </a:r>
          </a:p>
        </p:txBody>
      </p:sp>
    </p:spTree>
    <p:extLst>
      <p:ext uri="{BB962C8B-B14F-4D97-AF65-F5344CB8AC3E}">
        <p14:creationId xmlns:p14="http://schemas.microsoft.com/office/powerpoint/2010/main" val="133587908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55BE3BD-1A0D-4739-9B8A-36815ECD73E8}"/>
              </a:ext>
            </a:extLst>
          </p:cNvPr>
          <p:cNvSpPr>
            <a:spLocks xmlns:a="http://schemas.openxmlformats.org/drawingml/2006/main" noGrp="1"/>
          </p:cNvSpPr>
          <p:nvPr/>
        </p:nvSpPr>
        <p:spPr>
          <a:xfrm xmlns:a="http://schemas.openxmlformats.org/drawingml/2006/main">
            <a:off x="0" y="0"/>
            <a:ext cx="9144000" cy="609600"/>
          </a:xfrm>
          <a:prstGeom xmlns:a="http://schemas.openxmlformats.org/drawingml/2006/main" prst="rect">
            <a:avLst/>
          </a:prstGeom>
          <a:solidFill xmlns:a="http://schemas.openxmlformats.org/drawingml/2006/main">
            <a:srgbClr val="234D7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3" name="Text 1">
            <a:extLst xmlns:a="http://schemas.openxmlformats.org/drawingml/2006/main">
              <a:ext uri="{FF2B5EF4-FFF2-40B4-BE49-F238E27FC236}">
                <a16:creationId xmlns:a16="http://schemas.microsoft.com/office/drawing/2014/main" id="{67B9B549-B093-4F75-91FE-3CA13459F313}"/>
              </a:ext>
            </a:extLst>
          </p:cNvPr>
          <p:cNvSpPr>
            <a:spLocks xmlns:a="http://schemas.openxmlformats.org/drawingml/2006/main" noGrp="1"/>
          </p:cNvSpPr>
          <p:nvPr/>
        </p:nvSpPr>
        <p:spPr>
          <a:xfrm xmlns:a="http://schemas.openxmlformats.org/drawingml/2006/main">
            <a:off x="330136" y="164116"/>
            <a:ext cx="6619875" cy="3238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2415"/>
              </a:lnSpc>
              <a:buNone/>
              <a:defRPr sz="2300" b="1">
                <a:solidFill>
                  <a:srgbClr val="FFFFFF"/>
                </a:solidFill>
                <a:latin typeface="Arial"/>
                <a:ea typeface="Arial"/>
                <a:cs typeface="Arial"/>
              </a:defRPr>
            </a:pPr>
            <a:r>
              <a:rPr sz="2300" b="1">
                <a:solidFill>
                  <a:srgbClr val="FFFFFF"/>
                </a:solidFill>
                <a:latin typeface="Arial"/>
                <a:ea typeface="Arial"/>
                <a:cs typeface="Arial"/>
              </a:rPr>
              <a:t>Review, correction, and reusable data</a:t>
            </a:r>
            <a:endParaRPr sz="2300"/>
          </a:p>
        </p:txBody>
      </p:sp>
      <p:sp>
        <p:nvSpPr>
          <p:cNvPr id="4" name="Text 2">
            <a:extLst xmlns:a="http://schemas.openxmlformats.org/drawingml/2006/main">
              <a:ext uri="{FF2B5EF4-FFF2-40B4-BE49-F238E27FC236}">
                <a16:creationId xmlns:a16="http://schemas.microsoft.com/office/drawing/2014/main" id="{0F8954D7-D09F-423E-8F82-AD17AA2D43E4}"/>
              </a:ext>
            </a:extLst>
          </p:cNvPr>
          <p:cNvSpPr>
            <a:spLocks xmlns:a="http://schemas.openxmlformats.org/drawingml/2006/main" noGrp="1"/>
          </p:cNvSpPr>
          <p:nvPr/>
        </p:nvSpPr>
        <p:spPr>
          <a:xfrm xmlns:a="http://schemas.openxmlformats.org/drawingml/2006/main">
            <a:off x="7372350" y="190500"/>
            <a:ext cx="14478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r">
              <a:lnSpc>
                <a:spcPts val="1054"/>
              </a:lnSpc>
              <a:buNone/>
              <a:defRPr sz="788" b="1">
                <a:solidFill>
                  <a:srgbClr val="FFFFFF"/>
                </a:solidFill>
                <a:latin typeface="Arial"/>
                <a:ea typeface="Arial"/>
                <a:cs typeface="Arial"/>
              </a:defRPr>
            </a:pPr>
            <a:r>
              <a:rPr sz="788" b="1">
                <a:solidFill>
                  <a:srgbClr val="FFFFFF"/>
                </a:solidFill>
                <a:latin typeface="Arial"/>
                <a:ea typeface="Arial"/>
                <a:cs typeface="Arial"/>
              </a:rPr>
              <a:t>CS CAPSTONE REFERENCE</a:t>
            </a:r>
            <a:endParaRPr sz="850"/>
          </a:p>
        </p:txBody>
      </p:sp>
      <p:sp>
        <p:nvSpPr>
          <p:cNvPr id="5" name="Text 3">
            <a:extLst xmlns:a="http://schemas.openxmlformats.org/drawingml/2006/main">
              <a:ext uri="{FF2B5EF4-FFF2-40B4-BE49-F238E27FC236}">
                <a16:creationId xmlns:a16="http://schemas.microsoft.com/office/drawing/2014/main" id="{5F109AC7-2874-40A3-A1A9-921A4BD764BD}"/>
              </a:ext>
            </a:extLst>
          </p:cNvPr>
          <p:cNvSpPr>
            <a:spLocks xmlns:a="http://schemas.openxmlformats.org/drawingml/2006/main" noGrp="1"/>
          </p:cNvSpPr>
          <p:nvPr/>
        </p:nvSpPr>
        <p:spPr>
          <a:xfrm xmlns:a="http://schemas.openxmlformats.org/drawingml/2006/main">
            <a:off x="330101" y="609600"/>
            <a:ext cx="787301" cy="38100"/>
          </a:xfrm>
          <a:prstGeom xmlns:a="http://schemas.openxmlformats.org/drawingml/2006/main" prst="rect">
            <a:avLst/>
          </a:prstGeom>
          <a:solidFill xmlns:a="http://schemas.openxmlformats.org/drawingml/2006/main">
            <a:srgbClr val="D63B4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6" name="Text 4">
            <a:extLst xmlns:a="http://schemas.openxmlformats.org/drawingml/2006/main">
              <a:ext uri="{FF2B5EF4-FFF2-40B4-BE49-F238E27FC236}">
                <a16:creationId xmlns:a16="http://schemas.microsoft.com/office/drawing/2014/main" id="{4B09B2F2-37BA-4E66-B2D1-2EFE327EEA95}"/>
              </a:ext>
            </a:extLst>
          </p:cNvPr>
          <p:cNvSpPr>
            <a:spLocks xmlns:a="http://schemas.openxmlformats.org/drawingml/2006/main" noGrp="1"/>
          </p:cNvSpPr>
          <p:nvPr/>
        </p:nvSpPr>
        <p:spPr>
          <a:xfrm xmlns:a="http://schemas.openxmlformats.org/drawingml/2006/main">
            <a:off x="342900" y="850850"/>
            <a:ext cx="2734717" cy="3270349"/>
          </a:xfrm>
          <a:prstGeom xmlns:a="http://schemas.openxmlformats.org/drawingml/2006/main" prst="roundRect">
            <a:avLst>
              <a:gd name="adj" fmla="val 3715"/>
            </a:avLst>
          </a:prstGeom>
          <a:solidFill xmlns:a="http://schemas.openxmlformats.org/drawingml/2006/main">
            <a:srgbClr val="EEF4F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7" name="Shape 5">
            <a:extLst xmlns:a="http://schemas.openxmlformats.org/drawingml/2006/main">
              <a:ext uri="{FF2B5EF4-FFF2-40B4-BE49-F238E27FC236}">
                <a16:creationId xmlns:a16="http://schemas.microsoft.com/office/drawing/2014/main" id="{D63D4C16-D54A-43FB-B56A-9670811F444F}"/>
              </a:ext>
            </a:extLst>
          </p:cNvPr>
          <p:cNvSpPr>
            <a:spLocks xmlns:a="http://schemas.openxmlformats.org/drawingml/2006/main" noGrp="1"/>
          </p:cNvSpPr>
          <p:nvPr/>
        </p:nvSpPr>
        <p:spPr>
          <a:xfrm xmlns:a="http://schemas.openxmlformats.org/drawingml/2006/main">
            <a:off x="342900" y="855613"/>
            <a:ext cx="2734717"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8" name="Shape 6">
            <a:extLst xmlns:a="http://schemas.openxmlformats.org/drawingml/2006/main">
              <a:ext uri="{FF2B5EF4-FFF2-40B4-BE49-F238E27FC236}">
                <a16:creationId xmlns:a16="http://schemas.microsoft.com/office/drawing/2014/main" id="{7C601920-8AE4-45D1-A7C0-9EE3EC032009}"/>
              </a:ext>
            </a:extLst>
          </p:cNvPr>
          <p:cNvSpPr>
            <a:spLocks xmlns:a="http://schemas.openxmlformats.org/drawingml/2006/main" noGrp="1"/>
          </p:cNvSpPr>
          <p:nvPr/>
        </p:nvSpPr>
        <p:spPr>
          <a:xfrm xmlns:a="http://schemas.openxmlformats.org/drawingml/2006/main">
            <a:off x="3072854" y="850850"/>
            <a:ext cx="0" cy="3270349"/>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9" name="Shape 7">
            <a:extLst xmlns:a="http://schemas.openxmlformats.org/drawingml/2006/main">
              <a:ext uri="{FF2B5EF4-FFF2-40B4-BE49-F238E27FC236}">
                <a16:creationId xmlns:a16="http://schemas.microsoft.com/office/drawing/2014/main" id="{073DBA71-6A55-4395-BE6D-A87971D9A12A}"/>
              </a:ext>
            </a:extLst>
          </p:cNvPr>
          <p:cNvSpPr>
            <a:spLocks xmlns:a="http://schemas.openxmlformats.org/drawingml/2006/main" noGrp="1"/>
          </p:cNvSpPr>
          <p:nvPr/>
        </p:nvSpPr>
        <p:spPr>
          <a:xfrm xmlns:a="http://schemas.openxmlformats.org/drawingml/2006/main">
            <a:off x="342900" y="4116437"/>
            <a:ext cx="2734717"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0" name="Shape 8">
            <a:extLst xmlns:a="http://schemas.openxmlformats.org/drawingml/2006/main">
              <a:ext uri="{FF2B5EF4-FFF2-40B4-BE49-F238E27FC236}">
                <a16:creationId xmlns:a16="http://schemas.microsoft.com/office/drawing/2014/main" id="{B2B14F39-48F4-4B57-B81C-75E2DE1422C0}"/>
              </a:ext>
            </a:extLst>
          </p:cNvPr>
          <p:cNvSpPr>
            <a:spLocks xmlns:a="http://schemas.openxmlformats.org/drawingml/2006/main" noGrp="1"/>
          </p:cNvSpPr>
          <p:nvPr/>
        </p:nvSpPr>
        <p:spPr>
          <a:xfrm xmlns:a="http://schemas.openxmlformats.org/drawingml/2006/main">
            <a:off x="371475" y="850850"/>
            <a:ext cx="0" cy="3270349"/>
          </a:xfrm>
          <a:prstGeom xmlns:a="http://schemas.openxmlformats.org/drawingml/2006/main" prst="line">
            <a:avLst/>
          </a:prstGeom>
          <a:noFill xmlns:a="http://schemas.openxmlformats.org/drawingml/2006/main"/>
          <a:ln xmlns:a="http://schemas.openxmlformats.org/drawingml/2006/main" w="57150">
            <a:solidFill>
              <a:srgbClr val="234D78"/>
            </a:solidFill>
            <a:prstDash val="solid"/>
          </a:ln>
        </p:spPr>
      </p:sp>
      <p:sp>
        <p:nvSpPr>
          <p:cNvPr id="11" name="Text 9">
            <a:extLst xmlns:a="http://schemas.openxmlformats.org/drawingml/2006/main">
              <a:ext uri="{FF2B5EF4-FFF2-40B4-BE49-F238E27FC236}">
                <a16:creationId xmlns:a16="http://schemas.microsoft.com/office/drawing/2014/main" id="{A21F8099-8984-48EE-8D28-CE81AD36204C}"/>
              </a:ext>
            </a:extLst>
          </p:cNvPr>
          <p:cNvSpPr>
            <a:spLocks xmlns:a="http://schemas.openxmlformats.org/drawingml/2006/main" noGrp="1"/>
          </p:cNvSpPr>
          <p:nvPr/>
        </p:nvSpPr>
        <p:spPr>
          <a:xfrm xmlns:a="http://schemas.openxmlformats.org/drawingml/2006/main">
            <a:off x="552450" y="1012775"/>
            <a:ext cx="2410507" cy="3174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2500"/>
              </a:lnSpc>
              <a:spcAft>
                <a:spcPts val="500"/>
              </a:spcAft>
              <a:buNone/>
              <a:defRPr sz="2500" b="1">
                <a:solidFill>
                  <a:srgbClr val="234D78"/>
                </a:solidFill>
                <a:latin typeface="Arial"/>
                <a:ea typeface="Arial"/>
                <a:cs typeface="Arial"/>
              </a:defRPr>
            </a:pPr>
            <a:r>
              <a:rPr sz="2500" b="1">
                <a:solidFill>
                  <a:srgbClr val="234D78"/>
                </a:solidFill>
                <a:latin typeface="Arial"/>
                <a:ea typeface="Arial"/>
                <a:cs typeface="Arial"/>
              </a:rPr>
              <a:t>REVIEW</a:t>
            </a:r>
            <a:endParaRPr sz="2500"/>
          </a:p>
        </p:txBody>
      </p:sp>
      <p:sp>
        <p:nvSpPr>
          <p:cNvPr id="12" name="Text 10">
            <a:extLst xmlns:a="http://schemas.openxmlformats.org/drawingml/2006/main">
              <a:ext uri="{FF2B5EF4-FFF2-40B4-BE49-F238E27FC236}">
                <a16:creationId xmlns:a16="http://schemas.microsoft.com/office/drawing/2014/main" id="{680D25DD-E0DA-43A9-B19F-3BF7712A5022}"/>
              </a:ext>
            </a:extLst>
          </p:cNvPr>
          <p:cNvSpPr>
            <a:spLocks xmlns:a="http://schemas.openxmlformats.org/drawingml/2006/main" noGrp="1"/>
          </p:cNvSpPr>
          <p:nvPr/>
        </p:nvSpPr>
        <p:spPr>
          <a:xfrm xmlns:a="http://schemas.openxmlformats.org/drawingml/2006/main">
            <a:off x="552450" y="1393627"/>
            <a:ext cx="2410507"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Inspect context and intent</a:t>
            </a:r>
            <a:endParaRPr sz="1400"/>
          </a:p>
        </p:txBody>
      </p:sp>
      <p:sp>
        <p:nvSpPr>
          <p:cNvPr id="13" name="Text 11">
            <a:extLst xmlns:a="http://schemas.openxmlformats.org/drawingml/2006/main">
              <a:ext uri="{FF2B5EF4-FFF2-40B4-BE49-F238E27FC236}">
                <a16:creationId xmlns:a16="http://schemas.microsoft.com/office/drawing/2014/main" id="{BF4DB717-E30C-4A61-A832-915738791F06}"/>
              </a:ext>
            </a:extLst>
          </p:cNvPr>
          <p:cNvSpPr>
            <a:spLocks xmlns:a="http://schemas.openxmlformats.org/drawingml/2006/main" noGrp="1"/>
          </p:cNvSpPr>
          <p:nvPr/>
        </p:nvSpPr>
        <p:spPr>
          <a:xfrm xmlns:a="http://schemas.openxmlformats.org/drawingml/2006/main">
            <a:off x="552450" y="1661517"/>
            <a:ext cx="2410507" cy="383977"/>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513"/>
              </a:lnSpc>
              <a:buNone/>
              <a:defRPr sz="1220" b="0">
                <a:solidFill>
                  <a:srgbClr val="12263A"/>
                </a:solidFill>
                <a:latin typeface="Arial"/>
                <a:ea typeface="Arial"/>
                <a:cs typeface="Arial"/>
              </a:defRPr>
            </a:pPr>
            <a:r>
              <a:rPr sz="1220" b="0">
                <a:solidFill>
                  <a:srgbClr val="12263A"/>
                </a:solidFill>
                <a:latin typeface="Arial"/>
                <a:ea typeface="Arial"/>
                <a:cs typeface="Arial"/>
              </a:rPr>
              <a:t>Pose axes, diagnostics, source frames, and candidate segments. Record review and selection time.</a:t>
            </a:r>
            <a:endParaRPr sz="1220"/>
          </a:p>
        </p:txBody>
      </p:sp>
      <p:sp>
        <p:nvSpPr>
          <p:cNvPr id="14" name="Text 12">
            <a:extLst xmlns:a="http://schemas.openxmlformats.org/drawingml/2006/main">
              <a:ext uri="{FF2B5EF4-FFF2-40B4-BE49-F238E27FC236}">
                <a16:creationId xmlns:a16="http://schemas.microsoft.com/office/drawing/2014/main" id="{571AC9D4-6301-45F2-AC95-66784FD35681}"/>
              </a:ext>
            </a:extLst>
          </p:cNvPr>
          <p:cNvSpPr>
            <a:spLocks xmlns:a="http://schemas.openxmlformats.org/drawingml/2006/main" noGrp="1"/>
          </p:cNvSpPr>
          <p:nvPr/>
        </p:nvSpPr>
        <p:spPr>
          <a:xfrm xmlns:a="http://schemas.openxmlformats.org/drawingml/2006/main">
            <a:off x="3204567" y="850850"/>
            <a:ext cx="2734866" cy="3270349"/>
          </a:xfrm>
          <a:prstGeom xmlns:a="http://schemas.openxmlformats.org/drawingml/2006/main" prst="roundRect">
            <a:avLst>
              <a:gd name="adj" fmla="val 3715"/>
            </a:avLst>
          </a:prstGeom>
          <a:solidFill xmlns:a="http://schemas.openxmlformats.org/drawingml/2006/main">
            <a:srgbClr val="FFF1F3"/>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15" name="Shape 13">
            <a:extLst xmlns:a="http://schemas.openxmlformats.org/drawingml/2006/main">
              <a:ext uri="{FF2B5EF4-FFF2-40B4-BE49-F238E27FC236}">
                <a16:creationId xmlns:a16="http://schemas.microsoft.com/office/drawing/2014/main" id="{7799116F-2609-4966-A2CF-989EF23094A1}"/>
              </a:ext>
            </a:extLst>
          </p:cNvPr>
          <p:cNvSpPr>
            <a:spLocks xmlns:a="http://schemas.openxmlformats.org/drawingml/2006/main" noGrp="1"/>
          </p:cNvSpPr>
          <p:nvPr/>
        </p:nvSpPr>
        <p:spPr>
          <a:xfrm xmlns:a="http://schemas.openxmlformats.org/drawingml/2006/main">
            <a:off x="3204567" y="855613"/>
            <a:ext cx="2734866"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6" name="Shape 14">
            <a:extLst xmlns:a="http://schemas.openxmlformats.org/drawingml/2006/main">
              <a:ext uri="{FF2B5EF4-FFF2-40B4-BE49-F238E27FC236}">
                <a16:creationId xmlns:a16="http://schemas.microsoft.com/office/drawing/2014/main" id="{27ABCAA6-2120-44F0-9EDD-438F35026089}"/>
              </a:ext>
            </a:extLst>
          </p:cNvPr>
          <p:cNvSpPr>
            <a:spLocks xmlns:a="http://schemas.openxmlformats.org/drawingml/2006/main" noGrp="1"/>
          </p:cNvSpPr>
          <p:nvPr/>
        </p:nvSpPr>
        <p:spPr>
          <a:xfrm xmlns:a="http://schemas.openxmlformats.org/drawingml/2006/main">
            <a:off x="5934670" y="850850"/>
            <a:ext cx="0" cy="3270349"/>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7" name="Shape 15">
            <a:extLst xmlns:a="http://schemas.openxmlformats.org/drawingml/2006/main">
              <a:ext uri="{FF2B5EF4-FFF2-40B4-BE49-F238E27FC236}">
                <a16:creationId xmlns:a16="http://schemas.microsoft.com/office/drawing/2014/main" id="{F6F32553-328D-49E7-ADBB-2DED95EB0C1C}"/>
              </a:ext>
            </a:extLst>
          </p:cNvPr>
          <p:cNvSpPr>
            <a:spLocks xmlns:a="http://schemas.openxmlformats.org/drawingml/2006/main" noGrp="1"/>
          </p:cNvSpPr>
          <p:nvPr/>
        </p:nvSpPr>
        <p:spPr>
          <a:xfrm xmlns:a="http://schemas.openxmlformats.org/drawingml/2006/main">
            <a:off x="3204567" y="4116437"/>
            <a:ext cx="2734866"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8" name="Shape 16">
            <a:extLst xmlns:a="http://schemas.openxmlformats.org/drawingml/2006/main">
              <a:ext uri="{FF2B5EF4-FFF2-40B4-BE49-F238E27FC236}">
                <a16:creationId xmlns:a16="http://schemas.microsoft.com/office/drawing/2014/main" id="{D0E424FE-5F0B-4C56-B382-9B092FC88526}"/>
              </a:ext>
            </a:extLst>
          </p:cNvPr>
          <p:cNvSpPr>
            <a:spLocks xmlns:a="http://schemas.openxmlformats.org/drawingml/2006/main" noGrp="1"/>
          </p:cNvSpPr>
          <p:nvPr/>
        </p:nvSpPr>
        <p:spPr>
          <a:xfrm xmlns:a="http://schemas.openxmlformats.org/drawingml/2006/main">
            <a:off x="3233142" y="850850"/>
            <a:ext cx="0" cy="3270349"/>
          </a:xfrm>
          <a:prstGeom xmlns:a="http://schemas.openxmlformats.org/drawingml/2006/main" prst="line">
            <a:avLst/>
          </a:prstGeom>
          <a:noFill xmlns:a="http://schemas.openxmlformats.org/drawingml/2006/main"/>
          <a:ln xmlns:a="http://schemas.openxmlformats.org/drawingml/2006/main" w="57150">
            <a:solidFill>
              <a:srgbClr val="D63B4A"/>
            </a:solidFill>
            <a:prstDash val="solid"/>
          </a:ln>
        </p:spPr>
      </p:sp>
      <p:sp>
        <p:nvSpPr>
          <p:cNvPr id="19" name="Text 17">
            <a:extLst xmlns:a="http://schemas.openxmlformats.org/drawingml/2006/main">
              <a:ext uri="{FF2B5EF4-FFF2-40B4-BE49-F238E27FC236}">
                <a16:creationId xmlns:a16="http://schemas.microsoft.com/office/drawing/2014/main" id="{9A88BEFF-D1CB-46D9-9D53-FA09A0E4AF5C}"/>
              </a:ext>
            </a:extLst>
          </p:cNvPr>
          <p:cNvSpPr>
            <a:spLocks xmlns:a="http://schemas.openxmlformats.org/drawingml/2006/main" noGrp="1"/>
          </p:cNvSpPr>
          <p:nvPr/>
        </p:nvSpPr>
        <p:spPr>
          <a:xfrm xmlns:a="http://schemas.openxmlformats.org/drawingml/2006/main">
            <a:off x="3414117" y="1012775"/>
            <a:ext cx="2410658" cy="3174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2500"/>
              </a:lnSpc>
              <a:spcAft>
                <a:spcPts val="500"/>
              </a:spcAft>
              <a:buNone/>
              <a:defRPr sz="2500" b="1">
                <a:solidFill>
                  <a:srgbClr val="234D78"/>
                </a:solidFill>
                <a:latin typeface="Arial"/>
                <a:ea typeface="Arial"/>
                <a:cs typeface="Arial"/>
              </a:defRPr>
            </a:pPr>
            <a:r>
              <a:rPr sz="2500" b="1">
                <a:solidFill>
                  <a:srgbClr val="234D78"/>
                </a:solidFill>
                <a:latin typeface="Arial"/>
                <a:ea typeface="Arial"/>
                <a:cs typeface="Arial"/>
              </a:rPr>
              <a:t>CORRECT</a:t>
            </a:r>
            <a:endParaRPr sz="2500"/>
          </a:p>
        </p:txBody>
      </p:sp>
      <p:sp>
        <p:nvSpPr>
          <p:cNvPr id="20" name="Text 18">
            <a:extLst xmlns:a="http://schemas.openxmlformats.org/drawingml/2006/main">
              <a:ext uri="{FF2B5EF4-FFF2-40B4-BE49-F238E27FC236}">
                <a16:creationId xmlns:a16="http://schemas.microsoft.com/office/drawing/2014/main" id="{506C03A3-EF9C-4CE5-B248-6EB3FBE08428}"/>
              </a:ext>
            </a:extLst>
          </p:cNvPr>
          <p:cNvSpPr>
            <a:spLocks xmlns:a="http://schemas.openxmlformats.org/drawingml/2006/main" noGrp="1"/>
          </p:cNvSpPr>
          <p:nvPr/>
        </p:nvSpPr>
        <p:spPr>
          <a:xfrm xmlns:a="http://schemas.openxmlformats.org/drawingml/2006/main">
            <a:off x="3414117" y="1393627"/>
            <a:ext cx="2410658"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Use a shared edit primitive</a:t>
            </a:r>
            <a:endParaRPr sz="1400"/>
          </a:p>
        </p:txBody>
      </p:sp>
      <p:sp>
        <p:nvSpPr>
          <p:cNvPr id="21" name="Text 19">
            <a:extLst xmlns:a="http://schemas.openxmlformats.org/drawingml/2006/main">
              <a:ext uri="{FF2B5EF4-FFF2-40B4-BE49-F238E27FC236}">
                <a16:creationId xmlns:a16="http://schemas.microsoft.com/office/drawing/2014/main" id="{D95F59D3-3DE1-4AE4-A0DC-997BE987E340}"/>
              </a:ext>
            </a:extLst>
          </p:cNvPr>
          <p:cNvSpPr>
            <a:spLocks xmlns:a="http://schemas.openxmlformats.org/drawingml/2006/main" noGrp="1"/>
          </p:cNvSpPr>
          <p:nvPr/>
        </p:nvSpPr>
        <p:spPr>
          <a:xfrm xmlns:a="http://schemas.openxmlformats.org/drawingml/2006/main">
            <a:off x="3414117" y="1661517"/>
            <a:ext cx="2410658" cy="383977"/>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513"/>
              </a:lnSpc>
              <a:buNone/>
              <a:defRPr sz="1220" b="0">
                <a:solidFill>
                  <a:srgbClr val="12263A"/>
                </a:solidFill>
                <a:latin typeface="Arial"/>
                <a:ea typeface="Arial"/>
                <a:cs typeface="Arial"/>
              </a:defRPr>
            </a:pPr>
            <a:r>
              <a:rPr sz="1220" b="0">
                <a:solidFill>
                  <a:srgbClr val="12263A"/>
                </a:solidFill>
                <a:latin typeface="Arial"/>
                <a:ea typeface="Arial"/>
                <a:cs typeface="Arial"/>
              </a:rPr>
              <a:t>Offsets, waypoints, or phases under a defined contract. Save a new artifact and preserve the original.</a:t>
            </a:r>
            <a:endParaRPr sz="1220"/>
          </a:p>
        </p:txBody>
      </p:sp>
      <p:sp>
        <p:nvSpPr>
          <p:cNvPr id="22" name="Text 20">
            <a:extLst xmlns:a="http://schemas.openxmlformats.org/drawingml/2006/main">
              <a:ext uri="{FF2B5EF4-FFF2-40B4-BE49-F238E27FC236}">
                <a16:creationId xmlns:a16="http://schemas.microsoft.com/office/drawing/2014/main" id="{BF0354D5-49E0-44B6-A1A6-6026B943B000}"/>
              </a:ext>
            </a:extLst>
          </p:cNvPr>
          <p:cNvSpPr>
            <a:spLocks xmlns:a="http://schemas.openxmlformats.org/drawingml/2006/main" noGrp="1"/>
          </p:cNvSpPr>
          <p:nvPr/>
        </p:nvSpPr>
        <p:spPr>
          <a:xfrm xmlns:a="http://schemas.openxmlformats.org/drawingml/2006/main">
            <a:off x="6066383" y="850850"/>
            <a:ext cx="2734717" cy="3270349"/>
          </a:xfrm>
          <a:prstGeom xmlns:a="http://schemas.openxmlformats.org/drawingml/2006/main" prst="roundRect">
            <a:avLst>
              <a:gd name="adj" fmla="val 3715"/>
            </a:avLst>
          </a:prstGeom>
          <a:solidFill xmlns:a="http://schemas.openxmlformats.org/drawingml/2006/main">
            <a:srgbClr val="EDFAF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23" name="Shape 21">
            <a:extLst xmlns:a="http://schemas.openxmlformats.org/drawingml/2006/main">
              <a:ext uri="{FF2B5EF4-FFF2-40B4-BE49-F238E27FC236}">
                <a16:creationId xmlns:a16="http://schemas.microsoft.com/office/drawing/2014/main" id="{42923484-1DD9-4E0A-B154-9429F67E610B}"/>
              </a:ext>
            </a:extLst>
          </p:cNvPr>
          <p:cNvSpPr>
            <a:spLocks xmlns:a="http://schemas.openxmlformats.org/drawingml/2006/main" noGrp="1"/>
          </p:cNvSpPr>
          <p:nvPr/>
        </p:nvSpPr>
        <p:spPr>
          <a:xfrm xmlns:a="http://schemas.openxmlformats.org/drawingml/2006/main">
            <a:off x="6066383" y="855613"/>
            <a:ext cx="2734717"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24" name="Shape 22">
            <a:extLst xmlns:a="http://schemas.openxmlformats.org/drawingml/2006/main">
              <a:ext uri="{FF2B5EF4-FFF2-40B4-BE49-F238E27FC236}">
                <a16:creationId xmlns:a16="http://schemas.microsoft.com/office/drawing/2014/main" id="{10F22A37-0EC4-4F46-97C8-B4BFBFD90651}"/>
              </a:ext>
            </a:extLst>
          </p:cNvPr>
          <p:cNvSpPr>
            <a:spLocks xmlns:a="http://schemas.openxmlformats.org/drawingml/2006/main" noGrp="1"/>
          </p:cNvSpPr>
          <p:nvPr/>
        </p:nvSpPr>
        <p:spPr>
          <a:xfrm xmlns:a="http://schemas.openxmlformats.org/drawingml/2006/main">
            <a:off x="8796338" y="850850"/>
            <a:ext cx="0" cy="3270349"/>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25" name="Shape 23">
            <a:extLst xmlns:a="http://schemas.openxmlformats.org/drawingml/2006/main">
              <a:ext uri="{FF2B5EF4-FFF2-40B4-BE49-F238E27FC236}">
                <a16:creationId xmlns:a16="http://schemas.microsoft.com/office/drawing/2014/main" id="{59DE68F8-E547-4046-A86A-711A63045EB8}"/>
              </a:ext>
            </a:extLst>
          </p:cNvPr>
          <p:cNvSpPr>
            <a:spLocks xmlns:a="http://schemas.openxmlformats.org/drawingml/2006/main" noGrp="1"/>
          </p:cNvSpPr>
          <p:nvPr/>
        </p:nvSpPr>
        <p:spPr>
          <a:xfrm xmlns:a="http://schemas.openxmlformats.org/drawingml/2006/main">
            <a:off x="6066383" y="4116437"/>
            <a:ext cx="2734717"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26" name="Shape 24">
            <a:extLst xmlns:a="http://schemas.openxmlformats.org/drawingml/2006/main">
              <a:ext uri="{FF2B5EF4-FFF2-40B4-BE49-F238E27FC236}">
                <a16:creationId xmlns:a16="http://schemas.microsoft.com/office/drawing/2014/main" id="{99AFF168-5368-405F-A62F-DBEF773D8ACA}"/>
              </a:ext>
            </a:extLst>
          </p:cNvPr>
          <p:cNvSpPr>
            <a:spLocks xmlns:a="http://schemas.openxmlformats.org/drawingml/2006/main" noGrp="1"/>
          </p:cNvSpPr>
          <p:nvPr/>
        </p:nvSpPr>
        <p:spPr>
          <a:xfrm xmlns:a="http://schemas.openxmlformats.org/drawingml/2006/main">
            <a:off x="6094958" y="850850"/>
            <a:ext cx="0" cy="3270349"/>
          </a:xfrm>
          <a:prstGeom xmlns:a="http://schemas.openxmlformats.org/drawingml/2006/main" prst="line">
            <a:avLst/>
          </a:prstGeom>
          <a:noFill xmlns:a="http://schemas.openxmlformats.org/drawingml/2006/main"/>
          <a:ln xmlns:a="http://schemas.openxmlformats.org/drawingml/2006/main" w="57150">
            <a:solidFill>
              <a:srgbClr val="1D9E91"/>
            </a:solidFill>
            <a:prstDash val="solid"/>
          </a:ln>
        </p:spPr>
      </p:sp>
      <p:sp>
        <p:nvSpPr>
          <p:cNvPr id="27" name="Text 25">
            <a:extLst xmlns:a="http://schemas.openxmlformats.org/drawingml/2006/main">
              <a:ext uri="{FF2B5EF4-FFF2-40B4-BE49-F238E27FC236}">
                <a16:creationId xmlns:a16="http://schemas.microsoft.com/office/drawing/2014/main" id="{815F98AC-C4C4-4504-B4A4-2CB7A9937BE6}"/>
              </a:ext>
            </a:extLst>
          </p:cNvPr>
          <p:cNvSpPr>
            <a:spLocks xmlns:a="http://schemas.openxmlformats.org/drawingml/2006/main" noGrp="1"/>
          </p:cNvSpPr>
          <p:nvPr/>
        </p:nvSpPr>
        <p:spPr>
          <a:xfrm xmlns:a="http://schemas.openxmlformats.org/drawingml/2006/main">
            <a:off x="6275933" y="1012775"/>
            <a:ext cx="2410507" cy="3174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2500"/>
              </a:lnSpc>
              <a:spcAft>
                <a:spcPts val="500"/>
              </a:spcAft>
              <a:buNone/>
              <a:defRPr sz="2500" b="1">
                <a:solidFill>
                  <a:srgbClr val="234D78"/>
                </a:solidFill>
                <a:latin typeface="Arial"/>
                <a:ea typeface="Arial"/>
                <a:cs typeface="Arial"/>
              </a:defRPr>
            </a:pPr>
            <a:r>
              <a:rPr sz="2500" b="1">
                <a:solidFill>
                  <a:srgbClr val="234D78"/>
                </a:solidFill>
                <a:latin typeface="Arial"/>
                <a:ea typeface="Arial"/>
                <a:cs typeface="Arial"/>
              </a:rPr>
              <a:t>REPLAY</a:t>
            </a:r>
            <a:endParaRPr sz="2500"/>
          </a:p>
        </p:txBody>
      </p:sp>
      <p:sp>
        <p:nvSpPr>
          <p:cNvPr id="28" name="Text 26">
            <a:extLst xmlns:a="http://schemas.openxmlformats.org/drawingml/2006/main">
              <a:ext uri="{FF2B5EF4-FFF2-40B4-BE49-F238E27FC236}">
                <a16:creationId xmlns:a16="http://schemas.microsoft.com/office/drawing/2014/main" id="{5E5B40B4-BA98-4699-8A5D-2CF79D7463E4}"/>
              </a:ext>
            </a:extLst>
          </p:cNvPr>
          <p:cNvSpPr>
            <a:spLocks xmlns:a="http://schemas.openxmlformats.org/drawingml/2006/main" noGrp="1"/>
          </p:cNvSpPr>
          <p:nvPr/>
        </p:nvSpPr>
        <p:spPr>
          <a:xfrm xmlns:a="http://schemas.openxmlformats.org/drawingml/2006/main">
            <a:off x="6275933" y="1393627"/>
            <a:ext cx="2410507"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Outcome and provenance</a:t>
            </a:r>
            <a:endParaRPr sz="1400"/>
          </a:p>
        </p:txBody>
      </p:sp>
      <p:sp>
        <p:nvSpPr>
          <p:cNvPr id="29" name="Text 27">
            <a:extLst xmlns:a="http://schemas.openxmlformats.org/drawingml/2006/main">
              <a:ext uri="{FF2B5EF4-FFF2-40B4-BE49-F238E27FC236}">
                <a16:creationId xmlns:a16="http://schemas.microsoft.com/office/drawing/2014/main" id="{77DA42C0-68AE-4CB8-A965-DE27EC5EF8CA}"/>
              </a:ext>
            </a:extLst>
          </p:cNvPr>
          <p:cNvSpPr>
            <a:spLocks xmlns:a="http://schemas.openxmlformats.org/drawingml/2006/main" noGrp="1"/>
          </p:cNvSpPr>
          <p:nvPr/>
        </p:nvSpPr>
        <p:spPr>
          <a:xfrm xmlns:a="http://schemas.openxmlformats.org/drawingml/2006/main">
            <a:off x="6275933" y="1661517"/>
            <a:ext cx="2410507" cy="57596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513"/>
              </a:lnSpc>
              <a:buNone/>
              <a:defRPr sz="1220" b="0">
                <a:solidFill>
                  <a:srgbClr val="12263A"/>
                </a:solidFill>
                <a:latin typeface="Arial"/>
                <a:ea typeface="Arial"/>
                <a:cs typeface="Arial"/>
              </a:defRPr>
            </a:pPr>
            <a:r>
              <a:rPr sz="1220" b="0">
                <a:solidFill>
                  <a:srgbClr val="12263A"/>
                </a:solidFill>
                <a:latin typeface="Arial"/>
                <a:ea typeface="Arial"/>
                <a:cs typeface="Arial"/>
              </a:rPr>
              <a:t>Retarget again and retain failures. Record authority labels when exporting training data.</a:t>
            </a:r>
            <a:endParaRPr sz="1220"/>
          </a:p>
        </p:txBody>
      </p:sp>
      <p:sp>
        <p:nvSpPr>
          <p:cNvPr id="30" name="Text 28">
            <a:extLst xmlns:a="http://schemas.openxmlformats.org/drawingml/2006/main">
              <a:ext uri="{FF2B5EF4-FFF2-40B4-BE49-F238E27FC236}">
                <a16:creationId xmlns:a16="http://schemas.microsoft.com/office/drawing/2014/main" id="{930D8778-CED9-4CA9-AF49-FB6D10BFF19C}"/>
              </a:ext>
            </a:extLst>
          </p:cNvPr>
          <p:cNvSpPr>
            <a:spLocks xmlns:a="http://schemas.openxmlformats.org/drawingml/2006/main" noGrp="1"/>
          </p:cNvSpPr>
          <p:nvPr/>
        </p:nvSpPr>
        <p:spPr>
          <a:xfrm xmlns:a="http://schemas.openxmlformats.org/drawingml/2006/main">
            <a:off x="342900" y="4235500"/>
            <a:ext cx="8458200" cy="425500"/>
          </a:xfrm>
          <a:prstGeom xmlns:a="http://schemas.openxmlformats.org/drawingml/2006/main" prst="rect">
            <a:avLst/>
          </a:prstGeom>
          <a:solidFill xmlns:a="http://schemas.openxmlformats.org/drawingml/2006/main">
            <a:srgbClr val="EEF4F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31" name="Shape 29">
            <a:extLst xmlns:a="http://schemas.openxmlformats.org/drawingml/2006/main">
              <a:ext uri="{FF2B5EF4-FFF2-40B4-BE49-F238E27FC236}">
                <a16:creationId xmlns:a16="http://schemas.microsoft.com/office/drawing/2014/main" id="{63A9AF41-6AD7-40B6-A948-DE4CD02A80F4}"/>
              </a:ext>
            </a:extLst>
          </p:cNvPr>
          <p:cNvSpPr>
            <a:spLocks xmlns:a="http://schemas.openxmlformats.org/drawingml/2006/main" noGrp="1"/>
          </p:cNvSpPr>
          <p:nvPr/>
        </p:nvSpPr>
        <p:spPr>
          <a:xfrm xmlns:a="http://schemas.openxmlformats.org/drawingml/2006/main">
            <a:off x="371475" y="4235500"/>
            <a:ext cx="0" cy="425500"/>
          </a:xfrm>
          <a:prstGeom xmlns:a="http://schemas.openxmlformats.org/drawingml/2006/main" prst="line">
            <a:avLst/>
          </a:prstGeom>
          <a:noFill xmlns:a="http://schemas.openxmlformats.org/drawingml/2006/main"/>
          <a:ln xmlns:a="http://schemas.openxmlformats.org/drawingml/2006/main" w="57150">
            <a:solidFill>
              <a:srgbClr val="D63B4A"/>
            </a:solidFill>
            <a:prstDash val="solid"/>
          </a:ln>
        </p:spPr>
      </p:sp>
      <p:sp>
        <p:nvSpPr>
          <p:cNvPr id="32" name="Text 30">
            <a:extLst xmlns:a="http://schemas.openxmlformats.org/drawingml/2006/main">
              <a:ext uri="{FF2B5EF4-FFF2-40B4-BE49-F238E27FC236}">
                <a16:creationId xmlns:a16="http://schemas.microsoft.com/office/drawing/2014/main" id="{7DCCB7C6-CABE-4132-A286-30D205045FCF}"/>
              </a:ext>
            </a:extLst>
          </p:cNvPr>
          <p:cNvSpPr>
            <a:spLocks xmlns:a="http://schemas.openxmlformats.org/drawingml/2006/main" noGrp="1"/>
          </p:cNvSpPr>
          <p:nvPr/>
        </p:nvSpPr>
        <p:spPr>
          <a:xfrm xmlns:a="http://schemas.openxmlformats.org/drawingml/2006/main">
            <a:off x="552450" y="4349800"/>
            <a:ext cx="8258175" cy="1969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550"/>
              </a:lnSpc>
              <a:buNone/>
              <a:defRPr sz="1250" b="1">
                <a:solidFill>
                  <a:srgbClr val="16344F"/>
                </a:solidFill>
                <a:latin typeface="Arial"/>
                <a:ea typeface="Arial"/>
                <a:cs typeface="Arial"/>
              </a:defRPr>
            </a:pPr>
            <a:r>
              <a:rPr sz="1250" b="1">
                <a:solidFill>
                  <a:srgbClr val="16344F"/>
                </a:solidFill>
                <a:latin typeface="Arial"/>
                <a:ea typeface="Arial"/>
                <a:cs typeface="Arial"/>
              </a:rPr>
              <a:t>The terminal editor measures session elapsed time. Active editing, review, and waiting remain unseparated.</a:t>
            </a:r>
            <a:endParaRPr sz="1250"/>
          </a:p>
        </p:txBody>
      </p:sp>
      <p:sp>
        <p:nvSpPr>
          <p:cNvPr id="33" name="Text 31">
            <a:extLst xmlns:a="http://schemas.openxmlformats.org/drawingml/2006/main">
              <a:ext uri="{FF2B5EF4-FFF2-40B4-BE49-F238E27FC236}">
                <a16:creationId xmlns:a16="http://schemas.microsoft.com/office/drawing/2014/main" id="{1AB25911-4764-43CA-9B6F-87C4BDA48FC6}"/>
              </a:ext>
            </a:extLst>
          </p:cNvPr>
          <p:cNvSpPr>
            <a:spLocks xmlns:a="http://schemas.openxmlformats.org/drawingml/2006/main" noGrp="1"/>
          </p:cNvSpPr>
          <p:nvPr/>
        </p:nvSpPr>
        <p:spPr>
          <a:xfrm xmlns:a="http://schemas.openxmlformats.org/drawingml/2006/main">
            <a:off x="8339328" y="4965192"/>
            <a:ext cx="502920"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60">
                <a:solidFill>
                  <a:srgbClr val="7A8794"/>
                </a:solidFill>
                <a:latin typeface="Arial"/>
                <a:ea typeface="Arial"/>
                <a:cs typeface="Arial"/>
              </a:rPr>
              <a:t>23 / 31</a:t>
            </a:r>
            <a:endParaRPr sz="660"/>
          </a:p>
        </p:txBody>
      </p:sp>
      <p:sp>
        <p:nvSpPr>
          <p:cNvPr id="34" name="Sources footer">
            <a:extLst xmlns:a="http://schemas.openxmlformats.org/drawingml/2006/main">
              <a:ext uri="{FF2B5EF4-FFF2-40B4-BE49-F238E27FC236}">
                <a16:creationId xmlns:a16="http://schemas.microsoft.com/office/drawing/2014/main" id="{354035C3-65BC-4EB4-98BF-E0D2B9B2820F}"/>
              </a:ext>
            </a:extLst>
          </p:cNvPr>
          <p:cNvSpPr>
            <a:spLocks xmlns:a="http://schemas.openxmlformats.org/drawingml/2006/main" noGrp="1"/>
          </p:cNvSpPr>
          <p:nvPr/>
        </p:nvSpPr>
        <p:spPr>
          <a:xfrm xmlns:a="http://schemas.openxmlformats.org/drawingml/2006/main">
            <a:off x="438150" y="4924425"/>
            <a:ext cx="72961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40" b="0">
                <a:solidFill>
                  <a:srgbClr val="234D78"/>
                </a:solidFill>
                <a:latin typeface="Arial"/>
                <a:ea typeface="Arial"/>
                <a:cs typeface="Arial"/>
              </a:defRPr>
            </a:pPr>
            <a:r>
              <a:rPr sz="640" b="0">
                <a:solidFill>
                  <a:srgbClr val="234D78"/>
                </a:solidFill>
                <a:latin typeface="Arial"/>
                <a:ea typeface="Arial"/>
                <a:cs typeface="Arial"/>
                <a:hlinkClick xmlns:r="http://schemas.openxmlformats.org/officeDocument/2006/relationships" r:id="R7f730687760a4e7f"/>
              </a:rPr>
              <a:t>Reader guide and sources</a:t>
            </a:r>
          </a:p>
        </p:txBody>
      </p:sp>
    </p:spTree>
    <p:extLst>
      <p:ext uri="{BB962C8B-B14F-4D97-AF65-F5344CB8AC3E}">
        <p14:creationId xmlns:p14="http://schemas.microsoft.com/office/powerpoint/2010/main" val="167527553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F869AF3-FC28-4099-8085-0B6D7CA69DDB}"/>
              </a:ext>
            </a:extLst>
          </p:cNvPr>
          <p:cNvSpPr>
            <a:spLocks xmlns:a="http://schemas.openxmlformats.org/drawingml/2006/main" noGrp="1"/>
          </p:cNvSpPr>
          <p:nvPr/>
        </p:nvSpPr>
        <p:spPr>
          <a:xfrm xmlns:a="http://schemas.openxmlformats.org/drawingml/2006/main">
            <a:off x="0" y="0"/>
            <a:ext cx="9144000" cy="609600"/>
          </a:xfrm>
          <a:prstGeom xmlns:a="http://schemas.openxmlformats.org/drawingml/2006/main" prst="rect">
            <a:avLst/>
          </a:prstGeom>
          <a:solidFill xmlns:a="http://schemas.openxmlformats.org/drawingml/2006/main">
            <a:srgbClr val="234D7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3" name="Text 1">
            <a:extLst xmlns:a="http://schemas.openxmlformats.org/drawingml/2006/main">
              <a:ext uri="{FF2B5EF4-FFF2-40B4-BE49-F238E27FC236}">
                <a16:creationId xmlns:a16="http://schemas.microsoft.com/office/drawing/2014/main" id="{B649FB0C-8DC0-43FF-BD7B-BB7649E375C5}"/>
              </a:ext>
            </a:extLst>
          </p:cNvPr>
          <p:cNvSpPr>
            <a:spLocks xmlns:a="http://schemas.openxmlformats.org/drawingml/2006/main" noGrp="1"/>
          </p:cNvSpPr>
          <p:nvPr/>
        </p:nvSpPr>
        <p:spPr>
          <a:xfrm xmlns:a="http://schemas.openxmlformats.org/drawingml/2006/main">
            <a:off x="330136" y="164116"/>
            <a:ext cx="6619875" cy="3238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2415"/>
              </a:lnSpc>
              <a:buNone/>
              <a:defRPr sz="2300" b="1">
                <a:solidFill>
                  <a:srgbClr val="FFFFFF"/>
                </a:solidFill>
                <a:latin typeface="Arial"/>
                <a:ea typeface="Arial"/>
                <a:cs typeface="Arial"/>
              </a:defRPr>
            </a:pPr>
            <a:r>
              <a:rPr sz="2300" b="1">
                <a:solidFill>
                  <a:srgbClr val="FFFFFF"/>
                </a:solidFill>
                <a:latin typeface="Arial"/>
                <a:ea typeface="Arial"/>
                <a:cs typeface="Arial"/>
              </a:rPr>
              <a:t>Manipulation demonstration in MuJoCo</a:t>
            </a:r>
            <a:endParaRPr sz="2300"/>
          </a:p>
        </p:txBody>
      </p:sp>
      <p:sp>
        <p:nvSpPr>
          <p:cNvPr id="4" name="Text 2">
            <a:extLst xmlns:a="http://schemas.openxmlformats.org/drawingml/2006/main">
              <a:ext uri="{FF2B5EF4-FFF2-40B4-BE49-F238E27FC236}">
                <a16:creationId xmlns:a16="http://schemas.microsoft.com/office/drawing/2014/main" id="{7E177F82-8CD7-455D-895A-B20A4A70D824}"/>
              </a:ext>
            </a:extLst>
          </p:cNvPr>
          <p:cNvSpPr>
            <a:spLocks xmlns:a="http://schemas.openxmlformats.org/drawingml/2006/main" noGrp="1"/>
          </p:cNvSpPr>
          <p:nvPr/>
        </p:nvSpPr>
        <p:spPr>
          <a:xfrm xmlns:a="http://schemas.openxmlformats.org/drawingml/2006/main">
            <a:off x="7372350" y="190500"/>
            <a:ext cx="14478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r">
              <a:lnSpc>
                <a:spcPts val="1054"/>
              </a:lnSpc>
              <a:buNone/>
              <a:defRPr sz="788" b="1">
                <a:solidFill>
                  <a:srgbClr val="FFFFFF"/>
                </a:solidFill>
                <a:latin typeface="Arial"/>
                <a:ea typeface="Arial"/>
                <a:cs typeface="Arial"/>
              </a:defRPr>
            </a:pPr>
            <a:r>
              <a:rPr sz="788" b="1">
                <a:solidFill>
                  <a:srgbClr val="FFFFFF"/>
                </a:solidFill>
                <a:latin typeface="Arial"/>
                <a:ea typeface="Arial"/>
                <a:cs typeface="Arial"/>
              </a:rPr>
              <a:t>CS CAPSTONE REFERENCE</a:t>
            </a:r>
            <a:endParaRPr sz="850"/>
          </a:p>
        </p:txBody>
      </p:sp>
      <p:sp>
        <p:nvSpPr>
          <p:cNvPr id="5" name="Text 3">
            <a:extLst xmlns:a="http://schemas.openxmlformats.org/drawingml/2006/main">
              <a:ext uri="{FF2B5EF4-FFF2-40B4-BE49-F238E27FC236}">
                <a16:creationId xmlns:a16="http://schemas.microsoft.com/office/drawing/2014/main" id="{44188F57-0C2D-4105-A91C-5E87ECBAF7B8}"/>
              </a:ext>
            </a:extLst>
          </p:cNvPr>
          <p:cNvSpPr>
            <a:spLocks xmlns:a="http://schemas.openxmlformats.org/drawingml/2006/main" noGrp="1"/>
          </p:cNvSpPr>
          <p:nvPr/>
        </p:nvSpPr>
        <p:spPr>
          <a:xfrm xmlns:a="http://schemas.openxmlformats.org/drawingml/2006/main">
            <a:off x="330101" y="609600"/>
            <a:ext cx="787301" cy="38100"/>
          </a:xfrm>
          <a:prstGeom xmlns:a="http://schemas.openxmlformats.org/drawingml/2006/main" prst="rect">
            <a:avLst/>
          </a:prstGeom>
          <a:solidFill xmlns:a="http://schemas.openxmlformats.org/drawingml/2006/main">
            <a:srgbClr val="D63B4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6" name="Text 4">
            <a:extLst xmlns:a="http://schemas.openxmlformats.org/drawingml/2006/main">
              <a:ext uri="{FF2B5EF4-FFF2-40B4-BE49-F238E27FC236}">
                <a16:creationId xmlns:a16="http://schemas.microsoft.com/office/drawing/2014/main" id="{BD922E74-2677-401D-8E67-C7B5561537FB}"/>
              </a:ext>
            </a:extLst>
          </p:cNvPr>
          <p:cNvSpPr>
            <a:spLocks xmlns:a="http://schemas.openxmlformats.org/drawingml/2006/main" noGrp="1"/>
          </p:cNvSpPr>
          <p:nvPr/>
        </p:nvSpPr>
        <p:spPr>
          <a:xfrm xmlns:a="http://schemas.openxmlformats.org/drawingml/2006/main">
            <a:off x="342900" y="850850"/>
            <a:ext cx="5524054" cy="3810149"/>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CAD6E2"/>
            </a:solidFill>
          </a:ln>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8" name="Text 5">
            <a:extLst xmlns:a="http://schemas.openxmlformats.org/drawingml/2006/main">
              <a:ext uri="{FF2B5EF4-FFF2-40B4-BE49-F238E27FC236}">
                <a16:creationId xmlns:a16="http://schemas.microsoft.com/office/drawing/2014/main" id="{90A3DE3E-1335-4E41-9C2E-C5C34BC0D485}"/>
              </a:ext>
            </a:extLst>
          </p:cNvPr>
          <p:cNvSpPr>
            <a:spLocks xmlns:a="http://schemas.openxmlformats.org/drawingml/2006/main" noGrp="1"/>
          </p:cNvSpPr>
          <p:nvPr/>
        </p:nvSpPr>
        <p:spPr>
          <a:xfrm xmlns:a="http://schemas.openxmlformats.org/drawingml/2006/main">
            <a:off x="6019354" y="850850"/>
            <a:ext cx="2781746" cy="1847850"/>
          </a:xfrm>
          <a:prstGeom xmlns:a="http://schemas.openxmlformats.org/drawingml/2006/main" prst="roundRect">
            <a:avLst>
              <a:gd name="adj" fmla="val 5498"/>
            </a:avLst>
          </a:prstGeom>
          <a:solidFill xmlns:a="http://schemas.openxmlformats.org/drawingml/2006/main">
            <a:srgbClr val="EDFAF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9" name="Shape 6">
            <a:extLst xmlns:a="http://schemas.openxmlformats.org/drawingml/2006/main">
              <a:ext uri="{FF2B5EF4-FFF2-40B4-BE49-F238E27FC236}">
                <a16:creationId xmlns:a16="http://schemas.microsoft.com/office/drawing/2014/main" id="{F74E9B8F-E820-4E3E-80FB-B5DE0A9DF139}"/>
              </a:ext>
            </a:extLst>
          </p:cNvPr>
          <p:cNvSpPr>
            <a:spLocks xmlns:a="http://schemas.openxmlformats.org/drawingml/2006/main" noGrp="1"/>
          </p:cNvSpPr>
          <p:nvPr/>
        </p:nvSpPr>
        <p:spPr>
          <a:xfrm xmlns:a="http://schemas.openxmlformats.org/drawingml/2006/main">
            <a:off x="6019354" y="855613"/>
            <a:ext cx="2781746"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0" name="Shape 7">
            <a:extLst xmlns:a="http://schemas.openxmlformats.org/drawingml/2006/main">
              <a:ext uri="{FF2B5EF4-FFF2-40B4-BE49-F238E27FC236}">
                <a16:creationId xmlns:a16="http://schemas.microsoft.com/office/drawing/2014/main" id="{EC8AA9DA-EFE2-44C8-B07C-790C72AADC1C}"/>
              </a:ext>
            </a:extLst>
          </p:cNvPr>
          <p:cNvSpPr>
            <a:spLocks xmlns:a="http://schemas.openxmlformats.org/drawingml/2006/main" noGrp="1"/>
          </p:cNvSpPr>
          <p:nvPr/>
        </p:nvSpPr>
        <p:spPr>
          <a:xfrm xmlns:a="http://schemas.openxmlformats.org/drawingml/2006/main">
            <a:off x="8796338" y="850850"/>
            <a:ext cx="0" cy="184785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1" name="Shape 8">
            <a:extLst xmlns:a="http://schemas.openxmlformats.org/drawingml/2006/main">
              <a:ext uri="{FF2B5EF4-FFF2-40B4-BE49-F238E27FC236}">
                <a16:creationId xmlns:a16="http://schemas.microsoft.com/office/drawing/2014/main" id="{9150FB69-4D54-4528-BC51-1144C736FAB2}"/>
              </a:ext>
            </a:extLst>
          </p:cNvPr>
          <p:cNvSpPr>
            <a:spLocks xmlns:a="http://schemas.openxmlformats.org/drawingml/2006/main" noGrp="1"/>
          </p:cNvSpPr>
          <p:nvPr/>
        </p:nvSpPr>
        <p:spPr>
          <a:xfrm xmlns:a="http://schemas.openxmlformats.org/drawingml/2006/main">
            <a:off x="6019354" y="2693938"/>
            <a:ext cx="2781746"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2" name="Shape 9">
            <a:extLst xmlns:a="http://schemas.openxmlformats.org/drawingml/2006/main">
              <a:ext uri="{FF2B5EF4-FFF2-40B4-BE49-F238E27FC236}">
                <a16:creationId xmlns:a16="http://schemas.microsoft.com/office/drawing/2014/main" id="{A1265360-6065-445A-AE8C-81B9AFD1D413}"/>
              </a:ext>
            </a:extLst>
          </p:cNvPr>
          <p:cNvSpPr>
            <a:spLocks xmlns:a="http://schemas.openxmlformats.org/drawingml/2006/main" noGrp="1"/>
          </p:cNvSpPr>
          <p:nvPr/>
        </p:nvSpPr>
        <p:spPr>
          <a:xfrm xmlns:a="http://schemas.openxmlformats.org/drawingml/2006/main">
            <a:off x="6047929" y="850850"/>
            <a:ext cx="0" cy="1847850"/>
          </a:xfrm>
          <a:prstGeom xmlns:a="http://schemas.openxmlformats.org/drawingml/2006/main" prst="line">
            <a:avLst/>
          </a:prstGeom>
          <a:noFill xmlns:a="http://schemas.openxmlformats.org/drawingml/2006/main"/>
          <a:ln xmlns:a="http://schemas.openxmlformats.org/drawingml/2006/main" w="57150">
            <a:solidFill>
              <a:srgbClr val="1D9E91"/>
            </a:solidFill>
            <a:prstDash val="solid"/>
          </a:ln>
        </p:spPr>
      </p:sp>
      <p:sp>
        <p:nvSpPr>
          <p:cNvPr id="13" name="Text 10">
            <a:extLst xmlns:a="http://schemas.openxmlformats.org/drawingml/2006/main">
              <a:ext uri="{FF2B5EF4-FFF2-40B4-BE49-F238E27FC236}">
                <a16:creationId xmlns:a16="http://schemas.microsoft.com/office/drawing/2014/main" id="{42B707A7-94BB-4985-8231-486A55A66226}"/>
              </a:ext>
            </a:extLst>
          </p:cNvPr>
          <p:cNvSpPr>
            <a:spLocks xmlns:a="http://schemas.openxmlformats.org/drawingml/2006/main" noGrp="1"/>
          </p:cNvSpPr>
          <p:nvPr/>
        </p:nvSpPr>
        <p:spPr>
          <a:xfrm xmlns:a="http://schemas.openxmlformats.org/drawingml/2006/main">
            <a:off x="6228904" y="1012775"/>
            <a:ext cx="2458477"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Engineering evidence</a:t>
            </a:r>
            <a:endParaRPr sz="1400"/>
          </a:p>
        </p:txBody>
      </p:sp>
      <p:sp>
        <p:nvSpPr>
          <p:cNvPr id="14" name="Text 11">
            <a:extLst xmlns:a="http://schemas.openxmlformats.org/drawingml/2006/main">
              <a:ext uri="{FF2B5EF4-FFF2-40B4-BE49-F238E27FC236}">
                <a16:creationId xmlns:a16="http://schemas.microsoft.com/office/drawing/2014/main" id="{7F2F7005-5FF3-46D5-B225-BF329D7985EE}"/>
              </a:ext>
            </a:extLst>
          </p:cNvPr>
          <p:cNvSpPr>
            <a:spLocks xmlns:a="http://schemas.openxmlformats.org/drawingml/2006/main" noGrp="1"/>
          </p:cNvSpPr>
          <p:nvPr/>
        </p:nvSpPr>
        <p:spPr>
          <a:xfrm xmlns:a="http://schemas.openxmlformats.org/drawingml/2006/main">
            <a:off x="6444704" y="1280666"/>
            <a:ext cx="2194471" cy="91246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Panda source, UR5e target.</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Contact physics.</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Clean simulator state.</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Predicate-based success.</a:t>
            </a:r>
            <a:endParaRPr sz="1170"/>
          </a:p>
        </p:txBody>
      </p:sp>
      <p:sp>
        <p:nvSpPr>
          <p:cNvPr id="15" name="Text 12">
            <a:extLst xmlns:a="http://schemas.openxmlformats.org/drawingml/2006/main">
              <a:ext uri="{FF2B5EF4-FFF2-40B4-BE49-F238E27FC236}">
                <a16:creationId xmlns:a16="http://schemas.microsoft.com/office/drawing/2014/main" id="{DB6C250E-A8A6-4502-874A-FF1353BB4215}"/>
              </a:ext>
            </a:extLst>
          </p:cNvPr>
          <p:cNvSpPr>
            <a:spLocks xmlns:a="http://schemas.openxmlformats.org/drawingml/2006/main" noGrp="1"/>
          </p:cNvSpPr>
          <p:nvPr/>
        </p:nvSpPr>
        <p:spPr>
          <a:xfrm xmlns:a="http://schemas.openxmlformats.org/drawingml/2006/main">
            <a:off x="6019354" y="2813000"/>
            <a:ext cx="2781746" cy="1847999"/>
          </a:xfrm>
          <a:prstGeom xmlns:a="http://schemas.openxmlformats.org/drawingml/2006/main" prst="roundRect">
            <a:avLst>
              <a:gd name="adj" fmla="val 5498"/>
            </a:avLst>
          </a:prstGeom>
          <a:solidFill xmlns:a="http://schemas.openxmlformats.org/drawingml/2006/main">
            <a:srgbClr val="FFF1F3"/>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16" name="Shape 13">
            <a:extLst xmlns:a="http://schemas.openxmlformats.org/drawingml/2006/main">
              <a:ext uri="{FF2B5EF4-FFF2-40B4-BE49-F238E27FC236}">
                <a16:creationId xmlns:a16="http://schemas.microsoft.com/office/drawing/2014/main" id="{02D67CAE-4847-4C17-9581-47DD02916DFA}"/>
              </a:ext>
            </a:extLst>
          </p:cNvPr>
          <p:cNvSpPr>
            <a:spLocks xmlns:a="http://schemas.openxmlformats.org/drawingml/2006/main" noGrp="1"/>
          </p:cNvSpPr>
          <p:nvPr/>
        </p:nvSpPr>
        <p:spPr>
          <a:xfrm xmlns:a="http://schemas.openxmlformats.org/drawingml/2006/main">
            <a:off x="6019354" y="2817763"/>
            <a:ext cx="2781746"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7" name="Shape 14">
            <a:extLst xmlns:a="http://schemas.openxmlformats.org/drawingml/2006/main">
              <a:ext uri="{FF2B5EF4-FFF2-40B4-BE49-F238E27FC236}">
                <a16:creationId xmlns:a16="http://schemas.microsoft.com/office/drawing/2014/main" id="{56750090-A770-4BBD-96E6-122BB71B697B}"/>
              </a:ext>
            </a:extLst>
          </p:cNvPr>
          <p:cNvSpPr>
            <a:spLocks xmlns:a="http://schemas.openxmlformats.org/drawingml/2006/main" noGrp="1"/>
          </p:cNvSpPr>
          <p:nvPr/>
        </p:nvSpPr>
        <p:spPr>
          <a:xfrm xmlns:a="http://schemas.openxmlformats.org/drawingml/2006/main">
            <a:off x="8796338" y="2813000"/>
            <a:ext cx="0" cy="1847999"/>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8" name="Shape 15">
            <a:extLst xmlns:a="http://schemas.openxmlformats.org/drawingml/2006/main">
              <a:ext uri="{FF2B5EF4-FFF2-40B4-BE49-F238E27FC236}">
                <a16:creationId xmlns:a16="http://schemas.microsoft.com/office/drawing/2014/main" id="{4342D871-D867-409A-89F2-7C6575C37647}"/>
              </a:ext>
            </a:extLst>
          </p:cNvPr>
          <p:cNvSpPr>
            <a:spLocks xmlns:a="http://schemas.openxmlformats.org/drawingml/2006/main" noGrp="1"/>
          </p:cNvSpPr>
          <p:nvPr/>
        </p:nvSpPr>
        <p:spPr>
          <a:xfrm xmlns:a="http://schemas.openxmlformats.org/drawingml/2006/main">
            <a:off x="6019354" y="4656237"/>
            <a:ext cx="2781746"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9" name="Shape 16">
            <a:extLst xmlns:a="http://schemas.openxmlformats.org/drawingml/2006/main">
              <a:ext uri="{FF2B5EF4-FFF2-40B4-BE49-F238E27FC236}">
                <a16:creationId xmlns:a16="http://schemas.microsoft.com/office/drawing/2014/main" id="{F440874C-A333-4F2B-82B5-87D7D2E00002}"/>
              </a:ext>
            </a:extLst>
          </p:cNvPr>
          <p:cNvSpPr>
            <a:spLocks xmlns:a="http://schemas.openxmlformats.org/drawingml/2006/main" noGrp="1"/>
          </p:cNvSpPr>
          <p:nvPr/>
        </p:nvSpPr>
        <p:spPr>
          <a:xfrm xmlns:a="http://schemas.openxmlformats.org/drawingml/2006/main">
            <a:off x="6047929" y="2813000"/>
            <a:ext cx="0" cy="1847999"/>
          </a:xfrm>
          <a:prstGeom xmlns:a="http://schemas.openxmlformats.org/drawingml/2006/main" prst="line">
            <a:avLst/>
          </a:prstGeom>
          <a:noFill xmlns:a="http://schemas.openxmlformats.org/drawingml/2006/main"/>
          <a:ln xmlns:a="http://schemas.openxmlformats.org/drawingml/2006/main" w="57150">
            <a:solidFill>
              <a:srgbClr val="D63B4A"/>
            </a:solidFill>
            <a:prstDash val="solid"/>
          </a:ln>
        </p:spPr>
      </p:sp>
      <p:sp>
        <p:nvSpPr>
          <p:cNvPr id="20" name="Text 17">
            <a:extLst xmlns:a="http://schemas.openxmlformats.org/drawingml/2006/main">
              <a:ext uri="{FF2B5EF4-FFF2-40B4-BE49-F238E27FC236}">
                <a16:creationId xmlns:a16="http://schemas.microsoft.com/office/drawing/2014/main" id="{AACAE043-0B74-4E96-B3CB-3E9309F62E60}"/>
              </a:ext>
            </a:extLst>
          </p:cNvPr>
          <p:cNvSpPr>
            <a:spLocks xmlns:a="http://schemas.openxmlformats.org/drawingml/2006/main" noGrp="1"/>
          </p:cNvSpPr>
          <p:nvPr/>
        </p:nvSpPr>
        <p:spPr>
          <a:xfrm xmlns:a="http://schemas.openxmlformats.org/drawingml/2006/main">
            <a:off x="6228904" y="2974925"/>
            <a:ext cx="2458477"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Not yet evaluated</a:t>
            </a:r>
            <a:endParaRPr sz="1400"/>
          </a:p>
        </p:txBody>
      </p:sp>
      <p:sp>
        <p:nvSpPr>
          <p:cNvPr id="21" name="Text 18">
            <a:extLst xmlns:a="http://schemas.openxmlformats.org/drawingml/2006/main">
              <a:ext uri="{FF2B5EF4-FFF2-40B4-BE49-F238E27FC236}">
                <a16:creationId xmlns:a16="http://schemas.microsoft.com/office/drawing/2014/main" id="{8E7C71E3-8824-4758-BB0C-5F8F7120DFD9}"/>
              </a:ext>
            </a:extLst>
          </p:cNvPr>
          <p:cNvSpPr>
            <a:spLocks xmlns:a="http://schemas.openxmlformats.org/drawingml/2006/main" noGrp="1"/>
          </p:cNvSpPr>
          <p:nvPr/>
        </p:nvSpPr>
        <p:spPr>
          <a:xfrm xmlns:a="http://schemas.openxmlformats.org/drawingml/2006/main">
            <a:off x="6228904" y="3242816"/>
            <a:ext cx="2458477" cy="57596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513"/>
              </a:lnSpc>
              <a:buNone/>
              <a:defRPr sz="1220" b="0">
                <a:solidFill>
                  <a:srgbClr val="12263A"/>
                </a:solidFill>
                <a:latin typeface="Arial"/>
                <a:ea typeface="Arial"/>
                <a:cs typeface="Arial"/>
              </a:defRPr>
            </a:pPr>
            <a:r>
              <a:rPr sz="1220" b="0">
                <a:solidFill>
                  <a:srgbClr val="12263A"/>
                </a:solidFill>
                <a:latin typeface="Arial"/>
                <a:ea typeface="Arial"/>
                <a:cs typeface="Arial"/>
              </a:rPr>
              <a:t>Video/correction is not integrated with physics. No human study or real-robot evaluation.</a:t>
            </a:r>
            <a:endParaRPr sz="1220"/>
          </a:p>
        </p:txBody>
      </p:sp>
      <p:sp>
        <p:nvSpPr>
          <p:cNvPr id="22" name="Text 19">
            <a:extLst xmlns:a="http://schemas.openxmlformats.org/drawingml/2006/main">
              <a:ext uri="{FF2B5EF4-FFF2-40B4-BE49-F238E27FC236}">
                <a16:creationId xmlns:a16="http://schemas.microsoft.com/office/drawing/2014/main" id="{774D5603-2853-45D8-A07D-0C60210E9F2E}"/>
              </a:ext>
            </a:extLst>
          </p:cNvPr>
          <p:cNvSpPr>
            <a:spLocks xmlns:a="http://schemas.openxmlformats.org/drawingml/2006/main" noGrp="1"/>
          </p:cNvSpPr>
          <p:nvPr/>
        </p:nvSpPr>
        <p:spPr>
          <a:xfrm xmlns:a="http://schemas.openxmlformats.org/drawingml/2006/main">
            <a:off x="8339328" y="4965192"/>
            <a:ext cx="502920"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60">
                <a:solidFill>
                  <a:srgbClr val="7A8794"/>
                </a:solidFill>
                <a:latin typeface="Arial"/>
                <a:ea typeface="Arial"/>
                <a:cs typeface="Arial"/>
              </a:rPr>
              <a:t>24 / 31</a:t>
            </a:r>
            <a:endParaRPr sz="660"/>
          </a:p>
        </p:txBody>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40482fd62f4a4ba0"/>
          <a:stretch xmlns:a="http://schemas.openxmlformats.org/drawingml/2006/main"/>
        </p:blipFill>
        <p:spPr>
          <a:xfrm xmlns:a="http://schemas.openxmlformats.org/drawingml/2006/main">
            <a:off x="419100" y="1264444"/>
            <a:ext cx="2647950" cy="1985963"/>
          </a:xfrm>
          <a:prstGeom xmlns:a="http://schemas.openxmlformats.org/drawingml/2006/main" prst="rect">
            <a:avLst/>
          </a:prstGeom>
        </p:spPr>
      </p:pic>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be0368aa519d438c"/>
          <a:stretch xmlns:a="http://schemas.openxmlformats.org/drawingml/2006/main"/>
        </p:blipFill>
        <p:spPr>
          <a:xfrm xmlns:a="http://schemas.openxmlformats.org/drawingml/2006/main">
            <a:off x="3105150" y="1264444"/>
            <a:ext cx="2647950" cy="1985963"/>
          </a:xfrm>
          <a:prstGeom xmlns:a="http://schemas.openxmlformats.org/drawingml/2006/main" prst="rect">
            <a:avLst/>
          </a:prstGeom>
        </p:spPr>
      </p:pic>
      <p:sp>
        <p:nvSpPr>
          <p:cNvPr id="25" name="Source caption">
            <a:extLst xmlns:a="http://schemas.openxmlformats.org/drawingml/2006/main">
              <a:ext uri="{FF2B5EF4-FFF2-40B4-BE49-F238E27FC236}">
                <a16:creationId xmlns:a16="http://schemas.microsoft.com/office/drawing/2014/main" id="{A205697B-ED24-4EFF-A267-60BC34272301}"/>
              </a:ext>
            </a:extLst>
          </p:cNvPr>
          <p:cNvSpPr>
            <a:spLocks xmlns:a="http://schemas.openxmlformats.org/drawingml/2006/main" noGrp="1"/>
          </p:cNvSpPr>
          <p:nvPr/>
        </p:nvSpPr>
        <p:spPr>
          <a:xfrm xmlns:a="http://schemas.openxmlformats.org/drawingml/2006/main">
            <a:off x="523875" y="3514725"/>
            <a:ext cx="2428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34D78"/>
                </a:solidFill>
                <a:latin typeface="Arial"/>
                <a:ea typeface="Arial"/>
                <a:cs typeface="Arial"/>
              </a:defRPr>
            </a:pPr>
            <a:r>
              <a:rPr sz="1050" b="1">
                <a:solidFill>
                  <a:srgbClr val="234D78"/>
                </a:solidFill>
                <a:latin typeface="Arial"/>
                <a:ea typeface="Arial"/>
                <a:cs typeface="Arial"/>
              </a:rPr>
              <a:t>Panda source · simulator state</a:t>
            </a:r>
          </a:p>
        </p:txBody>
      </p:sp>
      <p:sp>
        <p:nvSpPr>
          <p:cNvPr id="26" name="Target caption">
            <a:extLst xmlns:a="http://schemas.openxmlformats.org/drawingml/2006/main">
              <a:ext uri="{FF2B5EF4-FFF2-40B4-BE49-F238E27FC236}">
                <a16:creationId xmlns:a16="http://schemas.microsoft.com/office/drawing/2014/main" id="{01F54029-131D-48B3-9E05-318AEC08E481}"/>
              </a:ext>
            </a:extLst>
          </p:cNvPr>
          <p:cNvSpPr>
            <a:spLocks xmlns:a="http://schemas.openxmlformats.org/drawingml/2006/main" noGrp="1"/>
          </p:cNvSpPr>
          <p:nvPr/>
        </p:nvSpPr>
        <p:spPr>
          <a:xfrm xmlns:a="http://schemas.openxmlformats.org/drawingml/2006/main">
            <a:off x="3171825" y="3514725"/>
            <a:ext cx="2600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34D78"/>
                </a:solidFill>
                <a:latin typeface="Arial"/>
                <a:ea typeface="Arial"/>
                <a:cs typeface="Arial"/>
              </a:defRPr>
            </a:pPr>
            <a:r>
              <a:rPr sz="1050" b="1">
                <a:solidFill>
                  <a:srgbClr val="234D78"/>
                </a:solidFill>
                <a:latin typeface="Arial"/>
                <a:ea typeface="Arial"/>
                <a:cs typeface="Arial"/>
              </a:rPr>
              <a:t>UR5e trimmed · contact physics</a:t>
            </a:r>
          </a:p>
        </p:txBody>
      </p:sp>
      <p:sp>
        <p:nvSpPr>
          <p:cNvPr id="27" name="Sources footer">
            <a:extLst xmlns:a="http://schemas.openxmlformats.org/drawingml/2006/main">
              <a:ext uri="{FF2B5EF4-FFF2-40B4-BE49-F238E27FC236}">
                <a16:creationId xmlns:a16="http://schemas.microsoft.com/office/drawing/2014/main" id="{0F5BD810-9862-47A5-B17C-891FFAA1D052}"/>
              </a:ext>
            </a:extLst>
          </p:cNvPr>
          <p:cNvSpPr>
            <a:spLocks xmlns:a="http://schemas.openxmlformats.org/drawingml/2006/main" noGrp="1"/>
          </p:cNvSpPr>
          <p:nvPr/>
        </p:nvSpPr>
        <p:spPr>
          <a:xfrm xmlns:a="http://schemas.openxmlformats.org/drawingml/2006/main">
            <a:off x="438150" y="4924425"/>
            <a:ext cx="72961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40" b="0">
                <a:solidFill>
                  <a:srgbClr val="234D78"/>
                </a:solidFill>
                <a:latin typeface="Arial"/>
                <a:ea typeface="Arial"/>
                <a:cs typeface="Arial"/>
              </a:defRPr>
            </a:pPr>
            <a:r>
              <a:rPr sz="640" b="0">
                <a:solidFill>
                  <a:srgbClr val="234D78"/>
                </a:solidFill>
                <a:latin typeface="Arial"/>
                <a:ea typeface="Arial"/>
                <a:cs typeface="Arial"/>
                <a:hlinkClick xmlns:r="http://schemas.openxmlformats.org/officeDocument/2006/relationships" r:id="Rfbbd5e5092fa41ac"/>
              </a:rPr>
              <a:t>Reader guide and sources</a:t>
            </a:r>
          </a:p>
        </p:txBody>
      </p:sp>
    </p:spTree>
    <p:extLst>
      <p:ext uri="{BB962C8B-B14F-4D97-AF65-F5344CB8AC3E}">
        <p14:creationId xmlns:p14="http://schemas.microsoft.com/office/powerpoint/2010/main" val="208866447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FE90DFD-1941-454E-92F4-94BEBFEDE191}"/>
              </a:ext>
            </a:extLst>
          </p:cNvPr>
          <p:cNvSpPr>
            <a:spLocks xmlns:a="http://schemas.openxmlformats.org/drawingml/2006/main" noGrp="1"/>
          </p:cNvSpPr>
          <p:nvPr/>
        </p:nvSpPr>
        <p:spPr>
          <a:xfrm xmlns:a="http://schemas.openxmlformats.org/drawingml/2006/main">
            <a:off x="0" y="0"/>
            <a:ext cx="9144000" cy="609600"/>
          </a:xfrm>
          <a:prstGeom xmlns:a="http://schemas.openxmlformats.org/drawingml/2006/main" prst="rect">
            <a:avLst/>
          </a:prstGeom>
          <a:solidFill xmlns:a="http://schemas.openxmlformats.org/drawingml/2006/main">
            <a:srgbClr val="234D7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3" name="Text 1">
            <a:extLst xmlns:a="http://schemas.openxmlformats.org/drawingml/2006/main">
              <a:ext uri="{FF2B5EF4-FFF2-40B4-BE49-F238E27FC236}">
                <a16:creationId xmlns:a16="http://schemas.microsoft.com/office/drawing/2014/main" id="{99A1E22A-3EC0-4496-A31B-EA4179BD797E}"/>
              </a:ext>
            </a:extLst>
          </p:cNvPr>
          <p:cNvSpPr>
            <a:spLocks xmlns:a="http://schemas.openxmlformats.org/drawingml/2006/main" noGrp="1"/>
          </p:cNvSpPr>
          <p:nvPr/>
        </p:nvSpPr>
        <p:spPr>
          <a:xfrm xmlns:a="http://schemas.openxmlformats.org/drawingml/2006/main">
            <a:off x="330136" y="164116"/>
            <a:ext cx="6619875" cy="3238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2415"/>
              </a:lnSpc>
              <a:buNone/>
              <a:defRPr sz="2300" b="1">
                <a:solidFill>
                  <a:srgbClr val="FFFFFF"/>
                </a:solidFill>
                <a:latin typeface="Arial"/>
                <a:ea typeface="Arial"/>
                <a:cs typeface="Arial"/>
              </a:defRPr>
            </a:pPr>
            <a:r>
              <a:rPr sz="2300" b="1">
                <a:solidFill>
                  <a:srgbClr val="FFFFFF"/>
                </a:solidFill>
                <a:latin typeface="Arial"/>
                <a:ea typeface="Arial"/>
                <a:cs typeface="Arial"/>
              </a:rPr>
              <a:t>A protocol with matched correction budgets</a:t>
            </a:r>
            <a:endParaRPr sz="2300"/>
          </a:p>
        </p:txBody>
      </p:sp>
      <p:sp>
        <p:nvSpPr>
          <p:cNvPr id="4" name="Text 2">
            <a:extLst xmlns:a="http://schemas.openxmlformats.org/drawingml/2006/main">
              <a:ext uri="{FF2B5EF4-FFF2-40B4-BE49-F238E27FC236}">
                <a16:creationId xmlns:a16="http://schemas.microsoft.com/office/drawing/2014/main" id="{B311B1E3-536A-4593-BAF7-132E60F77ACC}"/>
              </a:ext>
            </a:extLst>
          </p:cNvPr>
          <p:cNvSpPr>
            <a:spLocks xmlns:a="http://schemas.openxmlformats.org/drawingml/2006/main" noGrp="1"/>
          </p:cNvSpPr>
          <p:nvPr/>
        </p:nvSpPr>
        <p:spPr>
          <a:xfrm xmlns:a="http://schemas.openxmlformats.org/drawingml/2006/main">
            <a:off x="7372350" y="190500"/>
            <a:ext cx="14478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r">
              <a:lnSpc>
                <a:spcPts val="1054"/>
              </a:lnSpc>
              <a:buNone/>
              <a:defRPr sz="788" b="1">
                <a:solidFill>
                  <a:srgbClr val="FFFFFF"/>
                </a:solidFill>
                <a:latin typeface="Arial"/>
                <a:ea typeface="Arial"/>
                <a:cs typeface="Arial"/>
              </a:defRPr>
            </a:pPr>
            <a:r>
              <a:rPr sz="788" b="1">
                <a:solidFill>
                  <a:srgbClr val="FFFFFF"/>
                </a:solidFill>
                <a:latin typeface="Arial"/>
                <a:ea typeface="Arial"/>
                <a:cs typeface="Arial"/>
              </a:rPr>
              <a:t>CS CAPSTONE REFERENCE</a:t>
            </a:r>
            <a:endParaRPr sz="850"/>
          </a:p>
        </p:txBody>
      </p:sp>
      <p:sp>
        <p:nvSpPr>
          <p:cNvPr id="5" name="Text 3">
            <a:extLst xmlns:a="http://schemas.openxmlformats.org/drawingml/2006/main">
              <a:ext uri="{FF2B5EF4-FFF2-40B4-BE49-F238E27FC236}">
                <a16:creationId xmlns:a16="http://schemas.microsoft.com/office/drawing/2014/main" id="{F0B577D5-5431-41A1-B0F1-84BE072C773E}"/>
              </a:ext>
            </a:extLst>
          </p:cNvPr>
          <p:cNvSpPr>
            <a:spLocks xmlns:a="http://schemas.openxmlformats.org/drawingml/2006/main" noGrp="1"/>
          </p:cNvSpPr>
          <p:nvPr/>
        </p:nvSpPr>
        <p:spPr>
          <a:xfrm xmlns:a="http://schemas.openxmlformats.org/drawingml/2006/main">
            <a:off x="330101" y="609600"/>
            <a:ext cx="787301" cy="38100"/>
          </a:xfrm>
          <a:prstGeom xmlns:a="http://schemas.openxmlformats.org/drawingml/2006/main" prst="rect">
            <a:avLst/>
          </a:prstGeom>
          <a:solidFill xmlns:a="http://schemas.openxmlformats.org/drawingml/2006/main">
            <a:srgbClr val="D63B4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6" name="Text 4">
            <a:extLst xmlns:a="http://schemas.openxmlformats.org/drawingml/2006/main">
              <a:ext uri="{FF2B5EF4-FFF2-40B4-BE49-F238E27FC236}">
                <a16:creationId xmlns:a16="http://schemas.microsoft.com/office/drawing/2014/main" id="{58CC47C0-12F9-431E-A130-D545C414D42F}"/>
              </a:ext>
            </a:extLst>
          </p:cNvPr>
          <p:cNvSpPr>
            <a:spLocks xmlns:a="http://schemas.openxmlformats.org/drawingml/2006/main" noGrp="1"/>
          </p:cNvSpPr>
          <p:nvPr/>
        </p:nvSpPr>
        <p:spPr>
          <a:xfrm xmlns:a="http://schemas.openxmlformats.org/drawingml/2006/main">
            <a:off x="342900" y="850850"/>
            <a:ext cx="1809899" cy="1050727"/>
          </a:xfrm>
          <a:prstGeom xmlns:a="http://schemas.openxmlformats.org/drawingml/2006/main" prst="roundRect">
            <a:avLst>
              <a:gd name="adj" fmla="val 8461"/>
            </a:avLst>
          </a:prstGeom>
          <a:solidFill xmlns:a="http://schemas.openxmlformats.org/drawingml/2006/main">
            <a:srgbClr val="FFFFFF"/>
          </a:solidFill>
          <a:ln xmlns:a="http://schemas.openxmlformats.org/drawingml/2006/main" w="9525">
            <a:solidFill>
              <a:srgbClr val="CAD6E2"/>
            </a:solidFill>
          </a:ln>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7" name="Text 5">
            <a:extLst xmlns:a="http://schemas.openxmlformats.org/drawingml/2006/main">
              <a:ext uri="{FF2B5EF4-FFF2-40B4-BE49-F238E27FC236}">
                <a16:creationId xmlns:a16="http://schemas.microsoft.com/office/drawing/2014/main" id="{EB7E5CE2-D7BD-4980-A434-B88A6458CD80}"/>
              </a:ext>
            </a:extLst>
          </p:cNvPr>
          <p:cNvSpPr>
            <a:spLocks xmlns:a="http://schemas.openxmlformats.org/drawingml/2006/main" noGrp="1"/>
          </p:cNvSpPr>
          <p:nvPr/>
        </p:nvSpPr>
        <p:spPr>
          <a:xfrm xmlns:a="http://schemas.openxmlformats.org/drawingml/2006/main">
            <a:off x="451103" y="974675"/>
            <a:ext cx="1593494" cy="4089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ctr">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Candidate pool</a:t>
            </a:r>
            <a:endParaRPr sz="1400"/>
          </a:p>
        </p:txBody>
      </p:sp>
      <p:sp>
        <p:nvSpPr>
          <p:cNvPr id="8" name="Text 6">
            <a:extLst xmlns:a="http://schemas.openxmlformats.org/drawingml/2006/main">
              <a:ext uri="{FF2B5EF4-FFF2-40B4-BE49-F238E27FC236}">
                <a16:creationId xmlns:a16="http://schemas.microsoft.com/office/drawing/2014/main" id="{9464E7B7-A64A-4C19-AE31-725BE65E3CF6}"/>
              </a:ext>
            </a:extLst>
          </p:cNvPr>
          <p:cNvSpPr>
            <a:spLocks xmlns:a="http://schemas.openxmlformats.org/drawingml/2006/main" noGrp="1"/>
          </p:cNvSpPr>
          <p:nvPr/>
        </p:nvSpPr>
        <p:spPr>
          <a:xfrm xmlns:a="http://schemas.openxmlformats.org/drawingml/2006/main">
            <a:off x="451103" y="1447056"/>
            <a:ext cx="1593494" cy="330696"/>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ctr">
              <a:lnSpc>
                <a:spcPts val="1302"/>
              </a:lnSpc>
              <a:buNone/>
              <a:defRPr sz="1050" b="0">
                <a:solidFill>
                  <a:srgbClr val="12263A"/>
                </a:solidFill>
                <a:latin typeface="Arial"/>
                <a:ea typeface="Arial"/>
                <a:cs typeface="Arial"/>
              </a:defRPr>
            </a:pPr>
            <a:r>
              <a:rPr sz="1050" b="0">
                <a:solidFill>
                  <a:srgbClr val="12263A"/>
                </a:solidFill>
                <a:latin typeface="Arial"/>
                <a:ea typeface="Arial"/>
                <a:cs typeface="Arial"/>
              </a:rPr>
              <a:t>Segments, lengths, costs, validity</a:t>
            </a:r>
            <a:endParaRPr sz="1050"/>
          </a:p>
        </p:txBody>
      </p:sp>
      <p:sp>
        <p:nvSpPr>
          <p:cNvPr id="9" name="Text 7">
            <a:extLst xmlns:a="http://schemas.openxmlformats.org/drawingml/2006/main">
              <a:ext uri="{FF2B5EF4-FFF2-40B4-BE49-F238E27FC236}">
                <a16:creationId xmlns:a16="http://schemas.microsoft.com/office/drawing/2014/main" id="{DBC40B0F-2248-443C-B08C-19FD0FD2A45B}"/>
              </a:ext>
            </a:extLst>
          </p:cNvPr>
          <p:cNvSpPr>
            <a:spLocks xmlns:a="http://schemas.openxmlformats.org/drawingml/2006/main" noGrp="1"/>
          </p:cNvSpPr>
          <p:nvPr/>
        </p:nvSpPr>
        <p:spPr>
          <a:xfrm xmlns:a="http://schemas.openxmlformats.org/drawingml/2006/main">
            <a:off x="2252268" y="1234529"/>
            <a:ext cx="207213" cy="283369"/>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2232"/>
              </a:lnSpc>
              <a:buNone/>
            </a:pPr>
            <a:r>
              <a:rPr sz="1800" b="1">
                <a:solidFill>
                  <a:srgbClr val="D63B4A"/>
                </a:solidFill>
                <a:latin typeface="Arial"/>
                <a:ea typeface="Arial"/>
                <a:cs typeface="Arial"/>
              </a:rPr>
              <a:t>→</a:t>
            </a:r>
            <a:endParaRPr sz="1800"/>
          </a:p>
        </p:txBody>
      </p:sp>
      <p:sp>
        <p:nvSpPr>
          <p:cNvPr id="10" name="Text 8">
            <a:extLst xmlns:a="http://schemas.openxmlformats.org/drawingml/2006/main">
              <a:ext uri="{FF2B5EF4-FFF2-40B4-BE49-F238E27FC236}">
                <a16:creationId xmlns:a16="http://schemas.microsoft.com/office/drawing/2014/main" id="{3B588EA1-9673-4E8C-BE6F-B70A4871B030}"/>
              </a:ext>
            </a:extLst>
          </p:cNvPr>
          <p:cNvSpPr>
            <a:spLocks xmlns:a="http://schemas.openxmlformats.org/drawingml/2006/main" noGrp="1"/>
          </p:cNvSpPr>
          <p:nvPr/>
        </p:nvSpPr>
        <p:spPr>
          <a:xfrm xmlns:a="http://schemas.openxmlformats.org/drawingml/2006/main">
            <a:off x="2558951" y="850850"/>
            <a:ext cx="1810048" cy="1050727"/>
          </a:xfrm>
          <a:prstGeom xmlns:a="http://schemas.openxmlformats.org/drawingml/2006/main" prst="roundRect">
            <a:avLst>
              <a:gd name="adj" fmla="val 8461"/>
            </a:avLst>
          </a:prstGeom>
          <a:solidFill xmlns:a="http://schemas.openxmlformats.org/drawingml/2006/main">
            <a:srgbClr val="FFFFFF"/>
          </a:solidFill>
          <a:ln xmlns:a="http://schemas.openxmlformats.org/drawingml/2006/main" w="9525">
            <a:solidFill>
              <a:srgbClr val="CAD6E2"/>
            </a:solidFill>
          </a:ln>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11" name="Text 9">
            <a:extLst xmlns:a="http://schemas.openxmlformats.org/drawingml/2006/main">
              <a:ext uri="{FF2B5EF4-FFF2-40B4-BE49-F238E27FC236}">
                <a16:creationId xmlns:a16="http://schemas.microsoft.com/office/drawing/2014/main" id="{466F8B3A-82FF-4EC5-8290-C84D24391419}"/>
              </a:ext>
            </a:extLst>
          </p:cNvPr>
          <p:cNvSpPr>
            <a:spLocks xmlns:a="http://schemas.openxmlformats.org/drawingml/2006/main" noGrp="1"/>
          </p:cNvSpPr>
          <p:nvPr/>
        </p:nvSpPr>
        <p:spPr>
          <a:xfrm xmlns:a="http://schemas.openxmlformats.org/drawingml/2006/main">
            <a:off x="2667152" y="974675"/>
            <a:ext cx="1593646" cy="4089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ctr">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Conditions</a:t>
            </a:r>
            <a:endParaRPr sz="1400"/>
          </a:p>
        </p:txBody>
      </p:sp>
      <p:sp>
        <p:nvSpPr>
          <p:cNvPr id="12" name="Text 10">
            <a:extLst xmlns:a="http://schemas.openxmlformats.org/drawingml/2006/main">
              <a:ext uri="{FF2B5EF4-FFF2-40B4-BE49-F238E27FC236}">
                <a16:creationId xmlns:a16="http://schemas.microsoft.com/office/drawing/2014/main" id="{5EEB86B1-1817-4771-B12E-D31394C5F217}"/>
              </a:ext>
            </a:extLst>
          </p:cNvPr>
          <p:cNvSpPr>
            <a:spLocks xmlns:a="http://schemas.openxmlformats.org/drawingml/2006/main" noGrp="1"/>
          </p:cNvSpPr>
          <p:nvPr/>
        </p:nvSpPr>
        <p:spPr>
          <a:xfrm xmlns:a="http://schemas.openxmlformats.org/drawingml/2006/main">
            <a:off x="2667152" y="1447056"/>
            <a:ext cx="1593646" cy="330696"/>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ctr">
              <a:lnSpc>
                <a:spcPts val="1302"/>
              </a:lnSpc>
              <a:buNone/>
              <a:defRPr sz="1050" b="0">
                <a:solidFill>
                  <a:srgbClr val="12263A"/>
                </a:solidFill>
                <a:latin typeface="Arial"/>
                <a:ea typeface="Arial"/>
                <a:cs typeface="Arial"/>
              </a:defRPr>
            </a:pPr>
            <a:r>
              <a:rPr sz="1050" b="0">
                <a:solidFill>
                  <a:srgbClr val="12263A"/>
                </a:solidFill>
                <a:latin typeface="Arial"/>
                <a:ea typeface="Arial"/>
                <a:cs typeface="Arial"/>
              </a:rPr>
              <a:t>Automatic, random, ranked, oracle</a:t>
            </a:r>
            <a:endParaRPr sz="1050"/>
          </a:p>
        </p:txBody>
      </p:sp>
      <p:sp>
        <p:nvSpPr>
          <p:cNvPr id="13" name="Text 11">
            <a:extLst xmlns:a="http://schemas.openxmlformats.org/drawingml/2006/main">
              <a:ext uri="{FF2B5EF4-FFF2-40B4-BE49-F238E27FC236}">
                <a16:creationId xmlns:a16="http://schemas.microsoft.com/office/drawing/2014/main" id="{AB2FCAF3-FCFF-49EB-85AF-B521FE9DAF98}"/>
              </a:ext>
            </a:extLst>
          </p:cNvPr>
          <p:cNvSpPr>
            <a:spLocks xmlns:a="http://schemas.openxmlformats.org/drawingml/2006/main" noGrp="1"/>
          </p:cNvSpPr>
          <p:nvPr/>
        </p:nvSpPr>
        <p:spPr>
          <a:xfrm xmlns:a="http://schemas.openxmlformats.org/drawingml/2006/main">
            <a:off x="4468468" y="1234529"/>
            <a:ext cx="207213" cy="283369"/>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2232"/>
              </a:lnSpc>
              <a:buNone/>
            </a:pPr>
            <a:r>
              <a:rPr sz="1800" b="1">
                <a:solidFill>
                  <a:srgbClr val="D63B4A"/>
                </a:solidFill>
                <a:latin typeface="Arial"/>
                <a:ea typeface="Arial"/>
                <a:cs typeface="Arial"/>
              </a:rPr>
              <a:t>→</a:t>
            </a:r>
            <a:endParaRPr sz="1800"/>
          </a:p>
        </p:txBody>
      </p:sp>
      <p:sp>
        <p:nvSpPr>
          <p:cNvPr id="14" name="Text 12">
            <a:extLst xmlns:a="http://schemas.openxmlformats.org/drawingml/2006/main">
              <a:ext uri="{FF2B5EF4-FFF2-40B4-BE49-F238E27FC236}">
                <a16:creationId xmlns:a16="http://schemas.microsoft.com/office/drawing/2014/main" id="{46A7281A-0053-408D-8024-84BA4B04F0E0}"/>
              </a:ext>
            </a:extLst>
          </p:cNvPr>
          <p:cNvSpPr>
            <a:spLocks xmlns:a="http://schemas.openxmlformats.org/drawingml/2006/main" noGrp="1"/>
          </p:cNvSpPr>
          <p:nvPr/>
        </p:nvSpPr>
        <p:spPr>
          <a:xfrm xmlns:a="http://schemas.openxmlformats.org/drawingml/2006/main">
            <a:off x="4775150" y="953095"/>
            <a:ext cx="1809899" cy="846237"/>
          </a:xfrm>
          <a:prstGeom xmlns:a="http://schemas.openxmlformats.org/drawingml/2006/main" prst="roundRect">
            <a:avLst>
              <a:gd name="adj" fmla="val 10505"/>
            </a:avLst>
          </a:prstGeom>
          <a:solidFill xmlns:a="http://schemas.openxmlformats.org/drawingml/2006/main">
            <a:srgbClr val="FFFFFF"/>
          </a:solidFill>
          <a:ln xmlns:a="http://schemas.openxmlformats.org/drawingml/2006/main" w="9525">
            <a:solidFill>
              <a:srgbClr val="CAD6E2"/>
            </a:solidFill>
          </a:ln>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15" name="Text 13">
            <a:extLst xmlns:a="http://schemas.openxmlformats.org/drawingml/2006/main">
              <a:ext uri="{FF2B5EF4-FFF2-40B4-BE49-F238E27FC236}">
                <a16:creationId xmlns:a16="http://schemas.microsoft.com/office/drawing/2014/main" id="{32D6FC20-8FB9-40AF-94DD-F4956BE07F50}"/>
              </a:ext>
            </a:extLst>
          </p:cNvPr>
          <p:cNvSpPr>
            <a:spLocks xmlns:a="http://schemas.openxmlformats.org/drawingml/2006/main" noGrp="1"/>
          </p:cNvSpPr>
          <p:nvPr/>
        </p:nvSpPr>
        <p:spPr>
          <a:xfrm xmlns:a="http://schemas.openxmlformats.org/drawingml/2006/main">
            <a:off x="4883353" y="1076920"/>
            <a:ext cx="1593494"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ctr">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Correction</a:t>
            </a:r>
            <a:endParaRPr sz="1400"/>
          </a:p>
        </p:txBody>
      </p:sp>
      <p:sp>
        <p:nvSpPr>
          <p:cNvPr id="16" name="Text 14">
            <a:extLst xmlns:a="http://schemas.openxmlformats.org/drawingml/2006/main">
              <a:ext uri="{FF2B5EF4-FFF2-40B4-BE49-F238E27FC236}">
                <a16:creationId xmlns:a16="http://schemas.microsoft.com/office/drawing/2014/main" id="{CDE7286F-B85A-4E01-A8DA-290B9B68B28C}"/>
              </a:ext>
            </a:extLst>
          </p:cNvPr>
          <p:cNvSpPr>
            <a:spLocks xmlns:a="http://schemas.openxmlformats.org/drawingml/2006/main" noGrp="1"/>
          </p:cNvSpPr>
          <p:nvPr/>
        </p:nvSpPr>
        <p:spPr>
          <a:xfrm xmlns:a="http://schemas.openxmlformats.org/drawingml/2006/main">
            <a:off x="4883353" y="1344811"/>
            <a:ext cx="1593494" cy="330696"/>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ctr">
              <a:lnSpc>
                <a:spcPts val="1302"/>
              </a:lnSpc>
              <a:buNone/>
              <a:defRPr sz="1050" b="0">
                <a:solidFill>
                  <a:srgbClr val="12263A"/>
                </a:solidFill>
                <a:latin typeface="Arial"/>
                <a:ea typeface="Arial"/>
                <a:cs typeface="Arial"/>
              </a:defRPr>
            </a:pPr>
            <a:r>
              <a:rPr sz="1050" b="0">
                <a:solidFill>
                  <a:srgbClr val="12263A"/>
                </a:solidFill>
                <a:latin typeface="Arial"/>
                <a:ea typeface="Arial"/>
                <a:cs typeface="Arial"/>
              </a:rPr>
              <a:t>Shared primitive and observable information</a:t>
            </a:r>
            <a:endParaRPr sz="1050"/>
          </a:p>
        </p:txBody>
      </p:sp>
      <p:sp>
        <p:nvSpPr>
          <p:cNvPr id="17" name="Text 15">
            <a:extLst xmlns:a="http://schemas.openxmlformats.org/drawingml/2006/main">
              <a:ext uri="{FF2B5EF4-FFF2-40B4-BE49-F238E27FC236}">
                <a16:creationId xmlns:a16="http://schemas.microsoft.com/office/drawing/2014/main" id="{80B26F88-B3A7-459E-8337-1DC83C431B3C}"/>
              </a:ext>
            </a:extLst>
          </p:cNvPr>
          <p:cNvSpPr>
            <a:spLocks xmlns:a="http://schemas.openxmlformats.org/drawingml/2006/main" noGrp="1"/>
          </p:cNvSpPr>
          <p:nvPr/>
        </p:nvSpPr>
        <p:spPr>
          <a:xfrm xmlns:a="http://schemas.openxmlformats.org/drawingml/2006/main">
            <a:off x="6684518" y="1234529"/>
            <a:ext cx="207213" cy="283369"/>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2232"/>
              </a:lnSpc>
              <a:buNone/>
            </a:pPr>
            <a:r>
              <a:rPr sz="1800" b="1">
                <a:solidFill>
                  <a:srgbClr val="D63B4A"/>
                </a:solidFill>
                <a:latin typeface="Arial"/>
                <a:ea typeface="Arial"/>
                <a:cs typeface="Arial"/>
              </a:rPr>
              <a:t>→</a:t>
            </a:r>
            <a:endParaRPr sz="1800"/>
          </a:p>
        </p:txBody>
      </p:sp>
      <p:sp>
        <p:nvSpPr>
          <p:cNvPr id="18" name="Text 16">
            <a:extLst xmlns:a="http://schemas.openxmlformats.org/drawingml/2006/main">
              <a:ext uri="{FF2B5EF4-FFF2-40B4-BE49-F238E27FC236}">
                <a16:creationId xmlns:a16="http://schemas.microsoft.com/office/drawing/2014/main" id="{F452DCA4-CF8E-46F6-BE82-0E0AA3493480}"/>
              </a:ext>
            </a:extLst>
          </p:cNvPr>
          <p:cNvSpPr>
            <a:spLocks xmlns:a="http://schemas.openxmlformats.org/drawingml/2006/main" noGrp="1"/>
          </p:cNvSpPr>
          <p:nvPr/>
        </p:nvSpPr>
        <p:spPr>
          <a:xfrm xmlns:a="http://schemas.openxmlformats.org/drawingml/2006/main">
            <a:off x="6991201" y="850850"/>
            <a:ext cx="1809899" cy="1050727"/>
          </a:xfrm>
          <a:prstGeom xmlns:a="http://schemas.openxmlformats.org/drawingml/2006/main" prst="roundRect">
            <a:avLst>
              <a:gd name="adj" fmla="val 8461"/>
            </a:avLst>
          </a:prstGeom>
          <a:solidFill xmlns:a="http://schemas.openxmlformats.org/drawingml/2006/main">
            <a:srgbClr val="FFFFFF"/>
          </a:solidFill>
          <a:ln xmlns:a="http://schemas.openxmlformats.org/drawingml/2006/main" w="9525">
            <a:solidFill>
              <a:srgbClr val="CAD6E2"/>
            </a:solidFill>
          </a:ln>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19" name="Text 17">
            <a:extLst xmlns:a="http://schemas.openxmlformats.org/drawingml/2006/main">
              <a:ext uri="{FF2B5EF4-FFF2-40B4-BE49-F238E27FC236}">
                <a16:creationId xmlns:a16="http://schemas.microsoft.com/office/drawing/2014/main" id="{2292AB30-06D2-432F-BF20-6F45D703A162}"/>
              </a:ext>
            </a:extLst>
          </p:cNvPr>
          <p:cNvSpPr>
            <a:spLocks xmlns:a="http://schemas.openxmlformats.org/drawingml/2006/main" noGrp="1"/>
          </p:cNvSpPr>
          <p:nvPr/>
        </p:nvSpPr>
        <p:spPr>
          <a:xfrm xmlns:a="http://schemas.openxmlformats.org/drawingml/2006/main">
            <a:off x="7099404" y="974675"/>
            <a:ext cx="1593494" cy="4089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ctr">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Retarget/replay</a:t>
            </a:r>
            <a:endParaRPr sz="1400"/>
          </a:p>
        </p:txBody>
      </p:sp>
      <p:sp>
        <p:nvSpPr>
          <p:cNvPr id="20" name="Text 18">
            <a:extLst xmlns:a="http://schemas.openxmlformats.org/drawingml/2006/main">
              <a:ext uri="{FF2B5EF4-FFF2-40B4-BE49-F238E27FC236}">
                <a16:creationId xmlns:a16="http://schemas.microsoft.com/office/drawing/2014/main" id="{251B66BA-2303-4966-881F-E7F78467FE92}"/>
              </a:ext>
            </a:extLst>
          </p:cNvPr>
          <p:cNvSpPr>
            <a:spLocks xmlns:a="http://schemas.openxmlformats.org/drawingml/2006/main" noGrp="1"/>
          </p:cNvSpPr>
          <p:nvPr/>
        </p:nvSpPr>
        <p:spPr>
          <a:xfrm xmlns:a="http://schemas.openxmlformats.org/drawingml/2006/main">
            <a:off x="7099404" y="1447056"/>
            <a:ext cx="1593494" cy="330696"/>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ctr">
              <a:lnSpc>
                <a:spcPts val="1302"/>
              </a:lnSpc>
              <a:buNone/>
              <a:defRPr sz="1050" b="0">
                <a:solidFill>
                  <a:srgbClr val="12263A"/>
                </a:solidFill>
                <a:latin typeface="Arial"/>
                <a:ea typeface="Arial"/>
                <a:cs typeface="Arial"/>
              </a:defRPr>
            </a:pPr>
            <a:r>
              <a:rPr sz="1050" b="0">
                <a:solidFill>
                  <a:srgbClr val="12263A"/>
                </a:solidFill>
                <a:latin typeface="Arial"/>
                <a:ea typeface="Arial"/>
                <a:cs typeface="Arial"/>
              </a:rPr>
              <a:t>Shared layouts, controller, success criteria</a:t>
            </a:r>
            <a:endParaRPr sz="1050"/>
          </a:p>
        </p:txBody>
      </p:sp>
      <p:sp>
        <p:nvSpPr>
          <p:cNvPr id="21" name="Text 19">
            <a:extLst xmlns:a="http://schemas.openxmlformats.org/drawingml/2006/main">
              <a:ext uri="{FF2B5EF4-FFF2-40B4-BE49-F238E27FC236}">
                <a16:creationId xmlns:a16="http://schemas.microsoft.com/office/drawing/2014/main" id="{87A97809-C9AB-4081-893A-E0817AC12E2D}"/>
              </a:ext>
            </a:extLst>
          </p:cNvPr>
          <p:cNvSpPr>
            <a:spLocks xmlns:a="http://schemas.openxmlformats.org/drawingml/2006/main" noGrp="1"/>
          </p:cNvSpPr>
          <p:nvPr/>
        </p:nvSpPr>
        <p:spPr>
          <a:xfrm xmlns:a="http://schemas.openxmlformats.org/drawingml/2006/main">
            <a:off x="342900" y="2193578"/>
            <a:ext cx="4152900" cy="2467421"/>
          </a:xfrm>
          <a:prstGeom xmlns:a="http://schemas.openxmlformats.org/drawingml/2006/main" prst="roundRect">
            <a:avLst>
              <a:gd name="adj" fmla="val 4118"/>
            </a:avLst>
          </a:prstGeom>
          <a:solidFill xmlns:a="http://schemas.openxmlformats.org/drawingml/2006/main">
            <a:srgbClr val="EEF4F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22" name="Shape 20">
            <a:extLst xmlns:a="http://schemas.openxmlformats.org/drawingml/2006/main">
              <a:ext uri="{FF2B5EF4-FFF2-40B4-BE49-F238E27FC236}">
                <a16:creationId xmlns:a16="http://schemas.microsoft.com/office/drawing/2014/main" id="{EA6F0194-47A5-499B-A37B-829695202BA0}"/>
              </a:ext>
            </a:extLst>
          </p:cNvPr>
          <p:cNvSpPr>
            <a:spLocks xmlns:a="http://schemas.openxmlformats.org/drawingml/2006/main" noGrp="1"/>
          </p:cNvSpPr>
          <p:nvPr/>
        </p:nvSpPr>
        <p:spPr>
          <a:xfrm xmlns:a="http://schemas.openxmlformats.org/drawingml/2006/main">
            <a:off x="342900" y="2198340"/>
            <a:ext cx="4152900"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23" name="Shape 21">
            <a:extLst xmlns:a="http://schemas.openxmlformats.org/drawingml/2006/main">
              <a:ext uri="{FF2B5EF4-FFF2-40B4-BE49-F238E27FC236}">
                <a16:creationId xmlns:a16="http://schemas.microsoft.com/office/drawing/2014/main" id="{1619DF34-5F2A-4AC1-A064-9E51CD1B0B74}"/>
              </a:ext>
            </a:extLst>
          </p:cNvPr>
          <p:cNvSpPr>
            <a:spLocks xmlns:a="http://schemas.openxmlformats.org/drawingml/2006/main" noGrp="1"/>
          </p:cNvSpPr>
          <p:nvPr/>
        </p:nvSpPr>
        <p:spPr>
          <a:xfrm xmlns:a="http://schemas.openxmlformats.org/drawingml/2006/main">
            <a:off x="4491038" y="2193578"/>
            <a:ext cx="0" cy="2467421"/>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24" name="Shape 22">
            <a:extLst xmlns:a="http://schemas.openxmlformats.org/drawingml/2006/main">
              <a:ext uri="{FF2B5EF4-FFF2-40B4-BE49-F238E27FC236}">
                <a16:creationId xmlns:a16="http://schemas.microsoft.com/office/drawing/2014/main" id="{0D8BA7D8-B689-4CF5-A938-8A6EB403BA93}"/>
              </a:ext>
            </a:extLst>
          </p:cNvPr>
          <p:cNvSpPr>
            <a:spLocks xmlns:a="http://schemas.openxmlformats.org/drawingml/2006/main" noGrp="1"/>
          </p:cNvSpPr>
          <p:nvPr/>
        </p:nvSpPr>
        <p:spPr>
          <a:xfrm xmlns:a="http://schemas.openxmlformats.org/drawingml/2006/main">
            <a:off x="342900" y="4656237"/>
            <a:ext cx="4152900"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25" name="Shape 23">
            <a:extLst xmlns:a="http://schemas.openxmlformats.org/drawingml/2006/main">
              <a:ext uri="{FF2B5EF4-FFF2-40B4-BE49-F238E27FC236}">
                <a16:creationId xmlns:a16="http://schemas.microsoft.com/office/drawing/2014/main" id="{93E6B995-BB6C-4D85-A7A7-2911FF8BF5DE}"/>
              </a:ext>
            </a:extLst>
          </p:cNvPr>
          <p:cNvSpPr>
            <a:spLocks xmlns:a="http://schemas.openxmlformats.org/drawingml/2006/main" noGrp="1"/>
          </p:cNvSpPr>
          <p:nvPr/>
        </p:nvSpPr>
        <p:spPr>
          <a:xfrm xmlns:a="http://schemas.openxmlformats.org/drawingml/2006/main">
            <a:off x="371475" y="2193578"/>
            <a:ext cx="0" cy="2467421"/>
          </a:xfrm>
          <a:prstGeom xmlns:a="http://schemas.openxmlformats.org/drawingml/2006/main" prst="line">
            <a:avLst/>
          </a:prstGeom>
          <a:noFill xmlns:a="http://schemas.openxmlformats.org/drawingml/2006/main"/>
          <a:ln xmlns:a="http://schemas.openxmlformats.org/drawingml/2006/main" w="57150">
            <a:solidFill>
              <a:srgbClr val="234D78"/>
            </a:solidFill>
            <a:prstDash val="solid"/>
          </a:ln>
        </p:spPr>
      </p:sp>
      <p:sp>
        <p:nvSpPr>
          <p:cNvPr id="26" name="Text 24">
            <a:extLst xmlns:a="http://schemas.openxmlformats.org/drawingml/2006/main">
              <a:ext uri="{FF2B5EF4-FFF2-40B4-BE49-F238E27FC236}">
                <a16:creationId xmlns:a16="http://schemas.microsoft.com/office/drawing/2014/main" id="{8FFFD9DA-DFF1-47BA-9A39-359E89AFBD07}"/>
              </a:ext>
            </a:extLst>
          </p:cNvPr>
          <p:cNvSpPr>
            <a:spLocks xmlns:a="http://schemas.openxmlformats.org/drawingml/2006/main" noGrp="1"/>
          </p:cNvSpPr>
          <p:nvPr/>
        </p:nvSpPr>
        <p:spPr>
          <a:xfrm xmlns:a="http://schemas.openxmlformats.org/drawingml/2006/main">
            <a:off x="552450" y="2355503"/>
            <a:ext cx="3857054"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Reported measurements</a:t>
            </a:r>
            <a:endParaRPr sz="1400"/>
          </a:p>
        </p:txBody>
      </p:sp>
      <p:sp>
        <p:nvSpPr>
          <p:cNvPr id="27" name="Text 25">
            <a:extLst xmlns:a="http://schemas.openxmlformats.org/drawingml/2006/main">
              <a:ext uri="{FF2B5EF4-FFF2-40B4-BE49-F238E27FC236}">
                <a16:creationId xmlns:a16="http://schemas.microsoft.com/office/drawing/2014/main" id="{B8756D97-49F2-417E-8002-1D37B7E9A586}"/>
              </a:ext>
            </a:extLst>
          </p:cNvPr>
          <p:cNvSpPr>
            <a:spLocks xmlns:a="http://schemas.openxmlformats.org/drawingml/2006/main" noGrp="1"/>
          </p:cNvSpPr>
          <p:nvPr/>
        </p:nvSpPr>
        <p:spPr>
          <a:xfrm xmlns:a="http://schemas.openxmlformats.org/drawingml/2006/main">
            <a:off x="552450" y="2623376"/>
            <a:ext cx="3857054" cy="8096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513"/>
              </a:lnSpc>
              <a:buNone/>
              <a:defRPr sz="1220" b="0">
                <a:solidFill>
                  <a:srgbClr val="12263A"/>
                </a:solidFill>
                <a:latin typeface="Arial"/>
                <a:ea typeface="Arial"/>
                <a:cs typeface="Arial"/>
              </a:defRPr>
            </a:pPr>
            <a:r>
              <a:rPr sz="1220" b="0">
                <a:solidFill>
                  <a:srgbClr val="12263A"/>
                </a:solidFill>
                <a:latin typeface="Arial"/>
                <a:ea typeface="Arial"/>
                <a:cs typeface="Arial"/>
              </a:rPr>
              <a:t>Task success, rejects, review/edit/wait/total time, pose error, and failure taxonomy.</a:t>
            </a:r>
            <a:endParaRPr sz="1220"/>
          </a:p>
        </p:txBody>
      </p:sp>
      <p:sp>
        <p:nvSpPr>
          <p:cNvPr id="28" name="Text 26">
            <a:extLst xmlns:a="http://schemas.openxmlformats.org/drawingml/2006/main">
              <a:ext uri="{FF2B5EF4-FFF2-40B4-BE49-F238E27FC236}">
                <a16:creationId xmlns:a16="http://schemas.microsoft.com/office/drawing/2014/main" id="{37F3609E-6441-4701-8C01-1B6E1075D8C6}"/>
              </a:ext>
            </a:extLst>
          </p:cNvPr>
          <p:cNvSpPr>
            <a:spLocks xmlns:a="http://schemas.openxmlformats.org/drawingml/2006/main" noGrp="1"/>
          </p:cNvSpPr>
          <p:nvPr/>
        </p:nvSpPr>
        <p:spPr>
          <a:xfrm xmlns:a="http://schemas.openxmlformats.org/drawingml/2006/main">
            <a:off x="4648200" y="2193578"/>
            <a:ext cx="4152900" cy="2467421"/>
          </a:xfrm>
          <a:prstGeom xmlns:a="http://schemas.openxmlformats.org/drawingml/2006/main" prst="roundRect">
            <a:avLst>
              <a:gd name="adj" fmla="val 4118"/>
            </a:avLst>
          </a:prstGeom>
          <a:solidFill xmlns:a="http://schemas.openxmlformats.org/drawingml/2006/main">
            <a:srgbClr val="EDFAF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29" name="Shape 27">
            <a:extLst xmlns:a="http://schemas.openxmlformats.org/drawingml/2006/main">
              <a:ext uri="{FF2B5EF4-FFF2-40B4-BE49-F238E27FC236}">
                <a16:creationId xmlns:a16="http://schemas.microsoft.com/office/drawing/2014/main" id="{EFF91CF5-3569-4D2D-9439-2CB66B430FFE}"/>
              </a:ext>
            </a:extLst>
          </p:cNvPr>
          <p:cNvSpPr>
            <a:spLocks xmlns:a="http://schemas.openxmlformats.org/drawingml/2006/main" noGrp="1"/>
          </p:cNvSpPr>
          <p:nvPr/>
        </p:nvSpPr>
        <p:spPr>
          <a:xfrm xmlns:a="http://schemas.openxmlformats.org/drawingml/2006/main">
            <a:off x="4648200" y="2198340"/>
            <a:ext cx="4152900"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30" name="Shape 28">
            <a:extLst xmlns:a="http://schemas.openxmlformats.org/drawingml/2006/main">
              <a:ext uri="{FF2B5EF4-FFF2-40B4-BE49-F238E27FC236}">
                <a16:creationId xmlns:a16="http://schemas.microsoft.com/office/drawing/2014/main" id="{759CF938-1A6E-433E-A77C-3ED02A654F68}"/>
              </a:ext>
            </a:extLst>
          </p:cNvPr>
          <p:cNvSpPr>
            <a:spLocks xmlns:a="http://schemas.openxmlformats.org/drawingml/2006/main" noGrp="1"/>
          </p:cNvSpPr>
          <p:nvPr/>
        </p:nvSpPr>
        <p:spPr>
          <a:xfrm xmlns:a="http://schemas.openxmlformats.org/drawingml/2006/main">
            <a:off x="8796338" y="2193578"/>
            <a:ext cx="0" cy="2467421"/>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31" name="Shape 29">
            <a:extLst xmlns:a="http://schemas.openxmlformats.org/drawingml/2006/main">
              <a:ext uri="{FF2B5EF4-FFF2-40B4-BE49-F238E27FC236}">
                <a16:creationId xmlns:a16="http://schemas.microsoft.com/office/drawing/2014/main" id="{0C4A9D95-5487-4A8B-A838-79D9906A8C08}"/>
              </a:ext>
            </a:extLst>
          </p:cNvPr>
          <p:cNvSpPr>
            <a:spLocks xmlns:a="http://schemas.openxmlformats.org/drawingml/2006/main" noGrp="1"/>
          </p:cNvSpPr>
          <p:nvPr/>
        </p:nvSpPr>
        <p:spPr>
          <a:xfrm xmlns:a="http://schemas.openxmlformats.org/drawingml/2006/main">
            <a:off x="4648200" y="4656237"/>
            <a:ext cx="4152900"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32" name="Shape 30">
            <a:extLst xmlns:a="http://schemas.openxmlformats.org/drawingml/2006/main">
              <a:ext uri="{FF2B5EF4-FFF2-40B4-BE49-F238E27FC236}">
                <a16:creationId xmlns:a16="http://schemas.microsoft.com/office/drawing/2014/main" id="{9F907163-6803-4AAA-AC9F-C573845FA115}"/>
              </a:ext>
            </a:extLst>
          </p:cNvPr>
          <p:cNvSpPr>
            <a:spLocks xmlns:a="http://schemas.openxmlformats.org/drawingml/2006/main" noGrp="1"/>
          </p:cNvSpPr>
          <p:nvPr/>
        </p:nvSpPr>
        <p:spPr>
          <a:xfrm xmlns:a="http://schemas.openxmlformats.org/drawingml/2006/main">
            <a:off x="4676775" y="2193578"/>
            <a:ext cx="0" cy="2467421"/>
          </a:xfrm>
          <a:prstGeom xmlns:a="http://schemas.openxmlformats.org/drawingml/2006/main" prst="line">
            <a:avLst/>
          </a:prstGeom>
          <a:noFill xmlns:a="http://schemas.openxmlformats.org/drawingml/2006/main"/>
          <a:ln xmlns:a="http://schemas.openxmlformats.org/drawingml/2006/main" w="57150">
            <a:solidFill>
              <a:srgbClr val="1D9E91"/>
            </a:solidFill>
            <a:prstDash val="solid"/>
          </a:ln>
        </p:spPr>
      </p:sp>
      <p:sp>
        <p:nvSpPr>
          <p:cNvPr id="33" name="Text 31">
            <a:extLst xmlns:a="http://schemas.openxmlformats.org/drawingml/2006/main">
              <a:ext uri="{FF2B5EF4-FFF2-40B4-BE49-F238E27FC236}">
                <a16:creationId xmlns:a16="http://schemas.microsoft.com/office/drawing/2014/main" id="{4EE8B66B-CA59-44EA-8450-2D7EBED38E8B}"/>
              </a:ext>
            </a:extLst>
          </p:cNvPr>
          <p:cNvSpPr>
            <a:spLocks xmlns:a="http://schemas.openxmlformats.org/drawingml/2006/main" noGrp="1"/>
          </p:cNvSpPr>
          <p:nvPr/>
        </p:nvSpPr>
        <p:spPr>
          <a:xfrm xmlns:a="http://schemas.openxmlformats.org/drawingml/2006/main">
            <a:off x="4857750" y="2355503"/>
            <a:ext cx="3857054"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Human-cost comparison</a:t>
            </a:r>
            <a:endParaRPr sz="1400"/>
          </a:p>
        </p:txBody>
      </p:sp>
      <p:sp>
        <p:nvSpPr>
          <p:cNvPr id="34" name="Text 32">
            <a:extLst xmlns:a="http://schemas.openxmlformats.org/drawingml/2006/main">
              <a:ext uri="{FF2B5EF4-FFF2-40B4-BE49-F238E27FC236}">
                <a16:creationId xmlns:a16="http://schemas.microsoft.com/office/drawing/2014/main" id="{72F64464-CF91-45A5-A8A4-E9DF9E012594}"/>
              </a:ext>
            </a:extLst>
          </p:cNvPr>
          <p:cNvSpPr>
            <a:spLocks xmlns:a="http://schemas.openxmlformats.org/drawingml/2006/main" noGrp="1"/>
          </p:cNvSpPr>
          <p:nvPr/>
        </p:nvSpPr>
        <p:spPr>
          <a:xfrm xmlns:a="http://schemas.openxmlformats.org/drawingml/2006/main">
            <a:off x="4857750" y="2623376"/>
            <a:ext cx="3857054" cy="8096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513"/>
              </a:lnSpc>
              <a:buNone/>
              <a:defRPr sz="1220" b="0">
                <a:solidFill>
                  <a:srgbClr val="12263A"/>
                </a:solidFill>
                <a:latin typeface="Arial"/>
                <a:ea typeface="Arial"/>
                <a:cs typeface="Arial"/>
              </a:defRPr>
            </a:pPr>
            <a:r>
              <a:rPr sz="1220" b="0">
                <a:solidFill>
                  <a:srgbClr val="12263A"/>
                </a:solidFill>
                <a:latin typeface="Arial"/>
                <a:ea typeface="Arial"/>
                <a:cs typeface="Arial"/>
              </a:rPr>
              <a:t>Active-time reduction requires measured full teleoperation at matched task quality.</a:t>
            </a:r>
            <a:endParaRPr sz="1220"/>
          </a:p>
        </p:txBody>
      </p:sp>
      <p:sp>
        <p:nvSpPr>
          <p:cNvPr id="35" name="Text 33">
            <a:extLst xmlns:a="http://schemas.openxmlformats.org/drawingml/2006/main">
              <a:ext uri="{FF2B5EF4-FFF2-40B4-BE49-F238E27FC236}">
                <a16:creationId xmlns:a16="http://schemas.microsoft.com/office/drawing/2014/main" id="{A8B1034C-5053-4BF2-B8F7-E79BE8EE1489}"/>
              </a:ext>
            </a:extLst>
          </p:cNvPr>
          <p:cNvSpPr>
            <a:spLocks xmlns:a="http://schemas.openxmlformats.org/drawingml/2006/main" noGrp="1"/>
          </p:cNvSpPr>
          <p:nvPr/>
        </p:nvSpPr>
        <p:spPr>
          <a:xfrm xmlns:a="http://schemas.openxmlformats.org/drawingml/2006/main">
            <a:off x="8339328" y="4965192"/>
            <a:ext cx="502920"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60">
                <a:solidFill>
                  <a:srgbClr val="7A8794"/>
                </a:solidFill>
                <a:latin typeface="Arial"/>
                <a:ea typeface="Arial"/>
                <a:cs typeface="Arial"/>
              </a:rPr>
              <a:t>25 / 31</a:t>
            </a:r>
            <a:endParaRPr sz="660"/>
          </a:p>
        </p:txBody>
      </p:sp>
      <p:sp>
        <p:nvSpPr>
          <p:cNvPr id="36" name="Sources footer">
            <a:extLst xmlns:a="http://schemas.openxmlformats.org/drawingml/2006/main">
              <a:ext uri="{FF2B5EF4-FFF2-40B4-BE49-F238E27FC236}">
                <a16:creationId xmlns:a16="http://schemas.microsoft.com/office/drawing/2014/main" id="{1AD63A91-45E3-46DE-9159-1D6AA4FAE096}"/>
              </a:ext>
            </a:extLst>
          </p:cNvPr>
          <p:cNvSpPr>
            <a:spLocks xmlns:a="http://schemas.openxmlformats.org/drawingml/2006/main" noGrp="1"/>
          </p:cNvSpPr>
          <p:nvPr/>
        </p:nvSpPr>
        <p:spPr>
          <a:xfrm xmlns:a="http://schemas.openxmlformats.org/drawingml/2006/main">
            <a:off x="438150" y="4924425"/>
            <a:ext cx="72961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40" b="0">
                <a:solidFill>
                  <a:srgbClr val="234D78"/>
                </a:solidFill>
                <a:latin typeface="Arial"/>
                <a:ea typeface="Arial"/>
                <a:cs typeface="Arial"/>
              </a:defRPr>
            </a:pPr>
            <a:r>
              <a:rPr sz="640" b="0">
                <a:solidFill>
                  <a:srgbClr val="234D78"/>
                </a:solidFill>
                <a:latin typeface="Arial"/>
                <a:ea typeface="Arial"/>
                <a:cs typeface="Arial"/>
                <a:hlinkClick xmlns:r="http://schemas.openxmlformats.org/officeDocument/2006/relationships" r:id="Rb4ed847586ab42cd"/>
              </a:rPr>
              <a:t>Reader guide and sources</a:t>
            </a:r>
          </a:p>
        </p:txBody>
      </p:sp>
    </p:spTree>
    <p:extLst>
      <p:ext uri="{BB962C8B-B14F-4D97-AF65-F5344CB8AC3E}">
        <p14:creationId xmlns:p14="http://schemas.microsoft.com/office/powerpoint/2010/main" val="40902222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F0E477F-C42F-4548-B560-BC31C45F158D}"/>
              </a:ext>
            </a:extLst>
          </p:cNvPr>
          <p:cNvSpPr>
            <a:spLocks xmlns:a="http://schemas.openxmlformats.org/drawingml/2006/main" noGrp="1"/>
          </p:cNvSpPr>
          <p:nvPr/>
        </p:nvSpPr>
        <p:spPr>
          <a:xfrm xmlns:a="http://schemas.openxmlformats.org/drawingml/2006/main">
            <a:off x="0" y="0"/>
            <a:ext cx="9144000" cy="609600"/>
          </a:xfrm>
          <a:prstGeom xmlns:a="http://schemas.openxmlformats.org/drawingml/2006/main" prst="rect">
            <a:avLst/>
          </a:prstGeom>
          <a:solidFill xmlns:a="http://schemas.openxmlformats.org/drawingml/2006/main">
            <a:srgbClr val="234D7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3" name="Text 1">
            <a:extLst xmlns:a="http://schemas.openxmlformats.org/drawingml/2006/main">
              <a:ext uri="{FF2B5EF4-FFF2-40B4-BE49-F238E27FC236}">
                <a16:creationId xmlns:a16="http://schemas.microsoft.com/office/drawing/2014/main" id="{85A93BB3-FB53-44B6-8C9F-6EACCCF5F36E}"/>
              </a:ext>
            </a:extLst>
          </p:cNvPr>
          <p:cNvSpPr>
            <a:spLocks xmlns:a="http://schemas.openxmlformats.org/drawingml/2006/main" noGrp="1"/>
          </p:cNvSpPr>
          <p:nvPr/>
        </p:nvSpPr>
        <p:spPr>
          <a:xfrm xmlns:a="http://schemas.openxmlformats.org/drawingml/2006/main">
            <a:off x="330136" y="164116"/>
            <a:ext cx="6619875" cy="3238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2415"/>
              </a:lnSpc>
              <a:buNone/>
              <a:defRPr sz="2300" b="1">
                <a:solidFill>
                  <a:srgbClr val="FFFFFF"/>
                </a:solidFill>
                <a:latin typeface="Arial"/>
                <a:ea typeface="Arial"/>
                <a:cs typeface="Arial"/>
              </a:defRPr>
            </a:pPr>
            <a:r>
              <a:rPr sz="2300" b="1">
                <a:solidFill>
                  <a:srgbClr val="FFFFFF"/>
                </a:solidFill>
                <a:latin typeface="Arial"/>
                <a:ea typeface="Arial"/>
                <a:cs typeface="Arial"/>
              </a:rPr>
              <a:t>Resources, risks, and contingency measures</a:t>
            </a:r>
            <a:endParaRPr sz="2300"/>
          </a:p>
        </p:txBody>
      </p:sp>
      <p:sp>
        <p:nvSpPr>
          <p:cNvPr id="4" name="Text 2">
            <a:extLst xmlns:a="http://schemas.openxmlformats.org/drawingml/2006/main">
              <a:ext uri="{FF2B5EF4-FFF2-40B4-BE49-F238E27FC236}">
                <a16:creationId xmlns:a16="http://schemas.microsoft.com/office/drawing/2014/main" id="{2471D9F8-4148-407C-AC7B-F7A199AB35AF}"/>
              </a:ext>
            </a:extLst>
          </p:cNvPr>
          <p:cNvSpPr>
            <a:spLocks xmlns:a="http://schemas.openxmlformats.org/drawingml/2006/main" noGrp="1"/>
          </p:cNvSpPr>
          <p:nvPr/>
        </p:nvSpPr>
        <p:spPr>
          <a:xfrm xmlns:a="http://schemas.openxmlformats.org/drawingml/2006/main">
            <a:off x="7372350" y="190500"/>
            <a:ext cx="14478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r">
              <a:lnSpc>
                <a:spcPts val="1054"/>
              </a:lnSpc>
              <a:buNone/>
              <a:defRPr sz="788" b="1">
                <a:solidFill>
                  <a:srgbClr val="FFFFFF"/>
                </a:solidFill>
                <a:latin typeface="Arial"/>
                <a:ea typeface="Arial"/>
                <a:cs typeface="Arial"/>
              </a:defRPr>
            </a:pPr>
            <a:r>
              <a:rPr sz="788" b="1">
                <a:solidFill>
                  <a:srgbClr val="FFFFFF"/>
                </a:solidFill>
                <a:latin typeface="Arial"/>
                <a:ea typeface="Arial"/>
                <a:cs typeface="Arial"/>
              </a:rPr>
              <a:t>CS CAPSTONE REFERENCE</a:t>
            </a:r>
            <a:endParaRPr sz="850"/>
          </a:p>
        </p:txBody>
      </p:sp>
      <p:sp>
        <p:nvSpPr>
          <p:cNvPr id="5" name="Text 3">
            <a:extLst xmlns:a="http://schemas.openxmlformats.org/drawingml/2006/main">
              <a:ext uri="{FF2B5EF4-FFF2-40B4-BE49-F238E27FC236}">
                <a16:creationId xmlns:a16="http://schemas.microsoft.com/office/drawing/2014/main" id="{07BE414F-869E-4A9A-95E5-15CCAA42ABB8}"/>
              </a:ext>
            </a:extLst>
          </p:cNvPr>
          <p:cNvSpPr>
            <a:spLocks xmlns:a="http://schemas.openxmlformats.org/drawingml/2006/main" noGrp="1"/>
          </p:cNvSpPr>
          <p:nvPr/>
        </p:nvSpPr>
        <p:spPr>
          <a:xfrm xmlns:a="http://schemas.openxmlformats.org/drawingml/2006/main">
            <a:off x="330101" y="609600"/>
            <a:ext cx="787301" cy="38100"/>
          </a:xfrm>
          <a:prstGeom xmlns:a="http://schemas.openxmlformats.org/drawingml/2006/main" prst="rect">
            <a:avLst/>
          </a:prstGeom>
          <a:solidFill xmlns:a="http://schemas.openxmlformats.org/drawingml/2006/main">
            <a:srgbClr val="D63B4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50" name="Text 48">
            <a:extLst xmlns:a="http://schemas.openxmlformats.org/drawingml/2006/main">
              <a:ext uri="{FF2B5EF4-FFF2-40B4-BE49-F238E27FC236}">
                <a16:creationId xmlns:a16="http://schemas.microsoft.com/office/drawing/2014/main" id="{EE8FD3CA-BBDF-4418-8A5A-709AA724B7C5}"/>
              </a:ext>
            </a:extLst>
          </p:cNvPr>
          <p:cNvSpPr>
            <a:spLocks xmlns:a="http://schemas.openxmlformats.org/drawingml/2006/main" noGrp="1"/>
          </p:cNvSpPr>
          <p:nvPr/>
        </p:nvSpPr>
        <p:spPr>
          <a:xfrm xmlns:a="http://schemas.openxmlformats.org/drawingml/2006/main">
            <a:off x="8339328" y="4965192"/>
            <a:ext cx="502920"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60">
                <a:solidFill>
                  <a:srgbClr val="7A8794"/>
                </a:solidFill>
                <a:latin typeface="Arial"/>
                <a:ea typeface="Arial"/>
                <a:cs typeface="Arial"/>
              </a:rPr>
              <a:t>26 / 31</a:t>
            </a:r>
            <a:endParaRPr sz="660"/>
          </a:p>
        </p:txBody>
      </p:sp>
      <p:graphicFrame>
        <p:nvGraphicFramePr>
          <p:cNvPr id="59" name=""/>
          <p:cNvGraphicFramePr/>
          <p:nvPr/>
        </p:nvGraphicFramePr>
        <p:xfrm>
          <a:off xmlns:a="http://schemas.openxmlformats.org/drawingml/2006/main" x="342900" y="1000125"/>
          <a:ext xmlns:a="http://schemas.openxmlformats.org/drawingml/2006/main" cx="8458200" cy="2571750"/>
        </p:xfrm>
        <a:graphic xmlns:a="http://schemas.openxmlformats.org/drawingml/2006/main">
          <a:graphicData uri="http://schemas.openxmlformats.org/drawingml/2006/table">
            <a:tbl>
              <a:tblPr firstRow="1" bandRow="0"/>
              <a:tblGrid>
                <a:gridCol w="1571625"/>
                <a:gridCol w="2095500"/>
                <a:gridCol w="2428875"/>
                <a:gridCol w="2362200"/>
              </a:tblGrid>
              <a:tr h="514350">
                <a:tc>
                  <a:txBody>
                    <a:bodyPr wrap="square">
                      <a:noAutofit/>
                    </a:bodyPr>
                    <a:lstStyle/>
                    <a:p>
                      <a:r>
                        <a:rPr sz="1125" b="1">
                          <a:solidFill>
                            <a:srgbClr val="FFFFFF"/>
                          </a:solidFill>
                          <a:latin typeface="Arial"/>
                          <a:ea typeface="Arial"/>
                          <a:cs typeface="Arial"/>
                        </a:rPr>
                        <a:t>Risk</a:t>
                      </a:r>
                    </a:p>
                  </a:txBody>
                  <a:tcPr marL="91440" marR="91440" marT="45720" marB="45720" anchor="ctr">
                    <a:solidFill>
                      <a:srgbClr val="234D78"/>
                    </a:solidFill>
                  </a:tcPr>
                </a:tc>
                <a:tc>
                  <a:txBody>
                    <a:bodyPr wrap="square">
                      <a:noAutofit/>
                    </a:bodyPr>
                    <a:lstStyle/>
                    <a:p>
                      <a:r>
                        <a:rPr sz="1125" b="1">
                          <a:solidFill>
                            <a:srgbClr val="FFFFFF"/>
                          </a:solidFill>
                          <a:latin typeface="Arial"/>
                          <a:ea typeface="Arial"/>
                          <a:cs typeface="Arial"/>
                        </a:rPr>
                        <a:t>Contingency / diagnostic</a:t>
                      </a:r>
                    </a:p>
                  </a:txBody>
                  <a:tcPr marL="91440" marR="91440" marT="45720" marB="45720" anchor="ctr">
                    <a:solidFill>
                      <a:srgbClr val="234D78"/>
                    </a:solidFill>
                  </a:tcPr>
                </a:tc>
                <a:tc>
                  <a:txBody>
                    <a:bodyPr wrap="square">
                      <a:noAutofit/>
                    </a:bodyPr>
                    <a:lstStyle/>
                    <a:p>
                      <a:r>
                        <a:rPr sz="1125" b="1">
                          <a:solidFill>
                            <a:srgbClr val="FFFFFF"/>
                          </a:solidFill>
                          <a:latin typeface="Arial"/>
                          <a:ea typeface="Arial"/>
                          <a:cs typeface="Arial"/>
                        </a:rPr>
                        <a:t>Retained evidence</a:t>
                      </a:r>
                    </a:p>
                  </a:txBody>
                  <a:tcPr marL="91440" marR="91440" marT="45720" marB="45720" anchor="ctr">
                    <a:solidFill>
                      <a:srgbClr val="234D78"/>
                    </a:solidFill>
                  </a:tcPr>
                </a:tc>
                <a:tc>
                  <a:txBody>
                    <a:bodyPr wrap="square">
                      <a:noAutofit/>
                    </a:bodyPr>
                    <a:lstStyle/>
                    <a:p>
                      <a:r>
                        <a:rPr sz="1125" b="1">
                          <a:solidFill>
                            <a:srgbClr val="FFFFFF"/>
                          </a:solidFill>
                          <a:latin typeface="Arial"/>
                          <a:ea typeface="Arial"/>
                          <a:cs typeface="Arial"/>
                        </a:rPr>
                        <a:t>Status</a:t>
                      </a:r>
                    </a:p>
                  </a:txBody>
                  <a:tcPr marL="91440" marR="91440" marT="45720" marB="45720" anchor="ctr">
                    <a:solidFill>
                      <a:srgbClr val="234D78"/>
                    </a:solidFill>
                  </a:tcPr>
                </a:tc>
              </a:tr>
              <a:tr h="514350">
                <a:tc>
                  <a:txBody>
                    <a:bodyPr wrap="square">
                      <a:noAutofit/>
                    </a:bodyPr>
                    <a:lstStyle/>
                    <a:p>
                      <a:r>
                        <a:rPr sz="1140" b="1">
                          <a:solidFill>
                            <a:srgbClr val="12263A"/>
                          </a:solidFill>
                          <a:latin typeface="Arial"/>
                          <a:ea typeface="Arial"/>
                          <a:cs typeface="Arial"/>
                        </a:rPr>
                        <a:t>Poor poses / occlusion</a:t>
                      </a:r>
                    </a:p>
                  </a:txBody>
                  <a:tcPr marL="91440" marR="91440" marT="45720" marB="45720" anchor="ctr">
                    <a:solidFill>
                      <a:srgbClr val="FFFFFF"/>
                    </a:solidFill>
                  </a:tcPr>
                </a:tc>
                <a:tc>
                  <a:txBody>
                    <a:bodyPr wrap="square">
                      <a:noAutofit/>
                    </a:bodyPr>
                    <a:lstStyle/>
                    <a:p>
                      <a:r>
                        <a:rPr sz="1140" b="0">
                          <a:solidFill>
                            <a:srgbClr val="12263A"/>
                          </a:solidFill>
                          <a:latin typeface="Arial"/>
                          <a:ea typeface="Arial"/>
                          <a:cs typeface="Arial"/>
                        </a:rPr>
                        <a:t>Validity mask, filtering, manual edit</a:t>
                      </a:r>
                    </a:p>
                  </a:txBody>
                  <a:tcPr marL="91440" marR="91440" marT="45720" marB="45720" anchor="ctr">
                    <a:solidFill>
                      <a:srgbClr val="FFFFFF"/>
                    </a:solidFill>
                  </a:tcPr>
                </a:tc>
                <a:tc>
                  <a:txBody>
                    <a:bodyPr wrap="square">
                      <a:noAutofit/>
                    </a:bodyPr>
                    <a:lstStyle/>
                    <a:p>
                      <a:r>
                        <a:rPr sz="1140" b="0">
                          <a:solidFill>
                            <a:srgbClr val="12263A"/>
                          </a:solidFill>
                          <a:latin typeface="Arial"/>
                          <a:ea typeface="Arial"/>
                          <a:cs typeface="Arial"/>
                        </a:rPr>
                        <a:t>Original/estimated/corrected data + reasons</a:t>
                      </a:r>
                    </a:p>
                  </a:txBody>
                  <a:tcPr marL="91440" marR="91440" marT="45720" marB="45720" anchor="ctr">
                    <a:solidFill>
                      <a:srgbClr val="FFFFFF"/>
                    </a:solidFill>
                  </a:tcPr>
                </a:tc>
                <a:tc>
                  <a:txBody>
                    <a:bodyPr wrap="square">
                      <a:noAutofit/>
                    </a:bodyPr>
                    <a:lstStyle/>
                    <a:p>
                      <a:r>
                        <a:rPr sz="1140" b="0">
                          <a:solidFill>
                            <a:srgbClr val="12263A"/>
                          </a:solidFill>
                          <a:latin typeface="Arial"/>
                          <a:ea typeface="Arial"/>
                          <a:cs typeface="Arial"/>
                        </a:rPr>
                        <a:t>Proposed physics integration</a:t>
                      </a:r>
                    </a:p>
                  </a:txBody>
                  <a:tcPr marL="91440" marR="91440" marT="45720" marB="45720" anchor="ctr">
                    <a:solidFill>
                      <a:srgbClr val="FFFFFF"/>
                    </a:solidFill>
                  </a:tcPr>
                </a:tc>
              </a:tr>
              <a:tr h="514350">
                <a:tc>
                  <a:txBody>
                    <a:bodyPr wrap="square">
                      <a:noAutofit/>
                    </a:bodyPr>
                    <a:lstStyle/>
                    <a:p>
                      <a:r>
                        <a:rPr sz="1140" b="1">
                          <a:solidFill>
                            <a:srgbClr val="12263A"/>
                          </a:solidFill>
                          <a:latin typeface="Arial"/>
                          <a:ea typeface="Arial"/>
                          <a:cs typeface="Arial"/>
                        </a:rPr>
                        <a:t>Clean replay failure</a:t>
                      </a:r>
                    </a:p>
                  </a:txBody>
                  <a:tcPr marL="91440" marR="91440" marT="45720" marB="45720" anchor="ctr">
                    <a:solidFill>
                      <a:srgbClr val="F7F9FC"/>
                    </a:solidFill>
                  </a:tcPr>
                </a:tc>
                <a:tc>
                  <a:txBody>
                    <a:bodyPr wrap="square">
                      <a:noAutofit/>
                    </a:bodyPr>
                    <a:lstStyle/>
                    <a:p>
                      <a:r>
                        <a:rPr sz="1140" b="0">
                          <a:solidFill>
                            <a:srgbClr val="12263A"/>
                          </a:solidFill>
                          <a:latin typeface="Arial"/>
                          <a:ea typeface="Arial"/>
                          <a:cs typeface="Arial"/>
                        </a:rPr>
                        <a:t>Frame/TCP, grasp, controller, IK</a:t>
                      </a:r>
                    </a:p>
                  </a:txBody>
                  <a:tcPr marL="91440" marR="91440" marT="45720" marB="45720" anchor="ctr">
                    <a:solidFill>
                      <a:srgbClr val="F7F9FC"/>
                    </a:solidFill>
                  </a:tcPr>
                </a:tc>
                <a:tc>
                  <a:txBody>
                    <a:bodyPr wrap="square">
                      <a:noAutofit/>
                    </a:bodyPr>
                    <a:lstStyle/>
                    <a:p>
                      <a:r>
                        <a:rPr sz="1140" b="0">
                          <a:solidFill>
                            <a:srgbClr val="12263A"/>
                          </a:solidFill>
                          <a:latin typeface="Arial"/>
                          <a:ea typeface="Arial"/>
                          <a:cs typeface="Arial"/>
                        </a:rPr>
                        <a:t>Failure logs and reduced task scope</a:t>
                      </a:r>
                    </a:p>
                  </a:txBody>
                  <a:tcPr marL="91440" marR="91440" marT="45720" marB="45720" anchor="ctr">
                    <a:solidFill>
                      <a:srgbClr val="F7F9FC"/>
                    </a:solidFill>
                  </a:tcPr>
                </a:tc>
                <a:tc>
                  <a:txBody>
                    <a:bodyPr wrap="square">
                      <a:noAutofit/>
                    </a:bodyPr>
                    <a:lstStyle/>
                    <a:p>
                      <a:r>
                        <a:rPr sz="1140" b="0">
                          <a:solidFill>
                            <a:srgbClr val="12263A"/>
                          </a:solidFill>
                          <a:latin typeface="Arial"/>
                          <a:ea typeface="Arial"/>
                          <a:cs typeface="Arial"/>
                        </a:rPr>
                        <a:t>Reference available for diagnosis</a:t>
                      </a:r>
                    </a:p>
                  </a:txBody>
                  <a:tcPr marL="91440" marR="91440" marT="45720" marB="45720" anchor="ctr">
                    <a:solidFill>
                      <a:srgbClr val="F7F9FC"/>
                    </a:solidFill>
                  </a:tcPr>
                </a:tc>
              </a:tr>
              <a:tr h="514350">
                <a:tc>
                  <a:txBody>
                    <a:bodyPr wrap="square">
                      <a:noAutofit/>
                    </a:bodyPr>
                    <a:lstStyle/>
                    <a:p>
                      <a:r>
                        <a:rPr sz="1140" b="1">
                          <a:solidFill>
                            <a:srgbClr val="12263A"/>
                          </a:solidFill>
                          <a:latin typeface="Arial"/>
                          <a:ea typeface="Arial"/>
                          <a:cs typeface="Arial"/>
                        </a:rPr>
                        <a:t>Idle GPU / cost</a:t>
                      </a:r>
                    </a:p>
                  </a:txBody>
                  <a:tcPr marL="91440" marR="91440" marT="45720" marB="45720" anchor="ctr">
                    <a:solidFill>
                      <a:srgbClr val="FFFFFF"/>
                    </a:solidFill>
                  </a:tcPr>
                </a:tc>
                <a:tc>
                  <a:txBody>
                    <a:bodyPr wrap="square">
                      <a:noAutofit/>
                    </a:bodyPr>
                    <a:lstStyle/>
                    <a:p>
                      <a:r>
                        <a:rPr sz="1140" b="0">
                          <a:solidFill>
                            <a:srgbClr val="12263A"/>
                          </a:solidFill>
                          <a:latin typeface="Arial"/>
                          <a:ea typeface="Arial"/>
                          <a:cs typeface="Arial"/>
                        </a:rPr>
                        <a:t>Heartbeat, checkpoint, then stop</a:t>
                      </a:r>
                    </a:p>
                  </a:txBody>
                  <a:tcPr marL="91440" marR="91440" marT="45720" marB="45720" anchor="ctr">
                    <a:solidFill>
                      <a:srgbClr val="FFFFFF"/>
                    </a:solidFill>
                  </a:tcPr>
                </a:tc>
                <a:tc>
                  <a:txBody>
                    <a:bodyPr wrap="square">
                      <a:noAutofit/>
                    </a:bodyPr>
                    <a:lstStyle/>
                    <a:p>
                      <a:r>
                        <a:rPr sz="1140" b="0">
                          <a:solidFill>
                            <a:srgbClr val="12263A"/>
                          </a:solidFill>
                          <a:latin typeface="Arial"/>
                          <a:ea typeface="Arial"/>
                          <a:cs typeface="Arial"/>
                        </a:rPr>
                        <a:t>Runtime/cost ledger and receipt</a:t>
                      </a:r>
                    </a:p>
                  </a:txBody>
                  <a:tcPr marL="91440" marR="91440" marT="45720" marB="45720" anchor="ctr">
                    <a:solidFill>
                      <a:srgbClr val="FFFFFF"/>
                    </a:solidFill>
                  </a:tcPr>
                </a:tc>
                <a:tc>
                  <a:txBody>
                    <a:bodyPr wrap="square">
                      <a:noAutofit/>
                    </a:bodyPr>
                    <a:lstStyle/>
                    <a:p>
                      <a:r>
                        <a:rPr sz="1140" b="0">
                          <a:solidFill>
                            <a:srgbClr val="12263A"/>
                          </a:solidFill>
                          <a:latin typeface="Arial"/>
                          <a:ea typeface="Arial"/>
                          <a:cs typeface="Arial"/>
                        </a:rPr>
                        <a:t>Operational measures proposed</a:t>
                      </a:r>
                    </a:p>
                  </a:txBody>
                  <a:tcPr marL="91440" marR="91440" marT="45720" marB="45720" anchor="ctr">
                    <a:solidFill>
                      <a:srgbClr val="FFFFFF"/>
                    </a:solidFill>
                  </a:tcPr>
                </a:tc>
              </a:tr>
              <a:tr h="514350">
                <a:tc>
                  <a:txBody>
                    <a:bodyPr wrap="square">
                      <a:noAutofit/>
                    </a:bodyPr>
                    <a:lstStyle/>
                    <a:p>
                      <a:r>
                        <a:rPr sz="1140" b="1">
                          <a:solidFill>
                            <a:srgbClr val="12263A"/>
                          </a:solidFill>
                          <a:latin typeface="Arial"/>
                          <a:ea typeface="Arial"/>
                          <a:cs typeface="Arial"/>
                        </a:rPr>
                        <a:t>Data / checkpoints</a:t>
                      </a:r>
                    </a:p>
                  </a:txBody>
                  <a:tcPr marL="91440" marR="91440" marT="45720" marB="45720" anchor="ctr">
                    <a:solidFill>
                      <a:srgbClr val="F7F9FC"/>
                    </a:solidFill>
                  </a:tcPr>
                </a:tc>
                <a:tc>
                  <a:txBody>
                    <a:bodyPr wrap="square">
                      <a:noAutofit/>
                    </a:bodyPr>
                    <a:lstStyle/>
                    <a:p>
                      <a:r>
                        <a:rPr sz="1140" b="0">
                          <a:solidFill>
                            <a:srgbClr val="12263A"/>
                          </a:solidFill>
                          <a:latin typeface="Arial"/>
                          <a:ea typeface="Arial"/>
                          <a:cs typeface="Arial"/>
                        </a:rPr>
                        <a:t>Hashed local cache; selective sync</a:t>
                      </a:r>
                    </a:p>
                  </a:txBody>
                  <a:tcPr marL="91440" marR="91440" marT="45720" marB="45720" anchor="ctr">
                    <a:solidFill>
                      <a:srgbClr val="F7F9FC"/>
                    </a:solidFill>
                  </a:tcPr>
                </a:tc>
                <a:tc>
                  <a:txBody>
                    <a:bodyPr wrap="square">
                      <a:noAutofit/>
                    </a:bodyPr>
                    <a:lstStyle/>
                    <a:p>
                      <a:r>
                        <a:rPr sz="1140" b="0">
                          <a:solidFill>
                            <a:srgbClr val="12263A"/>
                          </a:solidFill>
                          <a:latin typeface="Arial"/>
                          <a:ea typeface="Arial"/>
                          <a:cs typeface="Arial"/>
                        </a:rPr>
                        <a:t>Manifest, version, retention policy</a:t>
                      </a:r>
                    </a:p>
                  </a:txBody>
                  <a:tcPr marL="91440" marR="91440" marT="45720" marB="45720" anchor="ctr">
                    <a:solidFill>
                      <a:srgbClr val="F7F9FC"/>
                    </a:solidFill>
                  </a:tcPr>
                </a:tc>
                <a:tc>
                  <a:txBody>
                    <a:bodyPr wrap="square">
                      <a:noAutofit/>
                    </a:bodyPr>
                    <a:lstStyle/>
                    <a:p>
                      <a:r>
                        <a:rPr sz="1140" b="0">
                          <a:solidFill>
                            <a:srgbClr val="12263A"/>
                          </a:solidFill>
                          <a:latin typeface="Arial"/>
                          <a:ea typeface="Arial"/>
                          <a:cs typeface="Arial"/>
                        </a:rPr>
                        <a:t>Storage procedure proposed</a:t>
                      </a:r>
                    </a:p>
                  </a:txBody>
                  <a:tcPr marL="91440" marR="91440" marT="45720" marB="45720" anchor="ctr">
                    <a:solidFill>
                      <a:srgbClr val="F7F9FC"/>
                    </a:solidFill>
                  </a:tcPr>
                </a:tc>
              </a:tr>
            </a:tbl>
          </a:graphicData>
        </a:graphic>
      </p:graphicFrame>
      <p:sp>
        <p:nvSpPr>
          <p:cNvPr id="52" name="Table caveat">
            <a:extLst xmlns:a="http://schemas.openxmlformats.org/drawingml/2006/main">
              <a:ext uri="{FF2B5EF4-FFF2-40B4-BE49-F238E27FC236}">
                <a16:creationId xmlns:a16="http://schemas.microsoft.com/office/drawing/2014/main" id="{D5613681-7DA8-4282-86E3-AD3E93FF566A}"/>
              </a:ext>
            </a:extLst>
          </p:cNvPr>
          <p:cNvSpPr>
            <a:spLocks xmlns:a="http://schemas.openxmlformats.org/drawingml/2006/main" noGrp="1"/>
          </p:cNvSpPr>
          <p:nvPr/>
        </p:nvSpPr>
        <p:spPr>
          <a:xfrm xmlns:a="http://schemas.openxmlformats.org/drawingml/2006/main">
            <a:off x="400050" y="3829050"/>
            <a:ext cx="828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12263A"/>
                </a:solidFill>
                <a:latin typeface="Arial"/>
                <a:ea typeface="Arial"/>
                <a:cs typeface="Arial"/>
              </a:defRPr>
            </a:pPr>
            <a:r>
              <a:rPr sz="1140" b="1">
                <a:solidFill>
                  <a:srgbClr val="12263A"/>
                </a:solidFill>
                <a:latin typeface="Arial"/>
                <a:ea typeface="Arial"/>
                <a:cs typeface="Arial"/>
              </a:rPr>
              <a:t>The CPU reference is available. Cloud idle-timeout and caching procedures remain proposed.</a:t>
            </a:r>
          </a:p>
        </p:txBody>
      </p:sp>
      <p:sp>
        <p:nvSpPr>
          <p:cNvPr id="53" name="Sources footer">
            <a:extLst xmlns:a="http://schemas.openxmlformats.org/drawingml/2006/main">
              <a:ext uri="{FF2B5EF4-FFF2-40B4-BE49-F238E27FC236}">
                <a16:creationId xmlns:a16="http://schemas.microsoft.com/office/drawing/2014/main" id="{E5AFBB4E-4AAA-4AA2-8A01-1F9E64389618}"/>
              </a:ext>
            </a:extLst>
          </p:cNvPr>
          <p:cNvSpPr>
            <a:spLocks xmlns:a="http://schemas.openxmlformats.org/drawingml/2006/main" noGrp="1"/>
          </p:cNvSpPr>
          <p:nvPr/>
        </p:nvSpPr>
        <p:spPr>
          <a:xfrm xmlns:a="http://schemas.openxmlformats.org/drawingml/2006/main">
            <a:off x="438150" y="4924425"/>
            <a:ext cx="72961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40" b="0">
                <a:solidFill>
                  <a:srgbClr val="234D78"/>
                </a:solidFill>
                <a:latin typeface="Arial"/>
                <a:ea typeface="Arial"/>
                <a:cs typeface="Arial"/>
              </a:defRPr>
            </a:pPr>
            <a:r>
              <a:rPr sz="640" b="0">
                <a:solidFill>
                  <a:srgbClr val="234D78"/>
                </a:solidFill>
                <a:latin typeface="Arial"/>
                <a:ea typeface="Arial"/>
                <a:cs typeface="Arial"/>
                <a:hlinkClick xmlns:r="http://schemas.openxmlformats.org/officeDocument/2006/relationships" r:id="Rca900000b7ab44ea"/>
              </a:rPr>
              <a:t>Reader guide and sources</a:t>
            </a:r>
          </a:p>
        </p:txBody>
      </p:sp>
    </p:spTree>
    <p:extLst>
      <p:ext uri="{BB962C8B-B14F-4D97-AF65-F5344CB8AC3E}">
        <p14:creationId xmlns:p14="http://schemas.microsoft.com/office/powerpoint/2010/main" val="60819033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EB24BF9-DE3F-46C1-8827-6F2C1A0D61FD}"/>
              </a:ext>
            </a:extLst>
          </p:cNvPr>
          <p:cNvSpPr>
            <a:spLocks xmlns:a="http://schemas.openxmlformats.org/drawingml/2006/main" noGrp="1"/>
          </p:cNvSpPr>
          <p:nvPr/>
        </p:nvSpPr>
        <p:spPr>
          <a:xfrm xmlns:a="http://schemas.openxmlformats.org/drawingml/2006/main">
            <a:off x="0" y="0"/>
            <a:ext cx="9144000" cy="609600"/>
          </a:xfrm>
          <a:prstGeom xmlns:a="http://schemas.openxmlformats.org/drawingml/2006/main" prst="rect">
            <a:avLst/>
          </a:prstGeom>
          <a:solidFill xmlns:a="http://schemas.openxmlformats.org/drawingml/2006/main">
            <a:srgbClr val="234D7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3" name="Text 1">
            <a:extLst xmlns:a="http://schemas.openxmlformats.org/drawingml/2006/main">
              <a:ext uri="{FF2B5EF4-FFF2-40B4-BE49-F238E27FC236}">
                <a16:creationId xmlns:a16="http://schemas.microsoft.com/office/drawing/2014/main" id="{84CDA9A8-C9FF-4892-9F4F-95B2FBA9A87A}"/>
              </a:ext>
            </a:extLst>
          </p:cNvPr>
          <p:cNvSpPr>
            <a:spLocks xmlns:a="http://schemas.openxmlformats.org/drawingml/2006/main" noGrp="1"/>
          </p:cNvSpPr>
          <p:nvPr/>
        </p:nvSpPr>
        <p:spPr>
          <a:xfrm xmlns:a="http://schemas.openxmlformats.org/drawingml/2006/main">
            <a:off x="330136" y="164116"/>
            <a:ext cx="6619875" cy="3238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2415"/>
              </a:lnSpc>
              <a:buNone/>
              <a:defRPr sz="2300" b="1">
                <a:solidFill>
                  <a:srgbClr val="FFFFFF"/>
                </a:solidFill>
                <a:latin typeface="Arial"/>
                <a:ea typeface="Arial"/>
                <a:cs typeface="Arial"/>
              </a:defRPr>
            </a:pPr>
            <a:r>
              <a:rPr sz="2300" b="1">
                <a:solidFill>
                  <a:srgbClr val="FFFFFF"/>
                </a:solidFill>
                <a:latin typeface="Arial"/>
                <a:ea typeface="Arial"/>
                <a:cs typeface="Arial"/>
              </a:rPr>
              <a:t>An experimental sequence</a:t>
            </a:r>
            <a:endParaRPr sz="2300"/>
          </a:p>
        </p:txBody>
      </p:sp>
      <p:sp>
        <p:nvSpPr>
          <p:cNvPr id="4" name="Text 2">
            <a:extLst xmlns:a="http://schemas.openxmlformats.org/drawingml/2006/main">
              <a:ext uri="{FF2B5EF4-FFF2-40B4-BE49-F238E27FC236}">
                <a16:creationId xmlns:a16="http://schemas.microsoft.com/office/drawing/2014/main" id="{5C1CC55C-5F57-4FAE-BA1C-CA3FE446FAE4}"/>
              </a:ext>
            </a:extLst>
          </p:cNvPr>
          <p:cNvSpPr>
            <a:spLocks xmlns:a="http://schemas.openxmlformats.org/drawingml/2006/main" noGrp="1"/>
          </p:cNvSpPr>
          <p:nvPr/>
        </p:nvSpPr>
        <p:spPr>
          <a:xfrm xmlns:a="http://schemas.openxmlformats.org/drawingml/2006/main">
            <a:off x="7372350" y="190500"/>
            <a:ext cx="14478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r">
              <a:lnSpc>
                <a:spcPts val="1054"/>
              </a:lnSpc>
              <a:buNone/>
              <a:defRPr sz="788" b="1">
                <a:solidFill>
                  <a:srgbClr val="FFFFFF"/>
                </a:solidFill>
                <a:latin typeface="Arial"/>
                <a:ea typeface="Arial"/>
                <a:cs typeface="Arial"/>
              </a:defRPr>
            </a:pPr>
            <a:r>
              <a:rPr sz="788" b="1">
                <a:solidFill>
                  <a:srgbClr val="FFFFFF"/>
                </a:solidFill>
                <a:latin typeface="Arial"/>
                <a:ea typeface="Arial"/>
                <a:cs typeface="Arial"/>
              </a:rPr>
              <a:t>CS CAPSTONE REFERENCE</a:t>
            </a:r>
            <a:endParaRPr sz="850"/>
          </a:p>
        </p:txBody>
      </p:sp>
      <p:sp>
        <p:nvSpPr>
          <p:cNvPr id="5" name="Text 3">
            <a:extLst xmlns:a="http://schemas.openxmlformats.org/drawingml/2006/main">
              <a:ext uri="{FF2B5EF4-FFF2-40B4-BE49-F238E27FC236}">
                <a16:creationId xmlns:a16="http://schemas.microsoft.com/office/drawing/2014/main" id="{4718740C-D881-422A-99AE-1EB7A972BCCA}"/>
              </a:ext>
            </a:extLst>
          </p:cNvPr>
          <p:cNvSpPr>
            <a:spLocks xmlns:a="http://schemas.openxmlformats.org/drawingml/2006/main" noGrp="1"/>
          </p:cNvSpPr>
          <p:nvPr/>
        </p:nvSpPr>
        <p:spPr>
          <a:xfrm xmlns:a="http://schemas.openxmlformats.org/drawingml/2006/main">
            <a:off x="330101" y="609600"/>
            <a:ext cx="787301" cy="38100"/>
          </a:xfrm>
          <a:prstGeom xmlns:a="http://schemas.openxmlformats.org/drawingml/2006/main" prst="rect">
            <a:avLst/>
          </a:prstGeom>
          <a:solidFill xmlns:a="http://schemas.openxmlformats.org/drawingml/2006/main">
            <a:srgbClr val="D63B4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6" name="Text 4">
            <a:extLst xmlns:a="http://schemas.openxmlformats.org/drawingml/2006/main">
              <a:ext uri="{FF2B5EF4-FFF2-40B4-BE49-F238E27FC236}">
                <a16:creationId xmlns:a16="http://schemas.microsoft.com/office/drawing/2014/main" id="{6E754C8A-BDDD-420A-9313-C8FFB94CC59E}"/>
              </a:ext>
            </a:extLst>
          </p:cNvPr>
          <p:cNvSpPr>
            <a:spLocks xmlns:a="http://schemas.openxmlformats.org/drawingml/2006/main" noGrp="1"/>
          </p:cNvSpPr>
          <p:nvPr/>
        </p:nvSpPr>
        <p:spPr>
          <a:xfrm xmlns:a="http://schemas.openxmlformats.org/drawingml/2006/main">
            <a:off x="342900" y="850850"/>
            <a:ext cx="2734717" cy="3270349"/>
          </a:xfrm>
          <a:prstGeom xmlns:a="http://schemas.openxmlformats.org/drawingml/2006/main" prst="roundRect">
            <a:avLst>
              <a:gd name="adj" fmla="val 3715"/>
            </a:avLst>
          </a:prstGeom>
          <a:solidFill xmlns:a="http://schemas.openxmlformats.org/drawingml/2006/main">
            <a:srgbClr val="EEF4F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7" name="Shape 5">
            <a:extLst xmlns:a="http://schemas.openxmlformats.org/drawingml/2006/main">
              <a:ext uri="{FF2B5EF4-FFF2-40B4-BE49-F238E27FC236}">
                <a16:creationId xmlns:a16="http://schemas.microsoft.com/office/drawing/2014/main" id="{0DBD5B7C-5558-4A38-9C41-D7C285621C19}"/>
              </a:ext>
            </a:extLst>
          </p:cNvPr>
          <p:cNvSpPr>
            <a:spLocks xmlns:a="http://schemas.openxmlformats.org/drawingml/2006/main" noGrp="1"/>
          </p:cNvSpPr>
          <p:nvPr/>
        </p:nvSpPr>
        <p:spPr>
          <a:xfrm xmlns:a="http://schemas.openxmlformats.org/drawingml/2006/main">
            <a:off x="342900" y="855613"/>
            <a:ext cx="2734717"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8" name="Shape 6">
            <a:extLst xmlns:a="http://schemas.openxmlformats.org/drawingml/2006/main">
              <a:ext uri="{FF2B5EF4-FFF2-40B4-BE49-F238E27FC236}">
                <a16:creationId xmlns:a16="http://schemas.microsoft.com/office/drawing/2014/main" id="{40BE37E8-5E78-4774-A264-5826E59D5FBA}"/>
              </a:ext>
            </a:extLst>
          </p:cNvPr>
          <p:cNvSpPr>
            <a:spLocks xmlns:a="http://schemas.openxmlformats.org/drawingml/2006/main" noGrp="1"/>
          </p:cNvSpPr>
          <p:nvPr/>
        </p:nvSpPr>
        <p:spPr>
          <a:xfrm xmlns:a="http://schemas.openxmlformats.org/drawingml/2006/main">
            <a:off x="3072854" y="850850"/>
            <a:ext cx="0" cy="3270349"/>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9" name="Shape 7">
            <a:extLst xmlns:a="http://schemas.openxmlformats.org/drawingml/2006/main">
              <a:ext uri="{FF2B5EF4-FFF2-40B4-BE49-F238E27FC236}">
                <a16:creationId xmlns:a16="http://schemas.microsoft.com/office/drawing/2014/main" id="{04474F73-7F29-425D-9FAD-9E1599B63C28}"/>
              </a:ext>
            </a:extLst>
          </p:cNvPr>
          <p:cNvSpPr>
            <a:spLocks xmlns:a="http://schemas.openxmlformats.org/drawingml/2006/main" noGrp="1"/>
          </p:cNvSpPr>
          <p:nvPr/>
        </p:nvSpPr>
        <p:spPr>
          <a:xfrm xmlns:a="http://schemas.openxmlformats.org/drawingml/2006/main">
            <a:off x="342900" y="4116437"/>
            <a:ext cx="2734717"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0" name="Shape 8">
            <a:extLst xmlns:a="http://schemas.openxmlformats.org/drawingml/2006/main">
              <a:ext uri="{FF2B5EF4-FFF2-40B4-BE49-F238E27FC236}">
                <a16:creationId xmlns:a16="http://schemas.microsoft.com/office/drawing/2014/main" id="{E1160147-A6B8-4D6A-AC64-33740A60C261}"/>
              </a:ext>
            </a:extLst>
          </p:cNvPr>
          <p:cNvSpPr>
            <a:spLocks xmlns:a="http://schemas.openxmlformats.org/drawingml/2006/main" noGrp="1"/>
          </p:cNvSpPr>
          <p:nvPr/>
        </p:nvSpPr>
        <p:spPr>
          <a:xfrm xmlns:a="http://schemas.openxmlformats.org/drawingml/2006/main">
            <a:off x="371475" y="850850"/>
            <a:ext cx="0" cy="3270349"/>
          </a:xfrm>
          <a:prstGeom xmlns:a="http://schemas.openxmlformats.org/drawingml/2006/main" prst="line">
            <a:avLst/>
          </a:prstGeom>
          <a:noFill xmlns:a="http://schemas.openxmlformats.org/drawingml/2006/main"/>
          <a:ln xmlns:a="http://schemas.openxmlformats.org/drawingml/2006/main" w="57150">
            <a:solidFill>
              <a:srgbClr val="234D78"/>
            </a:solidFill>
            <a:prstDash val="solid"/>
          </a:ln>
        </p:spPr>
      </p:sp>
      <p:sp>
        <p:nvSpPr>
          <p:cNvPr id="11" name="Text 9">
            <a:extLst xmlns:a="http://schemas.openxmlformats.org/drawingml/2006/main">
              <a:ext uri="{FF2B5EF4-FFF2-40B4-BE49-F238E27FC236}">
                <a16:creationId xmlns:a16="http://schemas.microsoft.com/office/drawing/2014/main" id="{91422FAF-27A6-4BA2-A2F3-C8300F0143E7}"/>
              </a:ext>
            </a:extLst>
          </p:cNvPr>
          <p:cNvSpPr>
            <a:spLocks xmlns:a="http://schemas.openxmlformats.org/drawingml/2006/main" noGrp="1"/>
          </p:cNvSpPr>
          <p:nvPr/>
        </p:nvSpPr>
        <p:spPr>
          <a:xfrm xmlns:a="http://schemas.openxmlformats.org/drawingml/2006/main">
            <a:off x="552450" y="1012775"/>
            <a:ext cx="2410507" cy="3174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2500"/>
              </a:lnSpc>
              <a:spcAft>
                <a:spcPts val="500"/>
              </a:spcAft>
              <a:buNone/>
              <a:defRPr sz="2500" b="1">
                <a:solidFill>
                  <a:srgbClr val="234D78"/>
                </a:solidFill>
                <a:latin typeface="Arial"/>
                <a:ea typeface="Arial"/>
                <a:cs typeface="Arial"/>
              </a:defRPr>
            </a:pPr>
            <a:r>
              <a:rPr sz="2500" b="1">
                <a:solidFill>
                  <a:srgbClr val="234D78"/>
                </a:solidFill>
                <a:latin typeface="Arial"/>
                <a:ea typeface="Arial"/>
                <a:cs typeface="Arial"/>
              </a:rPr>
              <a:t>STEP A</a:t>
            </a:r>
            <a:endParaRPr sz="2500"/>
          </a:p>
        </p:txBody>
      </p:sp>
      <p:sp>
        <p:nvSpPr>
          <p:cNvPr id="12" name="Text 10">
            <a:extLst xmlns:a="http://schemas.openxmlformats.org/drawingml/2006/main">
              <a:ext uri="{FF2B5EF4-FFF2-40B4-BE49-F238E27FC236}">
                <a16:creationId xmlns:a16="http://schemas.microsoft.com/office/drawing/2014/main" id="{639DA608-815A-41E5-AF44-4EF8F6087B7B}"/>
              </a:ext>
            </a:extLst>
          </p:cNvPr>
          <p:cNvSpPr>
            <a:spLocks xmlns:a="http://schemas.openxmlformats.org/drawingml/2006/main" noGrp="1"/>
          </p:cNvSpPr>
          <p:nvPr/>
        </p:nvSpPr>
        <p:spPr>
          <a:xfrm xmlns:a="http://schemas.openxmlformats.org/drawingml/2006/main">
            <a:off x="552450" y="1393627"/>
            <a:ext cx="2410507"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Pose sensitivity</a:t>
            </a:r>
            <a:endParaRPr sz="1400"/>
          </a:p>
        </p:txBody>
      </p:sp>
      <p:sp>
        <p:nvSpPr>
          <p:cNvPr id="13" name="Text 11">
            <a:extLst xmlns:a="http://schemas.openxmlformats.org/drawingml/2006/main">
              <a:ext uri="{FF2B5EF4-FFF2-40B4-BE49-F238E27FC236}">
                <a16:creationId xmlns:a16="http://schemas.microsoft.com/office/drawing/2014/main" id="{3D584F9E-53DC-4A7E-B4D1-9A327744ADF4}"/>
              </a:ext>
            </a:extLst>
          </p:cNvPr>
          <p:cNvSpPr>
            <a:spLocks xmlns:a="http://schemas.openxmlformats.org/drawingml/2006/main" noGrp="1"/>
          </p:cNvSpPr>
          <p:nvPr/>
        </p:nvSpPr>
        <p:spPr>
          <a:xfrm xmlns:a="http://schemas.openxmlformats.org/drawingml/2006/main">
            <a:off x="768251" y="1661517"/>
            <a:ext cx="2147441" cy="671661"/>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Consequential clean/corrupt inputs.</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Anchor, frame, and scale assumptions.</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Failure logs and physics replay.</a:t>
            </a:r>
            <a:endParaRPr sz="1170"/>
          </a:p>
        </p:txBody>
      </p:sp>
      <p:sp>
        <p:nvSpPr>
          <p:cNvPr id="14" name="Text 12">
            <a:extLst xmlns:a="http://schemas.openxmlformats.org/drawingml/2006/main">
              <a:ext uri="{FF2B5EF4-FFF2-40B4-BE49-F238E27FC236}">
                <a16:creationId xmlns:a16="http://schemas.microsoft.com/office/drawing/2014/main" id="{49D5AA16-3350-4F23-9BE7-9A431549144D}"/>
              </a:ext>
            </a:extLst>
          </p:cNvPr>
          <p:cNvSpPr>
            <a:spLocks xmlns:a="http://schemas.openxmlformats.org/drawingml/2006/main" noGrp="1"/>
          </p:cNvSpPr>
          <p:nvPr/>
        </p:nvSpPr>
        <p:spPr>
          <a:xfrm xmlns:a="http://schemas.openxmlformats.org/drawingml/2006/main">
            <a:off x="3204567" y="850850"/>
            <a:ext cx="2734866" cy="3270349"/>
          </a:xfrm>
          <a:prstGeom xmlns:a="http://schemas.openxmlformats.org/drawingml/2006/main" prst="roundRect">
            <a:avLst>
              <a:gd name="adj" fmla="val 3715"/>
            </a:avLst>
          </a:prstGeom>
          <a:solidFill xmlns:a="http://schemas.openxmlformats.org/drawingml/2006/main">
            <a:srgbClr val="EDFAF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15" name="Shape 13">
            <a:extLst xmlns:a="http://schemas.openxmlformats.org/drawingml/2006/main">
              <a:ext uri="{FF2B5EF4-FFF2-40B4-BE49-F238E27FC236}">
                <a16:creationId xmlns:a16="http://schemas.microsoft.com/office/drawing/2014/main" id="{36DF0488-2C44-4844-A2A1-C25ED056D48D}"/>
              </a:ext>
            </a:extLst>
          </p:cNvPr>
          <p:cNvSpPr>
            <a:spLocks xmlns:a="http://schemas.openxmlformats.org/drawingml/2006/main" noGrp="1"/>
          </p:cNvSpPr>
          <p:nvPr/>
        </p:nvSpPr>
        <p:spPr>
          <a:xfrm xmlns:a="http://schemas.openxmlformats.org/drawingml/2006/main">
            <a:off x="3204567" y="855613"/>
            <a:ext cx="2734866"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6" name="Shape 14">
            <a:extLst xmlns:a="http://schemas.openxmlformats.org/drawingml/2006/main">
              <a:ext uri="{FF2B5EF4-FFF2-40B4-BE49-F238E27FC236}">
                <a16:creationId xmlns:a16="http://schemas.microsoft.com/office/drawing/2014/main" id="{F5B65CEE-7D1F-4C39-8190-5B7B7C523ED4}"/>
              </a:ext>
            </a:extLst>
          </p:cNvPr>
          <p:cNvSpPr>
            <a:spLocks xmlns:a="http://schemas.openxmlformats.org/drawingml/2006/main" noGrp="1"/>
          </p:cNvSpPr>
          <p:nvPr/>
        </p:nvSpPr>
        <p:spPr>
          <a:xfrm xmlns:a="http://schemas.openxmlformats.org/drawingml/2006/main">
            <a:off x="5934670" y="850850"/>
            <a:ext cx="0" cy="3270349"/>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7" name="Shape 15">
            <a:extLst xmlns:a="http://schemas.openxmlformats.org/drawingml/2006/main">
              <a:ext uri="{FF2B5EF4-FFF2-40B4-BE49-F238E27FC236}">
                <a16:creationId xmlns:a16="http://schemas.microsoft.com/office/drawing/2014/main" id="{9DE58B2C-58AF-4890-AB84-36175C5AD07C}"/>
              </a:ext>
            </a:extLst>
          </p:cNvPr>
          <p:cNvSpPr>
            <a:spLocks xmlns:a="http://schemas.openxmlformats.org/drawingml/2006/main" noGrp="1"/>
          </p:cNvSpPr>
          <p:nvPr/>
        </p:nvSpPr>
        <p:spPr>
          <a:xfrm xmlns:a="http://schemas.openxmlformats.org/drawingml/2006/main">
            <a:off x="3204567" y="4116437"/>
            <a:ext cx="2734866"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8" name="Shape 16">
            <a:extLst xmlns:a="http://schemas.openxmlformats.org/drawingml/2006/main">
              <a:ext uri="{FF2B5EF4-FFF2-40B4-BE49-F238E27FC236}">
                <a16:creationId xmlns:a16="http://schemas.microsoft.com/office/drawing/2014/main" id="{5483D9CA-069F-4C51-8F18-6C0AE9160C36}"/>
              </a:ext>
            </a:extLst>
          </p:cNvPr>
          <p:cNvSpPr>
            <a:spLocks xmlns:a="http://schemas.openxmlformats.org/drawingml/2006/main" noGrp="1"/>
          </p:cNvSpPr>
          <p:nvPr/>
        </p:nvSpPr>
        <p:spPr>
          <a:xfrm xmlns:a="http://schemas.openxmlformats.org/drawingml/2006/main">
            <a:off x="3233142" y="850850"/>
            <a:ext cx="0" cy="3270349"/>
          </a:xfrm>
          <a:prstGeom xmlns:a="http://schemas.openxmlformats.org/drawingml/2006/main" prst="line">
            <a:avLst/>
          </a:prstGeom>
          <a:noFill xmlns:a="http://schemas.openxmlformats.org/drawingml/2006/main"/>
          <a:ln xmlns:a="http://schemas.openxmlformats.org/drawingml/2006/main" w="57150">
            <a:solidFill>
              <a:srgbClr val="1D9E91"/>
            </a:solidFill>
            <a:prstDash val="solid"/>
          </a:ln>
        </p:spPr>
      </p:sp>
      <p:sp>
        <p:nvSpPr>
          <p:cNvPr id="19" name="Text 17">
            <a:extLst xmlns:a="http://schemas.openxmlformats.org/drawingml/2006/main">
              <a:ext uri="{FF2B5EF4-FFF2-40B4-BE49-F238E27FC236}">
                <a16:creationId xmlns:a16="http://schemas.microsoft.com/office/drawing/2014/main" id="{ABDFD168-58BB-4B6D-A71A-47047E779D9D}"/>
              </a:ext>
            </a:extLst>
          </p:cNvPr>
          <p:cNvSpPr>
            <a:spLocks xmlns:a="http://schemas.openxmlformats.org/drawingml/2006/main" noGrp="1"/>
          </p:cNvSpPr>
          <p:nvPr/>
        </p:nvSpPr>
        <p:spPr>
          <a:xfrm xmlns:a="http://schemas.openxmlformats.org/drawingml/2006/main">
            <a:off x="3414117" y="1012775"/>
            <a:ext cx="2410658" cy="3174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2500"/>
              </a:lnSpc>
              <a:spcAft>
                <a:spcPts val="500"/>
              </a:spcAft>
              <a:buNone/>
              <a:defRPr sz="2500" b="1">
                <a:solidFill>
                  <a:srgbClr val="234D78"/>
                </a:solidFill>
                <a:latin typeface="Arial"/>
                <a:ea typeface="Arial"/>
                <a:cs typeface="Arial"/>
              </a:defRPr>
            </a:pPr>
            <a:r>
              <a:rPr sz="2500" b="1">
                <a:solidFill>
                  <a:srgbClr val="234D78"/>
                </a:solidFill>
                <a:latin typeface="Arial"/>
                <a:ea typeface="Arial"/>
                <a:cs typeface="Arial"/>
              </a:rPr>
              <a:t>STEP B</a:t>
            </a:r>
            <a:endParaRPr sz="2500"/>
          </a:p>
        </p:txBody>
      </p:sp>
      <p:sp>
        <p:nvSpPr>
          <p:cNvPr id="20" name="Text 18">
            <a:extLst xmlns:a="http://schemas.openxmlformats.org/drawingml/2006/main">
              <a:ext uri="{FF2B5EF4-FFF2-40B4-BE49-F238E27FC236}">
                <a16:creationId xmlns:a16="http://schemas.microsoft.com/office/drawing/2014/main" id="{818893C5-590B-4E4D-B587-89ADD0637C69}"/>
              </a:ext>
            </a:extLst>
          </p:cNvPr>
          <p:cNvSpPr>
            <a:spLocks xmlns:a="http://schemas.openxmlformats.org/drawingml/2006/main" noGrp="1"/>
          </p:cNvSpPr>
          <p:nvPr/>
        </p:nvSpPr>
        <p:spPr>
          <a:xfrm xmlns:a="http://schemas.openxmlformats.org/drawingml/2006/main">
            <a:off x="3414117" y="1393627"/>
            <a:ext cx="2410658"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Correction protocol</a:t>
            </a:r>
            <a:endParaRPr sz="1400"/>
          </a:p>
        </p:txBody>
      </p:sp>
      <p:sp>
        <p:nvSpPr>
          <p:cNvPr id="21" name="Text 19">
            <a:extLst xmlns:a="http://schemas.openxmlformats.org/drawingml/2006/main">
              <a:ext uri="{FF2B5EF4-FFF2-40B4-BE49-F238E27FC236}">
                <a16:creationId xmlns:a16="http://schemas.microsoft.com/office/drawing/2014/main" id="{7F43E140-ED1A-48DB-908D-B1151F656D6B}"/>
              </a:ext>
            </a:extLst>
          </p:cNvPr>
          <p:cNvSpPr>
            <a:spLocks xmlns:a="http://schemas.openxmlformats.org/drawingml/2006/main" noGrp="1"/>
          </p:cNvSpPr>
          <p:nvPr/>
        </p:nvSpPr>
        <p:spPr>
          <a:xfrm xmlns:a="http://schemas.openxmlformats.org/drawingml/2006/main">
            <a:off x="3629918" y="1661517"/>
            <a:ext cx="2147590" cy="671661"/>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Edited artifacts alter the plan.</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Random/ranked use matched budgets.</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Oracle pilot, then measured human time.</a:t>
            </a:r>
            <a:endParaRPr sz="1170"/>
          </a:p>
        </p:txBody>
      </p:sp>
      <p:sp>
        <p:nvSpPr>
          <p:cNvPr id="22" name="Text 20">
            <a:extLst xmlns:a="http://schemas.openxmlformats.org/drawingml/2006/main">
              <a:ext uri="{FF2B5EF4-FFF2-40B4-BE49-F238E27FC236}">
                <a16:creationId xmlns:a16="http://schemas.microsoft.com/office/drawing/2014/main" id="{3CF0501A-DCD7-4A12-BB27-B3A0D223A497}"/>
              </a:ext>
            </a:extLst>
          </p:cNvPr>
          <p:cNvSpPr>
            <a:spLocks xmlns:a="http://schemas.openxmlformats.org/drawingml/2006/main" noGrp="1"/>
          </p:cNvSpPr>
          <p:nvPr/>
        </p:nvSpPr>
        <p:spPr>
          <a:xfrm xmlns:a="http://schemas.openxmlformats.org/drawingml/2006/main">
            <a:off x="6066383" y="850850"/>
            <a:ext cx="2734717" cy="3270349"/>
          </a:xfrm>
          <a:prstGeom xmlns:a="http://schemas.openxmlformats.org/drawingml/2006/main" prst="roundRect">
            <a:avLst>
              <a:gd name="adj" fmla="val 3715"/>
            </a:avLst>
          </a:prstGeom>
          <a:solidFill xmlns:a="http://schemas.openxmlformats.org/drawingml/2006/main">
            <a:srgbClr val="FFF8E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23" name="Shape 21">
            <a:extLst xmlns:a="http://schemas.openxmlformats.org/drawingml/2006/main">
              <a:ext uri="{FF2B5EF4-FFF2-40B4-BE49-F238E27FC236}">
                <a16:creationId xmlns:a16="http://schemas.microsoft.com/office/drawing/2014/main" id="{5FF4246D-3F29-4027-AB62-BC159B75226D}"/>
              </a:ext>
            </a:extLst>
          </p:cNvPr>
          <p:cNvSpPr>
            <a:spLocks xmlns:a="http://schemas.openxmlformats.org/drawingml/2006/main" noGrp="1"/>
          </p:cNvSpPr>
          <p:nvPr/>
        </p:nvSpPr>
        <p:spPr>
          <a:xfrm xmlns:a="http://schemas.openxmlformats.org/drawingml/2006/main">
            <a:off x="6066383" y="855613"/>
            <a:ext cx="2734717"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24" name="Shape 22">
            <a:extLst xmlns:a="http://schemas.openxmlformats.org/drawingml/2006/main">
              <a:ext uri="{FF2B5EF4-FFF2-40B4-BE49-F238E27FC236}">
                <a16:creationId xmlns:a16="http://schemas.microsoft.com/office/drawing/2014/main" id="{CF610B5F-B814-49DD-BE6F-1D5C2AB2DEEC}"/>
              </a:ext>
            </a:extLst>
          </p:cNvPr>
          <p:cNvSpPr>
            <a:spLocks xmlns:a="http://schemas.openxmlformats.org/drawingml/2006/main" noGrp="1"/>
          </p:cNvSpPr>
          <p:nvPr/>
        </p:nvSpPr>
        <p:spPr>
          <a:xfrm xmlns:a="http://schemas.openxmlformats.org/drawingml/2006/main">
            <a:off x="8796338" y="850850"/>
            <a:ext cx="0" cy="3270349"/>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25" name="Shape 23">
            <a:extLst xmlns:a="http://schemas.openxmlformats.org/drawingml/2006/main">
              <a:ext uri="{FF2B5EF4-FFF2-40B4-BE49-F238E27FC236}">
                <a16:creationId xmlns:a16="http://schemas.microsoft.com/office/drawing/2014/main" id="{731F55CE-890A-419A-8377-BF28C4EFE34F}"/>
              </a:ext>
            </a:extLst>
          </p:cNvPr>
          <p:cNvSpPr>
            <a:spLocks xmlns:a="http://schemas.openxmlformats.org/drawingml/2006/main" noGrp="1"/>
          </p:cNvSpPr>
          <p:nvPr/>
        </p:nvSpPr>
        <p:spPr>
          <a:xfrm xmlns:a="http://schemas.openxmlformats.org/drawingml/2006/main">
            <a:off x="6066383" y="4116437"/>
            <a:ext cx="2734717"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26" name="Shape 24">
            <a:extLst xmlns:a="http://schemas.openxmlformats.org/drawingml/2006/main">
              <a:ext uri="{FF2B5EF4-FFF2-40B4-BE49-F238E27FC236}">
                <a16:creationId xmlns:a16="http://schemas.microsoft.com/office/drawing/2014/main" id="{1A9896FF-99BF-4A55-A76F-85DEBBC649EC}"/>
              </a:ext>
            </a:extLst>
          </p:cNvPr>
          <p:cNvSpPr>
            <a:spLocks xmlns:a="http://schemas.openxmlformats.org/drawingml/2006/main" noGrp="1"/>
          </p:cNvSpPr>
          <p:nvPr/>
        </p:nvSpPr>
        <p:spPr>
          <a:xfrm xmlns:a="http://schemas.openxmlformats.org/drawingml/2006/main">
            <a:off x="6094958" y="850850"/>
            <a:ext cx="0" cy="3270349"/>
          </a:xfrm>
          <a:prstGeom xmlns:a="http://schemas.openxmlformats.org/drawingml/2006/main" prst="line">
            <a:avLst/>
          </a:prstGeom>
          <a:noFill xmlns:a="http://schemas.openxmlformats.org/drawingml/2006/main"/>
          <a:ln xmlns:a="http://schemas.openxmlformats.org/drawingml/2006/main" w="57150">
            <a:solidFill>
              <a:srgbClr val="E8A525"/>
            </a:solidFill>
            <a:prstDash val="solid"/>
          </a:ln>
        </p:spPr>
      </p:sp>
      <p:sp>
        <p:nvSpPr>
          <p:cNvPr id="27" name="Text 25">
            <a:extLst xmlns:a="http://schemas.openxmlformats.org/drawingml/2006/main">
              <a:ext uri="{FF2B5EF4-FFF2-40B4-BE49-F238E27FC236}">
                <a16:creationId xmlns:a16="http://schemas.microsoft.com/office/drawing/2014/main" id="{2269D25F-725C-419D-87E1-34713A1E279C}"/>
              </a:ext>
            </a:extLst>
          </p:cNvPr>
          <p:cNvSpPr>
            <a:spLocks xmlns:a="http://schemas.openxmlformats.org/drawingml/2006/main" noGrp="1"/>
          </p:cNvSpPr>
          <p:nvPr/>
        </p:nvSpPr>
        <p:spPr>
          <a:xfrm xmlns:a="http://schemas.openxmlformats.org/drawingml/2006/main">
            <a:off x="6275933" y="1012775"/>
            <a:ext cx="2410507" cy="3174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2500"/>
              </a:lnSpc>
              <a:spcAft>
                <a:spcPts val="500"/>
              </a:spcAft>
              <a:buNone/>
              <a:defRPr sz="2500" b="1">
                <a:solidFill>
                  <a:srgbClr val="234D78"/>
                </a:solidFill>
                <a:latin typeface="Arial"/>
                <a:ea typeface="Arial"/>
                <a:cs typeface="Arial"/>
              </a:defRPr>
            </a:pPr>
            <a:r>
              <a:rPr sz="2500" b="1">
                <a:solidFill>
                  <a:srgbClr val="234D78"/>
                </a:solidFill>
                <a:latin typeface="Arial"/>
                <a:ea typeface="Arial"/>
                <a:cs typeface="Arial"/>
              </a:rPr>
              <a:t>STEP C</a:t>
            </a:r>
            <a:endParaRPr sz="2500"/>
          </a:p>
        </p:txBody>
      </p:sp>
      <p:sp>
        <p:nvSpPr>
          <p:cNvPr id="28" name="Text 26">
            <a:extLst xmlns:a="http://schemas.openxmlformats.org/drawingml/2006/main">
              <a:ext uri="{FF2B5EF4-FFF2-40B4-BE49-F238E27FC236}">
                <a16:creationId xmlns:a16="http://schemas.microsoft.com/office/drawing/2014/main" id="{D6992932-ED8F-4154-84E8-8C8BC3DE7CB2}"/>
              </a:ext>
            </a:extLst>
          </p:cNvPr>
          <p:cNvSpPr>
            <a:spLocks xmlns:a="http://schemas.openxmlformats.org/drawingml/2006/main" noGrp="1"/>
          </p:cNvSpPr>
          <p:nvPr/>
        </p:nvSpPr>
        <p:spPr>
          <a:xfrm xmlns:a="http://schemas.openxmlformats.org/drawingml/2006/main">
            <a:off x="6275933" y="1393627"/>
            <a:ext cx="2410507"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Calibrated video</a:t>
            </a:r>
            <a:endParaRPr sz="1400"/>
          </a:p>
        </p:txBody>
      </p:sp>
      <p:sp>
        <p:nvSpPr>
          <p:cNvPr id="29" name="Text 27">
            <a:extLst xmlns:a="http://schemas.openxmlformats.org/drawingml/2006/main">
              <a:ext uri="{FF2B5EF4-FFF2-40B4-BE49-F238E27FC236}">
                <a16:creationId xmlns:a16="http://schemas.microsoft.com/office/drawing/2014/main" id="{866F249E-838D-465F-9EFB-13624521597F}"/>
              </a:ext>
            </a:extLst>
          </p:cNvPr>
          <p:cNvSpPr>
            <a:spLocks xmlns:a="http://schemas.openxmlformats.org/drawingml/2006/main" noGrp="1"/>
          </p:cNvSpPr>
          <p:nvPr/>
        </p:nvSpPr>
        <p:spPr>
          <a:xfrm xmlns:a="http://schemas.openxmlformats.org/drawingml/2006/main">
            <a:off x="6491734" y="1661517"/>
            <a:ext cx="2147441" cy="671661"/>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Markers or RGB-D with a reference.</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Occlusion and scale diagnostics.</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Markerless estimation when feasible.</a:t>
            </a:r>
            <a:endParaRPr sz="1170"/>
          </a:p>
        </p:txBody>
      </p:sp>
      <p:sp>
        <p:nvSpPr>
          <p:cNvPr id="30" name="Text 28">
            <a:extLst xmlns:a="http://schemas.openxmlformats.org/drawingml/2006/main">
              <a:ext uri="{FF2B5EF4-FFF2-40B4-BE49-F238E27FC236}">
                <a16:creationId xmlns:a16="http://schemas.microsoft.com/office/drawing/2014/main" id="{F862B531-946C-4CFE-9D44-12497DE2C5E9}"/>
              </a:ext>
            </a:extLst>
          </p:cNvPr>
          <p:cNvSpPr>
            <a:spLocks xmlns:a="http://schemas.openxmlformats.org/drawingml/2006/main" noGrp="1"/>
          </p:cNvSpPr>
          <p:nvPr/>
        </p:nvSpPr>
        <p:spPr>
          <a:xfrm xmlns:a="http://schemas.openxmlformats.org/drawingml/2006/main">
            <a:off x="342900" y="4235500"/>
            <a:ext cx="8458200" cy="425500"/>
          </a:xfrm>
          <a:prstGeom xmlns:a="http://schemas.openxmlformats.org/drawingml/2006/main" prst="rect">
            <a:avLst/>
          </a:prstGeom>
          <a:solidFill xmlns:a="http://schemas.openxmlformats.org/drawingml/2006/main">
            <a:srgbClr val="EEF4F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31" name="Shape 29">
            <a:extLst xmlns:a="http://schemas.openxmlformats.org/drawingml/2006/main">
              <a:ext uri="{FF2B5EF4-FFF2-40B4-BE49-F238E27FC236}">
                <a16:creationId xmlns:a16="http://schemas.microsoft.com/office/drawing/2014/main" id="{80D08674-3388-4CBC-8B12-F05EA68CEDC0}"/>
              </a:ext>
            </a:extLst>
          </p:cNvPr>
          <p:cNvSpPr>
            <a:spLocks xmlns:a="http://schemas.openxmlformats.org/drawingml/2006/main" noGrp="1"/>
          </p:cNvSpPr>
          <p:nvPr/>
        </p:nvSpPr>
        <p:spPr>
          <a:xfrm xmlns:a="http://schemas.openxmlformats.org/drawingml/2006/main">
            <a:off x="371475" y="4235500"/>
            <a:ext cx="0" cy="425500"/>
          </a:xfrm>
          <a:prstGeom xmlns:a="http://schemas.openxmlformats.org/drawingml/2006/main" prst="line">
            <a:avLst/>
          </a:prstGeom>
          <a:noFill xmlns:a="http://schemas.openxmlformats.org/drawingml/2006/main"/>
          <a:ln xmlns:a="http://schemas.openxmlformats.org/drawingml/2006/main" w="57150">
            <a:solidFill>
              <a:srgbClr val="D63B4A"/>
            </a:solidFill>
            <a:prstDash val="solid"/>
          </a:ln>
        </p:spPr>
      </p:sp>
      <p:sp>
        <p:nvSpPr>
          <p:cNvPr id="32" name="Text 30">
            <a:extLst xmlns:a="http://schemas.openxmlformats.org/drawingml/2006/main">
              <a:ext uri="{FF2B5EF4-FFF2-40B4-BE49-F238E27FC236}">
                <a16:creationId xmlns:a16="http://schemas.microsoft.com/office/drawing/2014/main" id="{624D684D-8486-41F1-8DC7-C84B7112D82F}"/>
              </a:ext>
            </a:extLst>
          </p:cNvPr>
          <p:cNvSpPr>
            <a:spLocks xmlns:a="http://schemas.openxmlformats.org/drawingml/2006/main" noGrp="1"/>
          </p:cNvSpPr>
          <p:nvPr/>
        </p:nvSpPr>
        <p:spPr>
          <a:xfrm xmlns:a="http://schemas.openxmlformats.org/drawingml/2006/main">
            <a:off x="552450" y="4349800"/>
            <a:ext cx="8258175" cy="1969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550"/>
              </a:lnSpc>
              <a:buNone/>
              <a:defRPr sz="1250" b="1">
                <a:solidFill>
                  <a:srgbClr val="16344F"/>
                </a:solidFill>
                <a:latin typeface="Arial"/>
                <a:ea typeface="Arial"/>
                <a:cs typeface="Arial"/>
              </a:defRPr>
            </a:pPr>
            <a:r>
              <a:rPr sz="1250" b="1">
                <a:solidFill>
                  <a:srgbClr val="16344F"/>
                </a:solidFill>
                <a:latin typeface="Arial"/>
                <a:ea typeface="Arial"/>
                <a:cs typeface="Arial"/>
              </a:rPr>
              <a:t>Clean replay failure: examine frames, TCP, grasp, controller, and IK before expanding scope.</a:t>
            </a:r>
            <a:endParaRPr sz="1250"/>
          </a:p>
        </p:txBody>
      </p:sp>
      <p:sp>
        <p:nvSpPr>
          <p:cNvPr id="33" name="Text 31">
            <a:extLst xmlns:a="http://schemas.openxmlformats.org/drawingml/2006/main">
              <a:ext uri="{FF2B5EF4-FFF2-40B4-BE49-F238E27FC236}">
                <a16:creationId xmlns:a16="http://schemas.microsoft.com/office/drawing/2014/main" id="{ABEE7E36-34A2-45CE-B1D2-3E2F8071CB1A}"/>
              </a:ext>
            </a:extLst>
          </p:cNvPr>
          <p:cNvSpPr>
            <a:spLocks xmlns:a="http://schemas.openxmlformats.org/drawingml/2006/main" noGrp="1"/>
          </p:cNvSpPr>
          <p:nvPr/>
        </p:nvSpPr>
        <p:spPr>
          <a:xfrm xmlns:a="http://schemas.openxmlformats.org/drawingml/2006/main">
            <a:off x="8339328" y="4965192"/>
            <a:ext cx="502920"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60">
                <a:solidFill>
                  <a:srgbClr val="7A8794"/>
                </a:solidFill>
                <a:latin typeface="Arial"/>
                <a:ea typeface="Arial"/>
                <a:cs typeface="Arial"/>
              </a:rPr>
              <a:t>27 / 31</a:t>
            </a:r>
            <a:endParaRPr sz="660"/>
          </a:p>
        </p:txBody>
      </p:sp>
      <p:sp>
        <p:nvSpPr>
          <p:cNvPr id="34" name="Sources footer">
            <a:extLst xmlns:a="http://schemas.openxmlformats.org/drawingml/2006/main">
              <a:ext uri="{FF2B5EF4-FFF2-40B4-BE49-F238E27FC236}">
                <a16:creationId xmlns:a16="http://schemas.microsoft.com/office/drawing/2014/main" id="{41A64016-A749-48E1-AFED-85C9C575BADC}"/>
              </a:ext>
            </a:extLst>
          </p:cNvPr>
          <p:cNvSpPr>
            <a:spLocks xmlns:a="http://schemas.openxmlformats.org/drawingml/2006/main" noGrp="1"/>
          </p:cNvSpPr>
          <p:nvPr/>
        </p:nvSpPr>
        <p:spPr>
          <a:xfrm xmlns:a="http://schemas.openxmlformats.org/drawingml/2006/main">
            <a:off x="438150" y="4924425"/>
            <a:ext cx="72961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40" b="0">
                <a:solidFill>
                  <a:srgbClr val="234D78"/>
                </a:solidFill>
                <a:latin typeface="Arial"/>
                <a:ea typeface="Arial"/>
                <a:cs typeface="Arial"/>
              </a:defRPr>
            </a:pPr>
            <a:r>
              <a:rPr sz="640" b="0">
                <a:solidFill>
                  <a:srgbClr val="234D78"/>
                </a:solidFill>
                <a:latin typeface="Arial"/>
                <a:ea typeface="Arial"/>
                <a:cs typeface="Arial"/>
                <a:hlinkClick xmlns:r="http://schemas.openxmlformats.org/officeDocument/2006/relationships" r:id="R3e53e73a6fcb4b65"/>
              </a:rPr>
              <a:t>Reader guide and sources</a:t>
            </a:r>
          </a:p>
        </p:txBody>
      </p:sp>
    </p:spTree>
    <p:extLst>
      <p:ext uri="{BB962C8B-B14F-4D97-AF65-F5344CB8AC3E}">
        <p14:creationId xmlns:p14="http://schemas.microsoft.com/office/powerpoint/2010/main" val="190224885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DD191B0-8C78-4E79-9166-DB33672E0BF5}"/>
              </a:ext>
            </a:extLst>
          </p:cNvPr>
          <p:cNvSpPr>
            <a:spLocks xmlns:a="http://schemas.openxmlformats.org/drawingml/2006/main" noGrp="1"/>
          </p:cNvSpPr>
          <p:nvPr/>
        </p:nvSpPr>
        <p:spPr>
          <a:xfrm xmlns:a="http://schemas.openxmlformats.org/drawingml/2006/main">
            <a:off x="0" y="0"/>
            <a:ext cx="9144000" cy="609600"/>
          </a:xfrm>
          <a:prstGeom xmlns:a="http://schemas.openxmlformats.org/drawingml/2006/main" prst="rect">
            <a:avLst/>
          </a:prstGeom>
          <a:solidFill xmlns:a="http://schemas.openxmlformats.org/drawingml/2006/main">
            <a:srgbClr val="234D7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3" name="Text 1">
            <a:extLst xmlns:a="http://schemas.openxmlformats.org/drawingml/2006/main">
              <a:ext uri="{FF2B5EF4-FFF2-40B4-BE49-F238E27FC236}">
                <a16:creationId xmlns:a16="http://schemas.microsoft.com/office/drawing/2014/main" id="{299710CC-46A4-4933-9D5A-44473C416327}"/>
              </a:ext>
            </a:extLst>
          </p:cNvPr>
          <p:cNvSpPr>
            <a:spLocks xmlns:a="http://schemas.openxmlformats.org/drawingml/2006/main" noGrp="1"/>
          </p:cNvSpPr>
          <p:nvPr/>
        </p:nvSpPr>
        <p:spPr>
          <a:xfrm xmlns:a="http://schemas.openxmlformats.org/drawingml/2006/main">
            <a:off x="330136" y="164116"/>
            <a:ext cx="6619875" cy="3238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2415"/>
              </a:lnSpc>
              <a:buNone/>
              <a:defRPr sz="2300" b="1">
                <a:solidFill>
                  <a:srgbClr val="FFFFFF"/>
                </a:solidFill>
                <a:latin typeface="Arial"/>
                <a:ea typeface="Arial"/>
                <a:cs typeface="Arial"/>
              </a:defRPr>
            </a:pPr>
            <a:r>
              <a:rPr sz="2300" b="1">
                <a:solidFill>
                  <a:srgbClr val="FFFFFF"/>
                </a:solidFill>
                <a:latin typeface="Arial"/>
                <a:ea typeface="Arial"/>
                <a:cs typeface="Arial"/>
              </a:rPr>
              <a:t>Evidence checklist for the reference pack</a:t>
            </a:r>
            <a:endParaRPr sz="2300"/>
          </a:p>
        </p:txBody>
      </p:sp>
      <p:sp>
        <p:nvSpPr>
          <p:cNvPr id="4" name="Text 2">
            <a:extLst xmlns:a="http://schemas.openxmlformats.org/drawingml/2006/main">
              <a:ext uri="{FF2B5EF4-FFF2-40B4-BE49-F238E27FC236}">
                <a16:creationId xmlns:a16="http://schemas.microsoft.com/office/drawing/2014/main" id="{33ED22CD-DDE8-4931-B41A-7C5B0FE240FF}"/>
              </a:ext>
            </a:extLst>
          </p:cNvPr>
          <p:cNvSpPr>
            <a:spLocks xmlns:a="http://schemas.openxmlformats.org/drawingml/2006/main" noGrp="1"/>
          </p:cNvSpPr>
          <p:nvPr/>
        </p:nvSpPr>
        <p:spPr>
          <a:xfrm xmlns:a="http://schemas.openxmlformats.org/drawingml/2006/main">
            <a:off x="7372350" y="190500"/>
            <a:ext cx="14478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r">
              <a:lnSpc>
                <a:spcPts val="1054"/>
              </a:lnSpc>
              <a:buNone/>
              <a:defRPr sz="788" b="1">
                <a:solidFill>
                  <a:srgbClr val="FFFFFF"/>
                </a:solidFill>
                <a:latin typeface="Arial"/>
                <a:ea typeface="Arial"/>
                <a:cs typeface="Arial"/>
              </a:defRPr>
            </a:pPr>
            <a:r>
              <a:rPr sz="788" b="1">
                <a:solidFill>
                  <a:srgbClr val="FFFFFF"/>
                </a:solidFill>
                <a:latin typeface="Arial"/>
                <a:ea typeface="Arial"/>
                <a:cs typeface="Arial"/>
              </a:rPr>
              <a:t>CS CAPSTONE REFERENCE</a:t>
            </a:r>
            <a:endParaRPr sz="850"/>
          </a:p>
        </p:txBody>
      </p:sp>
      <p:sp>
        <p:nvSpPr>
          <p:cNvPr id="5" name="Text 3">
            <a:extLst xmlns:a="http://schemas.openxmlformats.org/drawingml/2006/main">
              <a:ext uri="{FF2B5EF4-FFF2-40B4-BE49-F238E27FC236}">
                <a16:creationId xmlns:a16="http://schemas.microsoft.com/office/drawing/2014/main" id="{F3A51A74-59A9-4D6E-947A-B515AE7428EC}"/>
              </a:ext>
            </a:extLst>
          </p:cNvPr>
          <p:cNvSpPr>
            <a:spLocks xmlns:a="http://schemas.openxmlformats.org/drawingml/2006/main" noGrp="1"/>
          </p:cNvSpPr>
          <p:nvPr/>
        </p:nvSpPr>
        <p:spPr>
          <a:xfrm xmlns:a="http://schemas.openxmlformats.org/drawingml/2006/main">
            <a:off x="330101" y="609600"/>
            <a:ext cx="787301" cy="38100"/>
          </a:xfrm>
          <a:prstGeom xmlns:a="http://schemas.openxmlformats.org/drawingml/2006/main" prst="rect">
            <a:avLst/>
          </a:prstGeom>
          <a:solidFill xmlns:a="http://schemas.openxmlformats.org/drawingml/2006/main">
            <a:srgbClr val="D63B4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6" name="Text 4">
            <a:extLst xmlns:a="http://schemas.openxmlformats.org/drawingml/2006/main">
              <a:ext uri="{FF2B5EF4-FFF2-40B4-BE49-F238E27FC236}">
                <a16:creationId xmlns:a16="http://schemas.microsoft.com/office/drawing/2014/main" id="{25CC7673-B058-494B-91A4-40CBB0EC52FF}"/>
              </a:ext>
            </a:extLst>
          </p:cNvPr>
          <p:cNvSpPr>
            <a:spLocks xmlns:a="http://schemas.openxmlformats.org/drawingml/2006/main" noGrp="1"/>
          </p:cNvSpPr>
          <p:nvPr/>
        </p:nvSpPr>
        <p:spPr>
          <a:xfrm xmlns:a="http://schemas.openxmlformats.org/drawingml/2006/main">
            <a:off x="342900" y="850850"/>
            <a:ext cx="4152900" cy="3270349"/>
          </a:xfrm>
          <a:prstGeom xmlns:a="http://schemas.openxmlformats.org/drawingml/2006/main" prst="roundRect">
            <a:avLst>
              <a:gd name="adj" fmla="val 3107"/>
            </a:avLst>
          </a:prstGeom>
          <a:solidFill xmlns:a="http://schemas.openxmlformats.org/drawingml/2006/main">
            <a:srgbClr val="EDFAF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7" name="Shape 5">
            <a:extLst xmlns:a="http://schemas.openxmlformats.org/drawingml/2006/main">
              <a:ext uri="{FF2B5EF4-FFF2-40B4-BE49-F238E27FC236}">
                <a16:creationId xmlns:a16="http://schemas.microsoft.com/office/drawing/2014/main" id="{E37C72D0-C3A5-430A-9CD2-1F58E36B687D}"/>
              </a:ext>
            </a:extLst>
          </p:cNvPr>
          <p:cNvSpPr>
            <a:spLocks xmlns:a="http://schemas.openxmlformats.org/drawingml/2006/main" noGrp="1"/>
          </p:cNvSpPr>
          <p:nvPr/>
        </p:nvSpPr>
        <p:spPr>
          <a:xfrm xmlns:a="http://schemas.openxmlformats.org/drawingml/2006/main">
            <a:off x="342900" y="855613"/>
            <a:ext cx="4152900"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8" name="Shape 6">
            <a:extLst xmlns:a="http://schemas.openxmlformats.org/drawingml/2006/main">
              <a:ext uri="{FF2B5EF4-FFF2-40B4-BE49-F238E27FC236}">
                <a16:creationId xmlns:a16="http://schemas.microsoft.com/office/drawing/2014/main" id="{6AF631EC-0622-48B1-9309-5DEB24352AF3}"/>
              </a:ext>
            </a:extLst>
          </p:cNvPr>
          <p:cNvSpPr>
            <a:spLocks xmlns:a="http://schemas.openxmlformats.org/drawingml/2006/main" noGrp="1"/>
          </p:cNvSpPr>
          <p:nvPr/>
        </p:nvSpPr>
        <p:spPr>
          <a:xfrm xmlns:a="http://schemas.openxmlformats.org/drawingml/2006/main">
            <a:off x="4491038" y="850850"/>
            <a:ext cx="0" cy="3270349"/>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9" name="Shape 7">
            <a:extLst xmlns:a="http://schemas.openxmlformats.org/drawingml/2006/main">
              <a:ext uri="{FF2B5EF4-FFF2-40B4-BE49-F238E27FC236}">
                <a16:creationId xmlns:a16="http://schemas.microsoft.com/office/drawing/2014/main" id="{48A6B780-CB38-420B-87B3-D08FDCE487B5}"/>
              </a:ext>
            </a:extLst>
          </p:cNvPr>
          <p:cNvSpPr>
            <a:spLocks xmlns:a="http://schemas.openxmlformats.org/drawingml/2006/main" noGrp="1"/>
          </p:cNvSpPr>
          <p:nvPr/>
        </p:nvSpPr>
        <p:spPr>
          <a:xfrm xmlns:a="http://schemas.openxmlformats.org/drawingml/2006/main">
            <a:off x="342900" y="4116437"/>
            <a:ext cx="4152900"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0" name="Shape 8">
            <a:extLst xmlns:a="http://schemas.openxmlformats.org/drawingml/2006/main">
              <a:ext uri="{FF2B5EF4-FFF2-40B4-BE49-F238E27FC236}">
                <a16:creationId xmlns:a16="http://schemas.microsoft.com/office/drawing/2014/main" id="{BC3B4D94-603E-41CD-A981-82BF546FFE99}"/>
              </a:ext>
            </a:extLst>
          </p:cNvPr>
          <p:cNvSpPr>
            <a:spLocks xmlns:a="http://schemas.openxmlformats.org/drawingml/2006/main" noGrp="1"/>
          </p:cNvSpPr>
          <p:nvPr/>
        </p:nvSpPr>
        <p:spPr>
          <a:xfrm xmlns:a="http://schemas.openxmlformats.org/drawingml/2006/main">
            <a:off x="371475" y="850850"/>
            <a:ext cx="0" cy="3270349"/>
          </a:xfrm>
          <a:prstGeom xmlns:a="http://schemas.openxmlformats.org/drawingml/2006/main" prst="line">
            <a:avLst/>
          </a:prstGeom>
          <a:noFill xmlns:a="http://schemas.openxmlformats.org/drawingml/2006/main"/>
          <a:ln xmlns:a="http://schemas.openxmlformats.org/drawingml/2006/main" w="57150">
            <a:solidFill>
              <a:srgbClr val="1D9E91"/>
            </a:solidFill>
            <a:prstDash val="solid"/>
          </a:ln>
        </p:spPr>
      </p:sp>
      <p:sp>
        <p:nvSpPr>
          <p:cNvPr id="11" name="Text 9">
            <a:extLst xmlns:a="http://schemas.openxmlformats.org/drawingml/2006/main">
              <a:ext uri="{FF2B5EF4-FFF2-40B4-BE49-F238E27FC236}">
                <a16:creationId xmlns:a16="http://schemas.microsoft.com/office/drawing/2014/main" id="{28870207-FB8F-4DC9-BF71-D00DA3F6BA8E}"/>
              </a:ext>
            </a:extLst>
          </p:cNvPr>
          <p:cNvSpPr>
            <a:spLocks xmlns:a="http://schemas.openxmlformats.org/drawingml/2006/main" noGrp="1"/>
          </p:cNvSpPr>
          <p:nvPr/>
        </p:nvSpPr>
        <p:spPr>
          <a:xfrm xmlns:a="http://schemas.openxmlformats.org/drawingml/2006/main">
            <a:off x="552450" y="1012775"/>
            <a:ext cx="3857054"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Technical resources</a:t>
            </a:r>
            <a:endParaRPr sz="1400"/>
          </a:p>
        </p:txBody>
      </p:sp>
      <p:sp>
        <p:nvSpPr>
          <p:cNvPr id="12" name="Text 10">
            <a:extLst xmlns:a="http://schemas.openxmlformats.org/drawingml/2006/main">
              <a:ext uri="{FF2B5EF4-FFF2-40B4-BE49-F238E27FC236}">
                <a16:creationId xmlns:a16="http://schemas.microsoft.com/office/drawing/2014/main" id="{30CA6D05-730E-49F3-9338-7473407BD0A6}"/>
              </a:ext>
            </a:extLst>
          </p:cNvPr>
          <p:cNvSpPr>
            <a:spLocks xmlns:a="http://schemas.openxmlformats.org/drawingml/2006/main" noGrp="1"/>
          </p:cNvSpPr>
          <p:nvPr/>
        </p:nvSpPr>
        <p:spPr>
          <a:xfrm xmlns:a="http://schemas.openxmlformats.org/drawingml/2006/main">
            <a:off x="768251" y="1280666"/>
            <a:ext cx="3565624" cy="1153269"/>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Clear CPU setup and run commands.</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Schema and model/config/code hashes.</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Example episodes and per-trial failures.</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Clean replay across two embodiments.</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Videos and results with explicit scope.</a:t>
            </a:r>
            <a:endParaRPr sz="1170"/>
          </a:p>
        </p:txBody>
      </p:sp>
      <p:sp>
        <p:nvSpPr>
          <p:cNvPr id="13" name="Text 11">
            <a:extLst xmlns:a="http://schemas.openxmlformats.org/drawingml/2006/main">
              <a:ext uri="{FF2B5EF4-FFF2-40B4-BE49-F238E27FC236}">
                <a16:creationId xmlns:a16="http://schemas.microsoft.com/office/drawing/2014/main" id="{B9045A27-8BD7-4AC0-8ACB-96C8C9D30D91}"/>
              </a:ext>
            </a:extLst>
          </p:cNvPr>
          <p:cNvSpPr>
            <a:spLocks xmlns:a="http://schemas.openxmlformats.org/drawingml/2006/main" noGrp="1"/>
          </p:cNvSpPr>
          <p:nvPr/>
        </p:nvSpPr>
        <p:spPr>
          <a:xfrm xmlns:a="http://schemas.openxmlformats.org/drawingml/2006/main">
            <a:off x="4648200" y="850850"/>
            <a:ext cx="4152900" cy="3270349"/>
          </a:xfrm>
          <a:prstGeom xmlns:a="http://schemas.openxmlformats.org/drawingml/2006/main" prst="roundRect">
            <a:avLst>
              <a:gd name="adj" fmla="val 3107"/>
            </a:avLst>
          </a:prstGeom>
          <a:solidFill xmlns:a="http://schemas.openxmlformats.org/drawingml/2006/main">
            <a:srgbClr val="EEF4F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14" name="Shape 12">
            <a:extLst xmlns:a="http://schemas.openxmlformats.org/drawingml/2006/main">
              <a:ext uri="{FF2B5EF4-FFF2-40B4-BE49-F238E27FC236}">
                <a16:creationId xmlns:a16="http://schemas.microsoft.com/office/drawing/2014/main" id="{F62EDF0A-4FA5-4727-BE85-9334E29B6B54}"/>
              </a:ext>
            </a:extLst>
          </p:cNvPr>
          <p:cNvSpPr>
            <a:spLocks xmlns:a="http://schemas.openxmlformats.org/drawingml/2006/main" noGrp="1"/>
          </p:cNvSpPr>
          <p:nvPr/>
        </p:nvSpPr>
        <p:spPr>
          <a:xfrm xmlns:a="http://schemas.openxmlformats.org/drawingml/2006/main">
            <a:off x="4648200" y="855613"/>
            <a:ext cx="4152900"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5" name="Shape 13">
            <a:extLst xmlns:a="http://schemas.openxmlformats.org/drawingml/2006/main">
              <a:ext uri="{FF2B5EF4-FFF2-40B4-BE49-F238E27FC236}">
                <a16:creationId xmlns:a16="http://schemas.microsoft.com/office/drawing/2014/main" id="{4F7B217D-F5A6-43A6-90CC-6C4A4B01276B}"/>
              </a:ext>
            </a:extLst>
          </p:cNvPr>
          <p:cNvSpPr>
            <a:spLocks xmlns:a="http://schemas.openxmlformats.org/drawingml/2006/main" noGrp="1"/>
          </p:cNvSpPr>
          <p:nvPr/>
        </p:nvSpPr>
        <p:spPr>
          <a:xfrm xmlns:a="http://schemas.openxmlformats.org/drawingml/2006/main">
            <a:off x="8796338" y="850850"/>
            <a:ext cx="0" cy="3270349"/>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6" name="Shape 14">
            <a:extLst xmlns:a="http://schemas.openxmlformats.org/drawingml/2006/main">
              <a:ext uri="{FF2B5EF4-FFF2-40B4-BE49-F238E27FC236}">
                <a16:creationId xmlns:a16="http://schemas.microsoft.com/office/drawing/2014/main" id="{053A69B6-3E88-4DCF-A3B9-7FD9656C70B6}"/>
              </a:ext>
            </a:extLst>
          </p:cNvPr>
          <p:cNvSpPr>
            <a:spLocks xmlns:a="http://schemas.openxmlformats.org/drawingml/2006/main" noGrp="1"/>
          </p:cNvSpPr>
          <p:nvPr/>
        </p:nvSpPr>
        <p:spPr>
          <a:xfrm xmlns:a="http://schemas.openxmlformats.org/drawingml/2006/main">
            <a:off x="4648200" y="4116437"/>
            <a:ext cx="4152900"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7" name="Shape 15">
            <a:extLst xmlns:a="http://schemas.openxmlformats.org/drawingml/2006/main">
              <a:ext uri="{FF2B5EF4-FFF2-40B4-BE49-F238E27FC236}">
                <a16:creationId xmlns:a16="http://schemas.microsoft.com/office/drawing/2014/main" id="{EC0C370D-35E0-468B-BDD6-142C3A73E382}"/>
              </a:ext>
            </a:extLst>
          </p:cNvPr>
          <p:cNvSpPr>
            <a:spLocks xmlns:a="http://schemas.openxmlformats.org/drawingml/2006/main" noGrp="1"/>
          </p:cNvSpPr>
          <p:nvPr/>
        </p:nvSpPr>
        <p:spPr>
          <a:xfrm xmlns:a="http://schemas.openxmlformats.org/drawingml/2006/main">
            <a:off x="4676775" y="850850"/>
            <a:ext cx="0" cy="3270349"/>
          </a:xfrm>
          <a:prstGeom xmlns:a="http://schemas.openxmlformats.org/drawingml/2006/main" prst="line">
            <a:avLst/>
          </a:prstGeom>
          <a:noFill xmlns:a="http://schemas.openxmlformats.org/drawingml/2006/main"/>
          <a:ln xmlns:a="http://schemas.openxmlformats.org/drawingml/2006/main" w="57150">
            <a:solidFill>
              <a:srgbClr val="234D78"/>
            </a:solidFill>
            <a:prstDash val="solid"/>
          </a:ln>
        </p:spPr>
      </p:sp>
      <p:sp>
        <p:nvSpPr>
          <p:cNvPr id="18" name="Text 16">
            <a:extLst xmlns:a="http://schemas.openxmlformats.org/drawingml/2006/main">
              <a:ext uri="{FF2B5EF4-FFF2-40B4-BE49-F238E27FC236}">
                <a16:creationId xmlns:a16="http://schemas.microsoft.com/office/drawing/2014/main" id="{18D5A208-9E7C-4DEC-90CC-E236604104AC}"/>
              </a:ext>
            </a:extLst>
          </p:cNvPr>
          <p:cNvSpPr>
            <a:spLocks xmlns:a="http://schemas.openxmlformats.org/drawingml/2006/main" noGrp="1"/>
          </p:cNvSpPr>
          <p:nvPr/>
        </p:nvSpPr>
        <p:spPr>
          <a:xfrm xmlns:a="http://schemas.openxmlformats.org/drawingml/2006/main">
            <a:off x="4857750" y="1012775"/>
            <a:ext cx="3857054"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Research resources</a:t>
            </a:r>
            <a:endParaRPr sz="1400"/>
          </a:p>
        </p:txBody>
      </p:sp>
      <p:sp>
        <p:nvSpPr>
          <p:cNvPr id="19" name="Text 17">
            <a:extLst xmlns:a="http://schemas.openxmlformats.org/drawingml/2006/main">
              <a:ext uri="{FF2B5EF4-FFF2-40B4-BE49-F238E27FC236}">
                <a16:creationId xmlns:a16="http://schemas.microsoft.com/office/drawing/2014/main" id="{07ADD699-C69B-435F-9919-DAD7D80745A6}"/>
              </a:ext>
            </a:extLst>
          </p:cNvPr>
          <p:cNvSpPr>
            <a:spLocks xmlns:a="http://schemas.openxmlformats.org/drawingml/2006/main" noGrp="1"/>
          </p:cNvSpPr>
          <p:nvPr/>
        </p:nvSpPr>
        <p:spPr>
          <a:xfrm xmlns:a="http://schemas.openxmlformats.org/drawingml/2006/main">
            <a:off x="5073551" y="1280666"/>
            <a:ext cx="3565624" cy="1153269"/>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Closest works and verified corrections.</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Research questions, controls, and budgets.</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Trial definitions and uncertainty.</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Negative results and limitations.</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Proposed, tested, and evaluated states.</a:t>
            </a:r>
            <a:endParaRPr sz="1170"/>
          </a:p>
        </p:txBody>
      </p:sp>
      <p:sp>
        <p:nvSpPr>
          <p:cNvPr id="20" name="Text 18">
            <a:extLst xmlns:a="http://schemas.openxmlformats.org/drawingml/2006/main">
              <a:ext uri="{FF2B5EF4-FFF2-40B4-BE49-F238E27FC236}">
                <a16:creationId xmlns:a16="http://schemas.microsoft.com/office/drawing/2014/main" id="{6A69728F-DF9C-42C1-9F18-01BB01EA8C18}"/>
              </a:ext>
            </a:extLst>
          </p:cNvPr>
          <p:cNvSpPr>
            <a:spLocks xmlns:a="http://schemas.openxmlformats.org/drawingml/2006/main" noGrp="1"/>
          </p:cNvSpPr>
          <p:nvPr/>
        </p:nvSpPr>
        <p:spPr>
          <a:xfrm xmlns:a="http://schemas.openxmlformats.org/drawingml/2006/main">
            <a:off x="342900" y="4235500"/>
            <a:ext cx="8458200" cy="425500"/>
          </a:xfrm>
          <a:prstGeom xmlns:a="http://schemas.openxmlformats.org/drawingml/2006/main" prst="rect">
            <a:avLst/>
          </a:prstGeom>
          <a:solidFill xmlns:a="http://schemas.openxmlformats.org/drawingml/2006/main">
            <a:srgbClr val="EEF4F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21" name="Shape 19">
            <a:extLst xmlns:a="http://schemas.openxmlformats.org/drawingml/2006/main">
              <a:ext uri="{FF2B5EF4-FFF2-40B4-BE49-F238E27FC236}">
                <a16:creationId xmlns:a16="http://schemas.microsoft.com/office/drawing/2014/main" id="{1266E4E0-DC76-41F3-9C30-8A11623DFF10}"/>
              </a:ext>
            </a:extLst>
          </p:cNvPr>
          <p:cNvSpPr>
            <a:spLocks xmlns:a="http://schemas.openxmlformats.org/drawingml/2006/main" noGrp="1"/>
          </p:cNvSpPr>
          <p:nvPr/>
        </p:nvSpPr>
        <p:spPr>
          <a:xfrm xmlns:a="http://schemas.openxmlformats.org/drawingml/2006/main">
            <a:off x="371475" y="4235500"/>
            <a:ext cx="0" cy="425500"/>
          </a:xfrm>
          <a:prstGeom xmlns:a="http://schemas.openxmlformats.org/drawingml/2006/main" prst="line">
            <a:avLst/>
          </a:prstGeom>
          <a:noFill xmlns:a="http://schemas.openxmlformats.org/drawingml/2006/main"/>
          <a:ln xmlns:a="http://schemas.openxmlformats.org/drawingml/2006/main" w="57150">
            <a:solidFill>
              <a:srgbClr val="D63B4A"/>
            </a:solidFill>
            <a:prstDash val="solid"/>
          </a:ln>
        </p:spPr>
      </p:sp>
      <p:sp>
        <p:nvSpPr>
          <p:cNvPr id="22" name="Text 20">
            <a:extLst xmlns:a="http://schemas.openxmlformats.org/drawingml/2006/main">
              <a:ext uri="{FF2B5EF4-FFF2-40B4-BE49-F238E27FC236}">
                <a16:creationId xmlns:a16="http://schemas.microsoft.com/office/drawing/2014/main" id="{9D6E18DF-2E13-431E-9E30-7129AECD4A82}"/>
              </a:ext>
            </a:extLst>
          </p:cNvPr>
          <p:cNvSpPr>
            <a:spLocks xmlns:a="http://schemas.openxmlformats.org/drawingml/2006/main" noGrp="1"/>
          </p:cNvSpPr>
          <p:nvPr/>
        </p:nvSpPr>
        <p:spPr>
          <a:xfrm xmlns:a="http://schemas.openxmlformats.org/drawingml/2006/main">
            <a:off x="552450" y="4349800"/>
            <a:ext cx="8258175" cy="1969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550"/>
              </a:lnSpc>
              <a:buNone/>
              <a:defRPr sz="1250" b="1">
                <a:solidFill>
                  <a:srgbClr val="16344F"/>
                </a:solidFill>
                <a:latin typeface="Arial"/>
                <a:ea typeface="Arial"/>
                <a:cs typeface="Arial"/>
              </a:defRPr>
            </a:pPr>
            <a:r>
              <a:rPr sz="1250" b="1">
                <a:solidFill>
                  <a:srgbClr val="16344F"/>
                </a:solidFill>
                <a:latin typeface="Arial"/>
                <a:ea typeface="Arial"/>
                <a:cs typeface="Arial"/>
              </a:rPr>
              <a:t>This checklist supports reproducibility. It does not replace the institution’s capstone assessment criteria.</a:t>
            </a:r>
            <a:endParaRPr sz="1250"/>
          </a:p>
        </p:txBody>
      </p:sp>
      <p:sp>
        <p:nvSpPr>
          <p:cNvPr id="23" name="Text 21">
            <a:extLst xmlns:a="http://schemas.openxmlformats.org/drawingml/2006/main">
              <a:ext uri="{FF2B5EF4-FFF2-40B4-BE49-F238E27FC236}">
                <a16:creationId xmlns:a16="http://schemas.microsoft.com/office/drawing/2014/main" id="{2A427993-9A66-47E0-B9AF-65D2F3B11EE0}"/>
              </a:ext>
            </a:extLst>
          </p:cNvPr>
          <p:cNvSpPr>
            <a:spLocks xmlns:a="http://schemas.openxmlformats.org/drawingml/2006/main" noGrp="1"/>
          </p:cNvSpPr>
          <p:nvPr/>
        </p:nvSpPr>
        <p:spPr>
          <a:xfrm xmlns:a="http://schemas.openxmlformats.org/drawingml/2006/main">
            <a:off x="8339328" y="4965192"/>
            <a:ext cx="502920"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60">
                <a:solidFill>
                  <a:srgbClr val="7A8794"/>
                </a:solidFill>
                <a:latin typeface="Arial"/>
                <a:ea typeface="Arial"/>
                <a:cs typeface="Arial"/>
              </a:rPr>
              <a:t>28 / 31</a:t>
            </a:r>
            <a:endParaRPr sz="660"/>
          </a:p>
        </p:txBody>
      </p:sp>
      <p:sp>
        <p:nvSpPr>
          <p:cNvPr id="24" name="Sources footer">
            <a:extLst xmlns:a="http://schemas.openxmlformats.org/drawingml/2006/main">
              <a:ext uri="{FF2B5EF4-FFF2-40B4-BE49-F238E27FC236}">
                <a16:creationId xmlns:a16="http://schemas.microsoft.com/office/drawing/2014/main" id="{23E041A4-0AAD-457C-BF8B-92B7015DB627}"/>
              </a:ext>
            </a:extLst>
          </p:cNvPr>
          <p:cNvSpPr>
            <a:spLocks xmlns:a="http://schemas.openxmlformats.org/drawingml/2006/main" noGrp="1"/>
          </p:cNvSpPr>
          <p:nvPr/>
        </p:nvSpPr>
        <p:spPr>
          <a:xfrm xmlns:a="http://schemas.openxmlformats.org/drawingml/2006/main">
            <a:off x="438150" y="4924425"/>
            <a:ext cx="72961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40" b="0">
                <a:solidFill>
                  <a:srgbClr val="234D78"/>
                </a:solidFill>
                <a:latin typeface="Arial"/>
                <a:ea typeface="Arial"/>
                <a:cs typeface="Arial"/>
              </a:defRPr>
            </a:pPr>
            <a:r>
              <a:rPr sz="640" b="0">
                <a:solidFill>
                  <a:srgbClr val="234D78"/>
                </a:solidFill>
                <a:latin typeface="Arial"/>
                <a:ea typeface="Arial"/>
                <a:cs typeface="Arial"/>
                <a:hlinkClick xmlns:r="http://schemas.openxmlformats.org/officeDocument/2006/relationships" r:id="R42019cfd79cb4209"/>
              </a:rPr>
              <a:t>Reader guide and sources</a:t>
            </a:r>
          </a:p>
        </p:txBody>
      </p:sp>
    </p:spTree>
    <p:extLst>
      <p:ext uri="{BB962C8B-B14F-4D97-AF65-F5344CB8AC3E}">
        <p14:creationId xmlns:p14="http://schemas.microsoft.com/office/powerpoint/2010/main" val="159735016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77E6E77-87D1-4F63-A7D3-8A04313F8E70}"/>
              </a:ext>
            </a:extLst>
          </p:cNvPr>
          <p:cNvSpPr>
            <a:spLocks xmlns:a="http://schemas.openxmlformats.org/drawingml/2006/main" noGrp="1"/>
          </p:cNvSpPr>
          <p:nvPr/>
        </p:nvSpPr>
        <p:spPr>
          <a:xfrm xmlns:a="http://schemas.openxmlformats.org/drawingml/2006/main">
            <a:off x="0" y="0"/>
            <a:ext cx="9144000" cy="609600"/>
          </a:xfrm>
          <a:prstGeom xmlns:a="http://schemas.openxmlformats.org/drawingml/2006/main" prst="rect">
            <a:avLst/>
          </a:prstGeom>
          <a:solidFill xmlns:a="http://schemas.openxmlformats.org/drawingml/2006/main">
            <a:srgbClr val="234D7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3" name="Text 1">
            <a:extLst xmlns:a="http://schemas.openxmlformats.org/drawingml/2006/main">
              <a:ext uri="{FF2B5EF4-FFF2-40B4-BE49-F238E27FC236}">
                <a16:creationId xmlns:a16="http://schemas.microsoft.com/office/drawing/2014/main" id="{1AAF8DB6-89B6-42BE-AED7-B29F2FF71B2C}"/>
              </a:ext>
            </a:extLst>
          </p:cNvPr>
          <p:cNvSpPr>
            <a:spLocks xmlns:a="http://schemas.openxmlformats.org/drawingml/2006/main" noGrp="1"/>
          </p:cNvSpPr>
          <p:nvPr/>
        </p:nvSpPr>
        <p:spPr>
          <a:xfrm xmlns:a="http://schemas.openxmlformats.org/drawingml/2006/main">
            <a:off x="330136" y="164116"/>
            <a:ext cx="6619875" cy="3238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2415"/>
              </a:lnSpc>
              <a:buNone/>
              <a:defRPr sz="2300" b="1">
                <a:solidFill>
                  <a:srgbClr val="FFFFFF"/>
                </a:solidFill>
                <a:latin typeface="Arial"/>
                <a:ea typeface="Arial"/>
                <a:cs typeface="Arial"/>
              </a:defRPr>
            </a:pPr>
            <a:r>
              <a:rPr sz="2300" b="1">
                <a:solidFill>
                  <a:srgbClr val="FFFFFF"/>
                </a:solidFill>
                <a:latin typeface="Arial"/>
                <a:ea typeface="Arial"/>
                <a:cs typeface="Arial"/>
              </a:rPr>
              <a:t>Repository execution paths</a:t>
            </a:r>
            <a:endParaRPr sz="2300"/>
          </a:p>
        </p:txBody>
      </p:sp>
      <p:sp>
        <p:nvSpPr>
          <p:cNvPr id="4" name="Text 2">
            <a:extLst xmlns:a="http://schemas.openxmlformats.org/drawingml/2006/main">
              <a:ext uri="{FF2B5EF4-FFF2-40B4-BE49-F238E27FC236}">
                <a16:creationId xmlns:a16="http://schemas.microsoft.com/office/drawing/2014/main" id="{CC63317F-25D4-4435-9700-F55426BDB95A}"/>
              </a:ext>
            </a:extLst>
          </p:cNvPr>
          <p:cNvSpPr>
            <a:spLocks xmlns:a="http://schemas.openxmlformats.org/drawingml/2006/main" noGrp="1"/>
          </p:cNvSpPr>
          <p:nvPr/>
        </p:nvSpPr>
        <p:spPr>
          <a:xfrm xmlns:a="http://schemas.openxmlformats.org/drawingml/2006/main">
            <a:off x="7372350" y="190500"/>
            <a:ext cx="14478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r">
              <a:lnSpc>
                <a:spcPts val="1054"/>
              </a:lnSpc>
              <a:buNone/>
              <a:defRPr sz="788" b="1">
                <a:solidFill>
                  <a:srgbClr val="FFFFFF"/>
                </a:solidFill>
                <a:latin typeface="Arial"/>
                <a:ea typeface="Arial"/>
                <a:cs typeface="Arial"/>
              </a:defRPr>
            </a:pPr>
            <a:r>
              <a:rPr sz="788" b="1">
                <a:solidFill>
                  <a:srgbClr val="FFFFFF"/>
                </a:solidFill>
                <a:latin typeface="Arial"/>
                <a:ea typeface="Arial"/>
                <a:cs typeface="Arial"/>
              </a:rPr>
              <a:t>CS CAPSTONE REFERENCE</a:t>
            </a:r>
            <a:endParaRPr sz="850"/>
          </a:p>
        </p:txBody>
      </p:sp>
      <p:sp>
        <p:nvSpPr>
          <p:cNvPr id="5" name="Text 3">
            <a:extLst xmlns:a="http://schemas.openxmlformats.org/drawingml/2006/main">
              <a:ext uri="{FF2B5EF4-FFF2-40B4-BE49-F238E27FC236}">
                <a16:creationId xmlns:a16="http://schemas.microsoft.com/office/drawing/2014/main" id="{BD6D2D3E-B48D-4E8B-98C4-122A560FBE9B}"/>
              </a:ext>
            </a:extLst>
          </p:cNvPr>
          <p:cNvSpPr>
            <a:spLocks xmlns:a="http://schemas.openxmlformats.org/drawingml/2006/main" noGrp="1"/>
          </p:cNvSpPr>
          <p:nvPr/>
        </p:nvSpPr>
        <p:spPr>
          <a:xfrm xmlns:a="http://schemas.openxmlformats.org/drawingml/2006/main">
            <a:off x="330101" y="609600"/>
            <a:ext cx="787301" cy="38100"/>
          </a:xfrm>
          <a:prstGeom xmlns:a="http://schemas.openxmlformats.org/drawingml/2006/main" prst="rect">
            <a:avLst/>
          </a:prstGeom>
          <a:solidFill xmlns:a="http://schemas.openxmlformats.org/drawingml/2006/main">
            <a:srgbClr val="D63B4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6" name="Text 4">
            <a:extLst xmlns:a="http://schemas.openxmlformats.org/drawingml/2006/main">
              <a:ext uri="{FF2B5EF4-FFF2-40B4-BE49-F238E27FC236}">
                <a16:creationId xmlns:a16="http://schemas.microsoft.com/office/drawing/2014/main" id="{512CDFE6-E46C-44C6-949E-E34F87CF3A08}"/>
              </a:ext>
            </a:extLst>
          </p:cNvPr>
          <p:cNvSpPr>
            <a:spLocks xmlns:a="http://schemas.openxmlformats.org/drawingml/2006/main" noGrp="1"/>
          </p:cNvSpPr>
          <p:nvPr/>
        </p:nvSpPr>
        <p:spPr>
          <a:xfrm xmlns:a="http://schemas.openxmlformats.org/drawingml/2006/main">
            <a:off x="342900" y="850850"/>
            <a:ext cx="4152900" cy="3270349"/>
          </a:xfrm>
          <a:prstGeom xmlns:a="http://schemas.openxmlformats.org/drawingml/2006/main" prst="roundRect">
            <a:avLst>
              <a:gd name="adj" fmla="val 3107"/>
            </a:avLst>
          </a:prstGeom>
          <a:solidFill xmlns:a="http://schemas.openxmlformats.org/drawingml/2006/main">
            <a:srgbClr val="EEF4F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7" name="Shape 5">
            <a:extLst xmlns:a="http://schemas.openxmlformats.org/drawingml/2006/main">
              <a:ext uri="{FF2B5EF4-FFF2-40B4-BE49-F238E27FC236}">
                <a16:creationId xmlns:a16="http://schemas.microsoft.com/office/drawing/2014/main" id="{E5F0887C-0522-4405-BE40-A85B0B60F356}"/>
              </a:ext>
            </a:extLst>
          </p:cNvPr>
          <p:cNvSpPr>
            <a:spLocks xmlns:a="http://schemas.openxmlformats.org/drawingml/2006/main" noGrp="1"/>
          </p:cNvSpPr>
          <p:nvPr/>
        </p:nvSpPr>
        <p:spPr>
          <a:xfrm xmlns:a="http://schemas.openxmlformats.org/drawingml/2006/main">
            <a:off x="342900" y="855613"/>
            <a:ext cx="4152900"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8" name="Shape 6">
            <a:extLst xmlns:a="http://schemas.openxmlformats.org/drawingml/2006/main">
              <a:ext uri="{FF2B5EF4-FFF2-40B4-BE49-F238E27FC236}">
                <a16:creationId xmlns:a16="http://schemas.microsoft.com/office/drawing/2014/main" id="{2FD15873-828F-4190-8848-29C982B82EC9}"/>
              </a:ext>
            </a:extLst>
          </p:cNvPr>
          <p:cNvSpPr>
            <a:spLocks xmlns:a="http://schemas.openxmlformats.org/drawingml/2006/main" noGrp="1"/>
          </p:cNvSpPr>
          <p:nvPr/>
        </p:nvSpPr>
        <p:spPr>
          <a:xfrm xmlns:a="http://schemas.openxmlformats.org/drawingml/2006/main">
            <a:off x="4491038" y="850850"/>
            <a:ext cx="0" cy="3270349"/>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9" name="Shape 7">
            <a:extLst xmlns:a="http://schemas.openxmlformats.org/drawingml/2006/main">
              <a:ext uri="{FF2B5EF4-FFF2-40B4-BE49-F238E27FC236}">
                <a16:creationId xmlns:a16="http://schemas.microsoft.com/office/drawing/2014/main" id="{EDBD07FF-5B26-4634-B3D6-739FF1637B11}"/>
              </a:ext>
            </a:extLst>
          </p:cNvPr>
          <p:cNvSpPr>
            <a:spLocks xmlns:a="http://schemas.openxmlformats.org/drawingml/2006/main" noGrp="1"/>
          </p:cNvSpPr>
          <p:nvPr/>
        </p:nvSpPr>
        <p:spPr>
          <a:xfrm xmlns:a="http://schemas.openxmlformats.org/drawingml/2006/main">
            <a:off x="342900" y="4116437"/>
            <a:ext cx="4152900"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0" name="Shape 8">
            <a:extLst xmlns:a="http://schemas.openxmlformats.org/drawingml/2006/main">
              <a:ext uri="{FF2B5EF4-FFF2-40B4-BE49-F238E27FC236}">
                <a16:creationId xmlns:a16="http://schemas.microsoft.com/office/drawing/2014/main" id="{3B6CC555-DB3E-4864-8691-86EAFE8E3EEF}"/>
              </a:ext>
            </a:extLst>
          </p:cNvPr>
          <p:cNvSpPr>
            <a:spLocks xmlns:a="http://schemas.openxmlformats.org/drawingml/2006/main" noGrp="1"/>
          </p:cNvSpPr>
          <p:nvPr/>
        </p:nvSpPr>
        <p:spPr>
          <a:xfrm xmlns:a="http://schemas.openxmlformats.org/drawingml/2006/main">
            <a:off x="371475" y="850850"/>
            <a:ext cx="0" cy="3270349"/>
          </a:xfrm>
          <a:prstGeom xmlns:a="http://schemas.openxmlformats.org/drawingml/2006/main" prst="line">
            <a:avLst/>
          </a:prstGeom>
          <a:noFill xmlns:a="http://schemas.openxmlformats.org/drawingml/2006/main"/>
          <a:ln xmlns:a="http://schemas.openxmlformats.org/drawingml/2006/main" w="57150">
            <a:solidFill>
              <a:srgbClr val="234D78"/>
            </a:solidFill>
            <a:prstDash val="solid"/>
          </a:ln>
        </p:spPr>
      </p:sp>
      <p:sp>
        <p:nvSpPr>
          <p:cNvPr id="11" name="Text 9">
            <a:extLst xmlns:a="http://schemas.openxmlformats.org/drawingml/2006/main">
              <a:ext uri="{FF2B5EF4-FFF2-40B4-BE49-F238E27FC236}">
                <a16:creationId xmlns:a16="http://schemas.microsoft.com/office/drawing/2014/main" id="{51DFE0CC-71F0-4FB0-B6B9-CA66D9EF9956}"/>
              </a:ext>
            </a:extLst>
          </p:cNvPr>
          <p:cNvSpPr>
            <a:spLocks xmlns:a="http://schemas.openxmlformats.org/drawingml/2006/main" noGrp="1"/>
          </p:cNvSpPr>
          <p:nvPr/>
        </p:nvSpPr>
        <p:spPr>
          <a:xfrm xmlns:a="http://schemas.openxmlformats.org/drawingml/2006/main">
            <a:off x="552450" y="1012775"/>
            <a:ext cx="3857054"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Physics reference</a:t>
            </a:r>
            <a:endParaRPr sz="1400"/>
          </a:p>
        </p:txBody>
      </p:sp>
      <p:sp>
        <p:nvSpPr>
          <p:cNvPr id="12" name="Text 10">
            <a:extLst xmlns:a="http://schemas.openxmlformats.org/drawingml/2006/main">
              <a:ext uri="{FF2B5EF4-FFF2-40B4-BE49-F238E27FC236}">
                <a16:creationId xmlns:a16="http://schemas.microsoft.com/office/drawing/2014/main" id="{F815D866-72C2-4452-A666-421A9D1F0C55}"/>
              </a:ext>
            </a:extLst>
          </p:cNvPr>
          <p:cNvSpPr>
            <a:spLocks xmlns:a="http://schemas.openxmlformats.org/drawingml/2006/main" noGrp="1"/>
          </p:cNvSpPr>
          <p:nvPr/>
        </p:nvSpPr>
        <p:spPr>
          <a:xfrm xmlns:a="http://schemas.openxmlformats.org/drawingml/2006/main">
            <a:off x="768251" y="1280666"/>
            <a:ext cx="3565624" cy="1153269"/>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Python 3.12 in a separate environment.</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pip install -r physics_replay/requirements.txt</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python -m physics_replay fetch-models</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python -m physics_replay demo</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python -m pytest -q physics_replay/tests</a:t>
            </a:r>
            <a:endParaRPr sz="1170"/>
          </a:p>
        </p:txBody>
      </p:sp>
      <p:sp>
        <p:nvSpPr>
          <p:cNvPr id="13" name="Text 11">
            <a:extLst xmlns:a="http://schemas.openxmlformats.org/drawingml/2006/main">
              <a:ext uri="{FF2B5EF4-FFF2-40B4-BE49-F238E27FC236}">
                <a16:creationId xmlns:a16="http://schemas.microsoft.com/office/drawing/2014/main" id="{5089F186-A751-43A7-BACA-7A360E305250}"/>
              </a:ext>
            </a:extLst>
          </p:cNvPr>
          <p:cNvSpPr>
            <a:spLocks xmlns:a="http://schemas.openxmlformats.org/drawingml/2006/main" noGrp="1"/>
          </p:cNvSpPr>
          <p:nvPr/>
        </p:nvSpPr>
        <p:spPr>
          <a:xfrm xmlns:a="http://schemas.openxmlformats.org/drawingml/2006/main">
            <a:off x="4648200" y="850850"/>
            <a:ext cx="4152900" cy="3270349"/>
          </a:xfrm>
          <a:prstGeom xmlns:a="http://schemas.openxmlformats.org/drawingml/2006/main" prst="roundRect">
            <a:avLst>
              <a:gd name="adj" fmla="val 3107"/>
            </a:avLst>
          </a:prstGeom>
          <a:solidFill xmlns:a="http://schemas.openxmlformats.org/drawingml/2006/main">
            <a:srgbClr val="EDFAF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14" name="Shape 12">
            <a:extLst xmlns:a="http://schemas.openxmlformats.org/drawingml/2006/main">
              <a:ext uri="{FF2B5EF4-FFF2-40B4-BE49-F238E27FC236}">
                <a16:creationId xmlns:a16="http://schemas.microsoft.com/office/drawing/2014/main" id="{A30DA9DD-B13E-46D2-B45D-E4C157A54C7A}"/>
              </a:ext>
            </a:extLst>
          </p:cNvPr>
          <p:cNvSpPr>
            <a:spLocks xmlns:a="http://schemas.openxmlformats.org/drawingml/2006/main" noGrp="1"/>
          </p:cNvSpPr>
          <p:nvPr/>
        </p:nvSpPr>
        <p:spPr>
          <a:xfrm xmlns:a="http://schemas.openxmlformats.org/drawingml/2006/main">
            <a:off x="4648200" y="855613"/>
            <a:ext cx="4152900"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5" name="Shape 13">
            <a:extLst xmlns:a="http://schemas.openxmlformats.org/drawingml/2006/main">
              <a:ext uri="{FF2B5EF4-FFF2-40B4-BE49-F238E27FC236}">
                <a16:creationId xmlns:a16="http://schemas.microsoft.com/office/drawing/2014/main" id="{C265DEE7-CC2D-4021-89BA-9D7ABCFB144C}"/>
              </a:ext>
            </a:extLst>
          </p:cNvPr>
          <p:cNvSpPr>
            <a:spLocks xmlns:a="http://schemas.openxmlformats.org/drawingml/2006/main" noGrp="1"/>
          </p:cNvSpPr>
          <p:nvPr/>
        </p:nvSpPr>
        <p:spPr>
          <a:xfrm xmlns:a="http://schemas.openxmlformats.org/drawingml/2006/main">
            <a:off x="8796338" y="850850"/>
            <a:ext cx="0" cy="3270349"/>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6" name="Shape 14">
            <a:extLst xmlns:a="http://schemas.openxmlformats.org/drawingml/2006/main">
              <a:ext uri="{FF2B5EF4-FFF2-40B4-BE49-F238E27FC236}">
                <a16:creationId xmlns:a16="http://schemas.microsoft.com/office/drawing/2014/main" id="{1D3A3944-7F07-49D0-907B-A8F3E144F884}"/>
              </a:ext>
            </a:extLst>
          </p:cNvPr>
          <p:cNvSpPr>
            <a:spLocks xmlns:a="http://schemas.openxmlformats.org/drawingml/2006/main" noGrp="1"/>
          </p:cNvSpPr>
          <p:nvPr/>
        </p:nvSpPr>
        <p:spPr>
          <a:xfrm xmlns:a="http://schemas.openxmlformats.org/drawingml/2006/main">
            <a:off x="4648200" y="4116437"/>
            <a:ext cx="4152900"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7" name="Shape 15">
            <a:extLst xmlns:a="http://schemas.openxmlformats.org/drawingml/2006/main">
              <a:ext uri="{FF2B5EF4-FFF2-40B4-BE49-F238E27FC236}">
                <a16:creationId xmlns:a16="http://schemas.microsoft.com/office/drawing/2014/main" id="{D3B89825-8F44-4BF3-858C-503FC4A7F951}"/>
              </a:ext>
            </a:extLst>
          </p:cNvPr>
          <p:cNvSpPr>
            <a:spLocks xmlns:a="http://schemas.openxmlformats.org/drawingml/2006/main" noGrp="1"/>
          </p:cNvSpPr>
          <p:nvPr/>
        </p:nvSpPr>
        <p:spPr>
          <a:xfrm xmlns:a="http://schemas.openxmlformats.org/drawingml/2006/main">
            <a:off x="4676775" y="850850"/>
            <a:ext cx="0" cy="3270349"/>
          </a:xfrm>
          <a:prstGeom xmlns:a="http://schemas.openxmlformats.org/drawingml/2006/main" prst="line">
            <a:avLst/>
          </a:prstGeom>
          <a:noFill xmlns:a="http://schemas.openxmlformats.org/drawingml/2006/main"/>
          <a:ln xmlns:a="http://schemas.openxmlformats.org/drawingml/2006/main" w="57150">
            <a:solidFill>
              <a:srgbClr val="1D9E91"/>
            </a:solidFill>
            <a:prstDash val="solid"/>
          </a:ln>
        </p:spPr>
      </p:sp>
      <p:sp>
        <p:nvSpPr>
          <p:cNvPr id="18" name="Text 16">
            <a:extLst xmlns:a="http://schemas.openxmlformats.org/drawingml/2006/main">
              <a:ext uri="{FF2B5EF4-FFF2-40B4-BE49-F238E27FC236}">
                <a16:creationId xmlns:a16="http://schemas.microsoft.com/office/drawing/2014/main" id="{AF9784A3-9570-4675-9963-26B98F285D49}"/>
              </a:ext>
            </a:extLst>
          </p:cNvPr>
          <p:cNvSpPr>
            <a:spLocks xmlns:a="http://schemas.openxmlformats.org/drawingml/2006/main" noGrp="1"/>
          </p:cNvSpPr>
          <p:nvPr/>
        </p:nvSpPr>
        <p:spPr>
          <a:xfrm xmlns:a="http://schemas.openxmlformats.org/drawingml/2006/main">
            <a:off x="4857750" y="1012775"/>
            <a:ext cx="3857054"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Marker / correction prototype</a:t>
            </a:r>
            <a:endParaRPr sz="1400"/>
          </a:p>
        </p:txBody>
      </p:sp>
      <p:sp>
        <p:nvSpPr>
          <p:cNvPr id="19" name="Text 17">
            <a:extLst xmlns:a="http://schemas.openxmlformats.org/drawingml/2006/main">
              <a:ext uri="{FF2B5EF4-FFF2-40B4-BE49-F238E27FC236}">
                <a16:creationId xmlns:a16="http://schemas.microsoft.com/office/drawing/2014/main" id="{2D0C572A-8F26-4DF9-9325-63C835FEEDF4}"/>
              </a:ext>
            </a:extLst>
          </p:cNvPr>
          <p:cNvSpPr>
            <a:spLocks xmlns:a="http://schemas.openxmlformats.org/drawingml/2006/main" noGrp="1"/>
          </p:cNvSpPr>
          <p:nvPr/>
        </p:nvSpPr>
        <p:spPr>
          <a:xfrm xmlns:a="http://schemas.openxmlformats.org/drawingml/2006/main">
            <a:off x="5073551" y="1280666"/>
            <a:ext cx="3565624" cy="1153269"/>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Separate environment: requirements-research.txt.</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python tools/research-prototype.py fetch-models</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python tools/research-prototype.py demo</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A new output directory for each run.</a:t>
            </a:r>
            <a:endParaRPr sz="1170"/>
          </a:p>
          <a:p xmlns:a="http://schemas.openxmlformats.org/drawingml/2006/main">
            <a:pPr marL="342900" indent="-342900" algn="l">
              <a:lnSpc>
                <a:spcPts val="1498"/>
              </a:lnSpc>
              <a:spcAft>
                <a:spcPts val="400"/>
              </a:spcAft>
              <a:buSzPct val="100000"/>
              <a:buChar char="•"/>
              <a:defRPr sz="1170" b="0">
                <a:solidFill>
                  <a:srgbClr val="12263A"/>
                </a:solidFill>
                <a:latin typeface="Arial"/>
                <a:ea typeface="Arial"/>
                <a:cs typeface="Arial"/>
              </a:defRPr>
            </a:pPr>
            <a:r>
              <a:rPr sz="1170" b="0">
                <a:solidFill>
                  <a:srgbClr val="12263A"/>
                </a:solidFill>
                <a:latin typeface="Arial"/>
                <a:ea typeface="Arial"/>
                <a:cs typeface="Arial"/>
              </a:rPr>
              <a:t>See docs/marker-prototype.md.</a:t>
            </a:r>
            <a:endParaRPr sz="1170"/>
          </a:p>
        </p:txBody>
      </p:sp>
      <p:sp>
        <p:nvSpPr>
          <p:cNvPr id="20" name="Text 18">
            <a:extLst xmlns:a="http://schemas.openxmlformats.org/drawingml/2006/main">
              <a:ext uri="{FF2B5EF4-FFF2-40B4-BE49-F238E27FC236}">
                <a16:creationId xmlns:a16="http://schemas.microsoft.com/office/drawing/2014/main" id="{3EF62CF9-A22A-4BE6-8620-5CC54B3770E8}"/>
              </a:ext>
            </a:extLst>
          </p:cNvPr>
          <p:cNvSpPr>
            <a:spLocks xmlns:a="http://schemas.openxmlformats.org/drawingml/2006/main" noGrp="1"/>
          </p:cNvSpPr>
          <p:nvPr/>
        </p:nvSpPr>
        <p:spPr>
          <a:xfrm xmlns:a="http://schemas.openxmlformats.org/drawingml/2006/main">
            <a:off x="342900" y="4235500"/>
            <a:ext cx="8458200" cy="425500"/>
          </a:xfrm>
          <a:prstGeom xmlns:a="http://schemas.openxmlformats.org/drawingml/2006/main" prst="rect">
            <a:avLst/>
          </a:prstGeom>
          <a:solidFill xmlns:a="http://schemas.openxmlformats.org/drawingml/2006/main">
            <a:srgbClr val="EEF4F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21" name="Shape 19">
            <a:extLst xmlns:a="http://schemas.openxmlformats.org/drawingml/2006/main">
              <a:ext uri="{FF2B5EF4-FFF2-40B4-BE49-F238E27FC236}">
                <a16:creationId xmlns:a16="http://schemas.microsoft.com/office/drawing/2014/main" id="{FB967313-CC6F-4637-8F11-0BDD1CEAB27A}"/>
              </a:ext>
            </a:extLst>
          </p:cNvPr>
          <p:cNvSpPr>
            <a:spLocks xmlns:a="http://schemas.openxmlformats.org/drawingml/2006/main" noGrp="1"/>
          </p:cNvSpPr>
          <p:nvPr/>
        </p:nvSpPr>
        <p:spPr>
          <a:xfrm xmlns:a="http://schemas.openxmlformats.org/drawingml/2006/main">
            <a:off x="371475" y="4235500"/>
            <a:ext cx="0" cy="425500"/>
          </a:xfrm>
          <a:prstGeom xmlns:a="http://schemas.openxmlformats.org/drawingml/2006/main" prst="line">
            <a:avLst/>
          </a:prstGeom>
          <a:noFill xmlns:a="http://schemas.openxmlformats.org/drawingml/2006/main"/>
          <a:ln xmlns:a="http://schemas.openxmlformats.org/drawingml/2006/main" w="57150">
            <a:solidFill>
              <a:srgbClr val="D63B4A"/>
            </a:solidFill>
            <a:prstDash val="solid"/>
          </a:ln>
        </p:spPr>
      </p:sp>
      <p:sp>
        <p:nvSpPr>
          <p:cNvPr id="22" name="Text 20">
            <a:extLst xmlns:a="http://schemas.openxmlformats.org/drawingml/2006/main">
              <a:ext uri="{FF2B5EF4-FFF2-40B4-BE49-F238E27FC236}">
                <a16:creationId xmlns:a16="http://schemas.microsoft.com/office/drawing/2014/main" id="{18DA7441-8049-428D-9DBA-F0BF5BF19ED7}"/>
              </a:ext>
            </a:extLst>
          </p:cNvPr>
          <p:cNvSpPr>
            <a:spLocks xmlns:a="http://schemas.openxmlformats.org/drawingml/2006/main" noGrp="1"/>
          </p:cNvSpPr>
          <p:nvPr/>
        </p:nvSpPr>
        <p:spPr>
          <a:xfrm xmlns:a="http://schemas.openxmlformats.org/drawingml/2006/main">
            <a:off x="552450" y="4349800"/>
            <a:ext cx="8258175" cy="1969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550"/>
              </a:lnSpc>
              <a:buNone/>
              <a:defRPr sz="1250" b="1">
                <a:solidFill>
                  <a:srgbClr val="16344F"/>
                </a:solidFill>
                <a:latin typeface="Arial"/>
                <a:ea typeface="Arial"/>
                <a:cs typeface="Arial"/>
              </a:defRPr>
            </a:pPr>
            <a:r>
              <a:rPr sz="1250" b="1">
                <a:solidFill>
                  <a:srgbClr val="16344F"/>
                </a:solidFill>
                <a:latin typeface="Arial"/>
                <a:ea typeface="Arial"/>
                <a:cs typeface="Arial"/>
              </a:rPr>
              <a:t>Public starter repository. Separate environments and endpoints. End-to-end integration remains absent.</a:t>
            </a:r>
            <a:endParaRPr sz="1250"/>
          </a:p>
        </p:txBody>
      </p:sp>
      <p:sp>
        <p:nvSpPr>
          <p:cNvPr id="23" name="Text 21">
            <a:extLst xmlns:a="http://schemas.openxmlformats.org/drawingml/2006/main">
              <a:ext uri="{FF2B5EF4-FFF2-40B4-BE49-F238E27FC236}">
                <a16:creationId xmlns:a16="http://schemas.microsoft.com/office/drawing/2014/main" id="{CB09624E-E7EF-4DA7-8546-B5789EC16D03}"/>
              </a:ext>
            </a:extLst>
          </p:cNvPr>
          <p:cNvSpPr>
            <a:spLocks xmlns:a="http://schemas.openxmlformats.org/drawingml/2006/main" noGrp="1"/>
          </p:cNvSpPr>
          <p:nvPr/>
        </p:nvSpPr>
        <p:spPr>
          <a:xfrm xmlns:a="http://schemas.openxmlformats.org/drawingml/2006/main">
            <a:off x="8339328" y="4965192"/>
            <a:ext cx="502920"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60">
                <a:solidFill>
                  <a:srgbClr val="7A8794"/>
                </a:solidFill>
                <a:latin typeface="Arial"/>
                <a:ea typeface="Arial"/>
                <a:cs typeface="Arial"/>
              </a:rPr>
              <a:t>29 / 31</a:t>
            </a:r>
            <a:endParaRPr sz="660"/>
          </a:p>
        </p:txBody>
      </p:sp>
      <p:sp>
        <p:nvSpPr>
          <p:cNvPr id="24" name="Sources footer">
            <a:extLst xmlns:a="http://schemas.openxmlformats.org/drawingml/2006/main">
              <a:ext uri="{FF2B5EF4-FFF2-40B4-BE49-F238E27FC236}">
                <a16:creationId xmlns:a16="http://schemas.microsoft.com/office/drawing/2014/main" id="{94008496-08F1-4F79-8682-AB4B8B22BE99}"/>
              </a:ext>
            </a:extLst>
          </p:cNvPr>
          <p:cNvSpPr>
            <a:spLocks xmlns:a="http://schemas.openxmlformats.org/drawingml/2006/main" noGrp="1"/>
          </p:cNvSpPr>
          <p:nvPr/>
        </p:nvSpPr>
        <p:spPr>
          <a:xfrm xmlns:a="http://schemas.openxmlformats.org/drawingml/2006/main">
            <a:off x="438150" y="4924425"/>
            <a:ext cx="72961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40" b="0">
                <a:solidFill>
                  <a:srgbClr val="234D78"/>
                </a:solidFill>
                <a:latin typeface="Arial"/>
                <a:ea typeface="Arial"/>
                <a:cs typeface="Arial"/>
              </a:defRPr>
            </a:pPr>
            <a:r>
              <a:rPr sz="640" b="0">
                <a:solidFill>
                  <a:srgbClr val="234D78"/>
                </a:solidFill>
                <a:latin typeface="Arial"/>
                <a:ea typeface="Arial"/>
                <a:cs typeface="Arial"/>
                <a:hlinkClick xmlns:r="http://schemas.openxmlformats.org/officeDocument/2006/relationships" r:id="Rf56889603fbd4515"/>
              </a:rPr>
              <a:t>Reader guide and sources</a:t>
            </a:r>
          </a:p>
        </p:txBody>
      </p:sp>
    </p:spTree>
    <p:extLst>
      <p:ext uri="{BB962C8B-B14F-4D97-AF65-F5344CB8AC3E}">
        <p14:creationId xmlns:p14="http://schemas.microsoft.com/office/powerpoint/2010/main" val="1981986735"/>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861EC3F-4673-4994-9E36-1F269E192FEB}"/>
              </a:ext>
            </a:extLst>
          </p:cNvPr>
          <p:cNvSpPr>
            <a:spLocks xmlns:a="http://schemas.openxmlformats.org/drawingml/2006/main" noGrp="1"/>
          </p:cNvSpPr>
          <p:nvPr/>
        </p:nvSpPr>
        <p:spPr>
          <a:xfrm xmlns:a="http://schemas.openxmlformats.org/drawingml/2006/main">
            <a:off x="0" y="0"/>
            <a:ext cx="9144000" cy="609600"/>
          </a:xfrm>
          <a:prstGeom xmlns:a="http://schemas.openxmlformats.org/drawingml/2006/main" prst="rect">
            <a:avLst/>
          </a:prstGeom>
          <a:solidFill xmlns:a="http://schemas.openxmlformats.org/drawingml/2006/main">
            <a:srgbClr val="234D7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3" name="Text 1">
            <a:extLst xmlns:a="http://schemas.openxmlformats.org/drawingml/2006/main">
              <a:ext uri="{FF2B5EF4-FFF2-40B4-BE49-F238E27FC236}">
                <a16:creationId xmlns:a16="http://schemas.microsoft.com/office/drawing/2014/main" id="{4D9785C0-B338-471B-A236-65AD83ECCD14}"/>
              </a:ext>
            </a:extLst>
          </p:cNvPr>
          <p:cNvSpPr>
            <a:spLocks xmlns:a="http://schemas.openxmlformats.org/drawingml/2006/main" noGrp="1"/>
          </p:cNvSpPr>
          <p:nvPr/>
        </p:nvSpPr>
        <p:spPr>
          <a:xfrm xmlns:a="http://schemas.openxmlformats.org/drawingml/2006/main">
            <a:off x="330136" y="164116"/>
            <a:ext cx="6619875" cy="3238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2415"/>
              </a:lnSpc>
              <a:buNone/>
              <a:defRPr sz="2300" b="1">
                <a:solidFill>
                  <a:srgbClr val="FFFFFF"/>
                </a:solidFill>
                <a:latin typeface="Arial"/>
                <a:ea typeface="Arial"/>
                <a:cs typeface="Arial"/>
              </a:defRPr>
            </a:pPr>
            <a:r>
              <a:rPr sz="2300" b="1">
                <a:solidFill>
                  <a:srgbClr val="FFFFFF"/>
                </a:solidFill>
                <a:latin typeface="Arial"/>
                <a:ea typeface="Arial"/>
                <a:cs typeface="Arial"/>
              </a:rPr>
              <a:t>Resources: repository and documentation</a:t>
            </a:r>
            <a:endParaRPr sz="2300"/>
          </a:p>
        </p:txBody>
      </p:sp>
      <p:sp>
        <p:nvSpPr>
          <p:cNvPr id="4" name="Text 2">
            <a:extLst xmlns:a="http://schemas.openxmlformats.org/drawingml/2006/main">
              <a:ext uri="{FF2B5EF4-FFF2-40B4-BE49-F238E27FC236}">
                <a16:creationId xmlns:a16="http://schemas.microsoft.com/office/drawing/2014/main" id="{2DAACB5E-A6B7-460E-829F-9C25E66301A8}"/>
              </a:ext>
            </a:extLst>
          </p:cNvPr>
          <p:cNvSpPr>
            <a:spLocks xmlns:a="http://schemas.openxmlformats.org/drawingml/2006/main" noGrp="1"/>
          </p:cNvSpPr>
          <p:nvPr/>
        </p:nvSpPr>
        <p:spPr>
          <a:xfrm xmlns:a="http://schemas.openxmlformats.org/drawingml/2006/main">
            <a:off x="7372350" y="190500"/>
            <a:ext cx="14478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r">
              <a:lnSpc>
                <a:spcPts val="1054"/>
              </a:lnSpc>
              <a:buNone/>
              <a:defRPr sz="788" b="1">
                <a:solidFill>
                  <a:srgbClr val="FFFFFF"/>
                </a:solidFill>
                <a:latin typeface="Arial"/>
                <a:ea typeface="Arial"/>
                <a:cs typeface="Arial"/>
              </a:defRPr>
            </a:pPr>
            <a:r>
              <a:rPr sz="788" b="1">
                <a:solidFill>
                  <a:srgbClr val="FFFFFF"/>
                </a:solidFill>
                <a:latin typeface="Arial"/>
                <a:ea typeface="Arial"/>
                <a:cs typeface="Arial"/>
              </a:rPr>
              <a:t>CS CAPSTONE REFERENCE</a:t>
            </a:r>
            <a:endParaRPr sz="850"/>
          </a:p>
        </p:txBody>
      </p:sp>
      <p:sp>
        <p:nvSpPr>
          <p:cNvPr id="5" name="Text 3">
            <a:extLst xmlns:a="http://schemas.openxmlformats.org/drawingml/2006/main">
              <a:ext uri="{FF2B5EF4-FFF2-40B4-BE49-F238E27FC236}">
                <a16:creationId xmlns:a16="http://schemas.microsoft.com/office/drawing/2014/main" id="{3C521494-9F03-4221-82BC-123ADFBD3ECB}"/>
              </a:ext>
            </a:extLst>
          </p:cNvPr>
          <p:cNvSpPr>
            <a:spLocks xmlns:a="http://schemas.openxmlformats.org/drawingml/2006/main" noGrp="1"/>
          </p:cNvSpPr>
          <p:nvPr/>
        </p:nvSpPr>
        <p:spPr>
          <a:xfrm xmlns:a="http://schemas.openxmlformats.org/drawingml/2006/main">
            <a:off x="330101" y="609600"/>
            <a:ext cx="787301" cy="38100"/>
          </a:xfrm>
          <a:prstGeom xmlns:a="http://schemas.openxmlformats.org/drawingml/2006/main" prst="rect">
            <a:avLst/>
          </a:prstGeom>
          <a:solidFill xmlns:a="http://schemas.openxmlformats.org/drawingml/2006/main">
            <a:srgbClr val="D63B4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6" name="Text 4">
            <a:extLst xmlns:a="http://schemas.openxmlformats.org/drawingml/2006/main">
              <a:ext uri="{FF2B5EF4-FFF2-40B4-BE49-F238E27FC236}">
                <a16:creationId xmlns:a16="http://schemas.microsoft.com/office/drawing/2014/main" id="{3B1BF361-70AD-437E-9268-9DF382ABC178}"/>
              </a:ext>
            </a:extLst>
          </p:cNvPr>
          <p:cNvSpPr>
            <a:spLocks xmlns:a="http://schemas.openxmlformats.org/drawingml/2006/main" noGrp="1"/>
          </p:cNvSpPr>
          <p:nvPr/>
        </p:nvSpPr>
        <p:spPr>
          <a:xfrm xmlns:a="http://schemas.openxmlformats.org/drawingml/2006/main">
            <a:off x="342900" y="850850"/>
            <a:ext cx="8627364" cy="18097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426"/>
              </a:lnSpc>
              <a:buNone/>
              <a:defRPr sz="1150" b="0">
                <a:solidFill>
                  <a:srgbClr val="617286"/>
                </a:solidFill>
                <a:latin typeface="Arial"/>
                <a:ea typeface="Arial"/>
                <a:cs typeface="Arial"/>
              </a:defRPr>
            </a:pPr>
            <a:r>
              <a:rPr sz="1150" b="0">
                <a:solidFill>
                  <a:srgbClr val="617286"/>
                </a:solidFill>
                <a:latin typeface="Arial"/>
                <a:ea typeface="Arial"/>
                <a:cs typeface="Arial"/>
              </a:rPr>
              <a:t>Links provide code, notebooks, committed results, and reproducibility guidance.</a:t>
            </a:r>
            <a:endParaRPr sz="1150"/>
          </a:p>
        </p:txBody>
      </p:sp>
      <p:sp>
        <p:nvSpPr>
          <p:cNvPr id="7" name="Text 5">
            <a:extLst xmlns:a="http://schemas.openxmlformats.org/drawingml/2006/main">
              <a:ext uri="{FF2B5EF4-FFF2-40B4-BE49-F238E27FC236}">
                <a16:creationId xmlns:a16="http://schemas.microsoft.com/office/drawing/2014/main" id="{F6EBDD4A-9C10-463B-A6F6-C7E8FCDAD065}"/>
              </a:ext>
            </a:extLst>
          </p:cNvPr>
          <p:cNvSpPr>
            <a:spLocks xmlns:a="http://schemas.openxmlformats.org/drawingml/2006/main" noGrp="1"/>
          </p:cNvSpPr>
          <p:nvPr/>
        </p:nvSpPr>
        <p:spPr>
          <a:xfrm xmlns:a="http://schemas.openxmlformats.org/drawingml/2006/main">
            <a:off x="342900" y="1196876"/>
            <a:ext cx="4152900" cy="3464123"/>
          </a:xfrm>
          <a:prstGeom xmlns:a="http://schemas.openxmlformats.org/drawingml/2006/main" prst="roundRect">
            <a:avLst>
              <a:gd name="adj" fmla="val 2933"/>
            </a:avLst>
          </a:prstGeom>
          <a:solidFill xmlns:a="http://schemas.openxmlformats.org/drawingml/2006/main">
            <a:srgbClr val="EEF4F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8" name="Shape 6">
            <a:extLst xmlns:a="http://schemas.openxmlformats.org/drawingml/2006/main">
              <a:ext uri="{FF2B5EF4-FFF2-40B4-BE49-F238E27FC236}">
                <a16:creationId xmlns:a16="http://schemas.microsoft.com/office/drawing/2014/main" id="{1AB1D96A-29E6-48DB-966B-5DE72422E52D}"/>
              </a:ext>
            </a:extLst>
          </p:cNvPr>
          <p:cNvSpPr>
            <a:spLocks xmlns:a="http://schemas.openxmlformats.org/drawingml/2006/main" noGrp="1"/>
          </p:cNvSpPr>
          <p:nvPr/>
        </p:nvSpPr>
        <p:spPr>
          <a:xfrm xmlns:a="http://schemas.openxmlformats.org/drawingml/2006/main">
            <a:off x="342900" y="1201638"/>
            <a:ext cx="4152900"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9" name="Shape 7">
            <a:extLst xmlns:a="http://schemas.openxmlformats.org/drawingml/2006/main">
              <a:ext uri="{FF2B5EF4-FFF2-40B4-BE49-F238E27FC236}">
                <a16:creationId xmlns:a16="http://schemas.microsoft.com/office/drawing/2014/main" id="{D1FF1EDE-44C3-4EC4-9F15-1C06399022CE}"/>
              </a:ext>
            </a:extLst>
          </p:cNvPr>
          <p:cNvSpPr>
            <a:spLocks xmlns:a="http://schemas.openxmlformats.org/drawingml/2006/main" noGrp="1"/>
          </p:cNvSpPr>
          <p:nvPr/>
        </p:nvSpPr>
        <p:spPr>
          <a:xfrm xmlns:a="http://schemas.openxmlformats.org/drawingml/2006/main">
            <a:off x="4491038" y="1196876"/>
            <a:ext cx="0" cy="3464123"/>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0" name="Shape 8">
            <a:extLst xmlns:a="http://schemas.openxmlformats.org/drawingml/2006/main">
              <a:ext uri="{FF2B5EF4-FFF2-40B4-BE49-F238E27FC236}">
                <a16:creationId xmlns:a16="http://schemas.microsoft.com/office/drawing/2014/main" id="{7B17B771-279D-477A-9BCC-BD81B621FF4C}"/>
              </a:ext>
            </a:extLst>
          </p:cNvPr>
          <p:cNvSpPr>
            <a:spLocks xmlns:a="http://schemas.openxmlformats.org/drawingml/2006/main" noGrp="1"/>
          </p:cNvSpPr>
          <p:nvPr/>
        </p:nvSpPr>
        <p:spPr>
          <a:xfrm xmlns:a="http://schemas.openxmlformats.org/drawingml/2006/main">
            <a:off x="342900" y="4656237"/>
            <a:ext cx="4152900"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1" name="Shape 9">
            <a:extLst xmlns:a="http://schemas.openxmlformats.org/drawingml/2006/main">
              <a:ext uri="{FF2B5EF4-FFF2-40B4-BE49-F238E27FC236}">
                <a16:creationId xmlns:a16="http://schemas.microsoft.com/office/drawing/2014/main" id="{ED42FF9F-E9DF-4295-A30F-06973FC3B61F}"/>
              </a:ext>
            </a:extLst>
          </p:cNvPr>
          <p:cNvSpPr>
            <a:spLocks xmlns:a="http://schemas.openxmlformats.org/drawingml/2006/main" noGrp="1"/>
          </p:cNvSpPr>
          <p:nvPr/>
        </p:nvSpPr>
        <p:spPr>
          <a:xfrm xmlns:a="http://schemas.openxmlformats.org/drawingml/2006/main">
            <a:off x="371475" y="1196876"/>
            <a:ext cx="0" cy="3464123"/>
          </a:xfrm>
          <a:prstGeom xmlns:a="http://schemas.openxmlformats.org/drawingml/2006/main" prst="line">
            <a:avLst/>
          </a:prstGeom>
          <a:noFill xmlns:a="http://schemas.openxmlformats.org/drawingml/2006/main"/>
          <a:ln xmlns:a="http://schemas.openxmlformats.org/drawingml/2006/main" w="57150">
            <a:solidFill>
              <a:srgbClr val="234D78"/>
            </a:solidFill>
            <a:prstDash val="solid"/>
          </a:ln>
        </p:spPr>
      </p:sp>
      <p:sp>
        <p:nvSpPr>
          <p:cNvPr id="12" name="Text 10">
            <a:extLst xmlns:a="http://schemas.openxmlformats.org/drawingml/2006/main">
              <a:ext uri="{FF2B5EF4-FFF2-40B4-BE49-F238E27FC236}">
                <a16:creationId xmlns:a16="http://schemas.microsoft.com/office/drawing/2014/main" id="{0E123807-B1C2-4024-B542-9FB18FCD5999}"/>
              </a:ext>
            </a:extLst>
          </p:cNvPr>
          <p:cNvSpPr>
            <a:spLocks xmlns:a="http://schemas.openxmlformats.org/drawingml/2006/main" noGrp="1"/>
          </p:cNvSpPr>
          <p:nvPr/>
        </p:nvSpPr>
        <p:spPr>
          <a:xfrm xmlns:a="http://schemas.openxmlformats.org/drawingml/2006/main">
            <a:off x="552450" y="1358801"/>
            <a:ext cx="3857054"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Executed reference</a:t>
            </a:r>
            <a:endParaRPr sz="1400"/>
          </a:p>
        </p:txBody>
      </p:sp>
      <p:sp>
        <p:nvSpPr>
          <p:cNvPr id="13" name="Text 11">
            <a:extLst xmlns:a="http://schemas.openxmlformats.org/drawingml/2006/main">
              <a:ext uri="{FF2B5EF4-FFF2-40B4-BE49-F238E27FC236}">
                <a16:creationId xmlns:a16="http://schemas.microsoft.com/office/drawing/2014/main" id="{391D6599-AEB7-492C-B411-1949BA937152}"/>
              </a:ext>
            </a:extLst>
          </p:cNvPr>
          <p:cNvSpPr>
            <a:spLocks xmlns:a="http://schemas.openxmlformats.org/drawingml/2006/main" noGrp="1"/>
          </p:cNvSpPr>
          <p:nvPr/>
        </p:nvSpPr>
        <p:spPr>
          <a:xfrm xmlns:a="http://schemas.openxmlformats.org/drawingml/2006/main">
            <a:off x="552450" y="1626691"/>
            <a:ext cx="3857054" cy="383977"/>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513"/>
              </a:lnSpc>
              <a:buNone/>
              <a:defRPr sz="1220" b="0">
                <a:solidFill>
                  <a:srgbClr val="12263A"/>
                </a:solidFill>
                <a:latin typeface="Arial"/>
                <a:ea typeface="Arial"/>
                <a:cs typeface="Arial"/>
              </a:defRPr>
            </a:pPr>
            <a:r>
              <a:rPr sz="1220" b="0">
                <a:solidFill>
                  <a:srgbClr val="12263A"/>
                </a:solidFill>
                <a:latin typeface="Arial"/>
                <a:ea typeface="Arial"/>
                <a:cs typeface="Arial"/>
              </a:rPr>
              <a:t>Public code, notebook, and reference results. Run manifests retain model, configuration, and code hashes.</a:t>
            </a:r>
            <a:endParaRPr sz="1220"/>
          </a:p>
        </p:txBody>
      </p:sp>
      <p:sp>
        <p:nvSpPr>
          <p:cNvPr id="14" name="Text 12">
            <a:extLst xmlns:a="http://schemas.openxmlformats.org/drawingml/2006/main">
              <a:ext uri="{FF2B5EF4-FFF2-40B4-BE49-F238E27FC236}">
                <a16:creationId xmlns:a16="http://schemas.microsoft.com/office/drawing/2014/main" id="{BA1D573B-874A-4ECC-9C93-1BDE3A23901C}"/>
              </a:ext>
            </a:extLst>
          </p:cNvPr>
          <p:cNvSpPr>
            <a:spLocks xmlns:a="http://schemas.openxmlformats.org/drawingml/2006/main" noGrp="1"/>
          </p:cNvSpPr>
          <p:nvPr/>
        </p:nvSpPr>
        <p:spPr>
          <a:xfrm xmlns:a="http://schemas.openxmlformats.org/drawingml/2006/main">
            <a:off x="4648200" y="1196876"/>
            <a:ext cx="4152900" cy="3464123"/>
          </a:xfrm>
          <a:prstGeom xmlns:a="http://schemas.openxmlformats.org/drawingml/2006/main" prst="roundRect">
            <a:avLst>
              <a:gd name="adj" fmla="val 2933"/>
            </a:avLst>
          </a:prstGeom>
          <a:solidFill xmlns:a="http://schemas.openxmlformats.org/drawingml/2006/main">
            <a:srgbClr val="EDFAF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15" name="Shape 13">
            <a:extLst xmlns:a="http://schemas.openxmlformats.org/drawingml/2006/main">
              <a:ext uri="{FF2B5EF4-FFF2-40B4-BE49-F238E27FC236}">
                <a16:creationId xmlns:a16="http://schemas.microsoft.com/office/drawing/2014/main" id="{C371385F-0F11-401F-ACC4-A00D8FF69688}"/>
              </a:ext>
            </a:extLst>
          </p:cNvPr>
          <p:cNvSpPr>
            <a:spLocks xmlns:a="http://schemas.openxmlformats.org/drawingml/2006/main" noGrp="1"/>
          </p:cNvSpPr>
          <p:nvPr/>
        </p:nvSpPr>
        <p:spPr>
          <a:xfrm xmlns:a="http://schemas.openxmlformats.org/drawingml/2006/main">
            <a:off x="4648200" y="1201638"/>
            <a:ext cx="4152900"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6" name="Shape 14">
            <a:extLst xmlns:a="http://schemas.openxmlformats.org/drawingml/2006/main">
              <a:ext uri="{FF2B5EF4-FFF2-40B4-BE49-F238E27FC236}">
                <a16:creationId xmlns:a16="http://schemas.microsoft.com/office/drawing/2014/main" id="{705EEC7B-A37F-4A5B-8C9A-FA121DE8410C}"/>
              </a:ext>
            </a:extLst>
          </p:cNvPr>
          <p:cNvSpPr>
            <a:spLocks xmlns:a="http://schemas.openxmlformats.org/drawingml/2006/main" noGrp="1"/>
          </p:cNvSpPr>
          <p:nvPr/>
        </p:nvSpPr>
        <p:spPr>
          <a:xfrm xmlns:a="http://schemas.openxmlformats.org/drawingml/2006/main">
            <a:off x="8796338" y="1196876"/>
            <a:ext cx="0" cy="3464123"/>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7" name="Shape 15">
            <a:extLst xmlns:a="http://schemas.openxmlformats.org/drawingml/2006/main">
              <a:ext uri="{FF2B5EF4-FFF2-40B4-BE49-F238E27FC236}">
                <a16:creationId xmlns:a16="http://schemas.microsoft.com/office/drawing/2014/main" id="{2BF066F5-4D00-49F1-AB63-ADC2EED56606}"/>
              </a:ext>
            </a:extLst>
          </p:cNvPr>
          <p:cNvSpPr>
            <a:spLocks xmlns:a="http://schemas.openxmlformats.org/drawingml/2006/main" noGrp="1"/>
          </p:cNvSpPr>
          <p:nvPr/>
        </p:nvSpPr>
        <p:spPr>
          <a:xfrm xmlns:a="http://schemas.openxmlformats.org/drawingml/2006/main">
            <a:off x="4648200" y="4656237"/>
            <a:ext cx="4152900"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8" name="Shape 16">
            <a:extLst xmlns:a="http://schemas.openxmlformats.org/drawingml/2006/main">
              <a:ext uri="{FF2B5EF4-FFF2-40B4-BE49-F238E27FC236}">
                <a16:creationId xmlns:a16="http://schemas.microsoft.com/office/drawing/2014/main" id="{A8D18812-2FC3-46FE-96C8-E0DD18A2213D}"/>
              </a:ext>
            </a:extLst>
          </p:cNvPr>
          <p:cNvSpPr>
            <a:spLocks xmlns:a="http://schemas.openxmlformats.org/drawingml/2006/main" noGrp="1"/>
          </p:cNvSpPr>
          <p:nvPr/>
        </p:nvSpPr>
        <p:spPr>
          <a:xfrm xmlns:a="http://schemas.openxmlformats.org/drawingml/2006/main">
            <a:off x="4676775" y="1196876"/>
            <a:ext cx="0" cy="3464123"/>
          </a:xfrm>
          <a:prstGeom xmlns:a="http://schemas.openxmlformats.org/drawingml/2006/main" prst="line">
            <a:avLst/>
          </a:prstGeom>
          <a:noFill xmlns:a="http://schemas.openxmlformats.org/drawingml/2006/main"/>
          <a:ln xmlns:a="http://schemas.openxmlformats.org/drawingml/2006/main" w="57150">
            <a:solidFill>
              <a:srgbClr val="1D9E91"/>
            </a:solidFill>
            <a:prstDash val="solid"/>
          </a:ln>
        </p:spPr>
      </p:sp>
      <p:sp>
        <p:nvSpPr>
          <p:cNvPr id="19" name="Text 17">
            <a:extLst xmlns:a="http://schemas.openxmlformats.org/drawingml/2006/main">
              <a:ext uri="{FF2B5EF4-FFF2-40B4-BE49-F238E27FC236}">
                <a16:creationId xmlns:a16="http://schemas.microsoft.com/office/drawing/2014/main" id="{7487B8F8-2699-41FC-AE54-6F735491E925}"/>
              </a:ext>
            </a:extLst>
          </p:cNvPr>
          <p:cNvSpPr>
            <a:spLocks xmlns:a="http://schemas.openxmlformats.org/drawingml/2006/main" noGrp="1"/>
          </p:cNvSpPr>
          <p:nvPr/>
        </p:nvSpPr>
        <p:spPr>
          <a:xfrm xmlns:a="http://schemas.openxmlformats.org/drawingml/2006/main">
            <a:off x="4857750" y="1358801"/>
            <a:ext cx="3857054" cy="20449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Reading and provenance</a:t>
            </a:r>
            <a:endParaRPr sz="1400"/>
          </a:p>
        </p:txBody>
      </p:sp>
      <p:sp>
        <p:nvSpPr>
          <p:cNvPr id="20" name="Text 18">
            <a:extLst xmlns:a="http://schemas.openxmlformats.org/drawingml/2006/main">
              <a:ext uri="{FF2B5EF4-FFF2-40B4-BE49-F238E27FC236}">
                <a16:creationId xmlns:a16="http://schemas.microsoft.com/office/drawing/2014/main" id="{95994E2B-C8B2-4245-90AB-F20A340B2602}"/>
              </a:ext>
            </a:extLst>
          </p:cNvPr>
          <p:cNvSpPr>
            <a:spLocks xmlns:a="http://schemas.openxmlformats.org/drawingml/2006/main" noGrp="1"/>
          </p:cNvSpPr>
          <p:nvPr/>
        </p:nvSpPr>
        <p:spPr>
          <a:xfrm xmlns:a="http://schemas.openxmlformats.org/drawingml/2006/main">
            <a:off x="4857750" y="1626691"/>
            <a:ext cx="3857054" cy="383977"/>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513"/>
              </a:lnSpc>
              <a:buNone/>
              <a:defRPr sz="1220" b="0">
                <a:solidFill>
                  <a:srgbClr val="12263A"/>
                </a:solidFill>
                <a:latin typeface="Arial"/>
                <a:ea typeface="Arial"/>
                <a:cs typeface="Arial"/>
              </a:defRPr>
            </a:pPr>
            <a:r>
              <a:rPr sz="1220" b="0">
                <a:solidFill>
                  <a:srgbClr val="12263A"/>
                </a:solidFill>
                <a:latin typeface="Arial"/>
                <a:ea typeface="Arial"/>
                <a:cs typeface="Arial"/>
              </a:rPr>
              <a:t>Consult the README, proof status, and reports before citing a numerical result or research claim.</a:t>
            </a:r>
            <a:endParaRPr sz="1220"/>
          </a:p>
        </p:txBody>
      </p:sp>
      <p:sp>
        <p:nvSpPr>
          <p:cNvPr id="21" name="Text 19">
            <a:extLst xmlns:a="http://schemas.openxmlformats.org/drawingml/2006/main">
              <a:ext uri="{FF2B5EF4-FFF2-40B4-BE49-F238E27FC236}">
                <a16:creationId xmlns:a16="http://schemas.microsoft.com/office/drawing/2014/main" id="{F9FB549F-3550-41FC-B7A6-2E2591DFC3E9}"/>
              </a:ext>
            </a:extLst>
          </p:cNvPr>
          <p:cNvSpPr>
            <a:spLocks xmlns:a="http://schemas.openxmlformats.org/drawingml/2006/main" noGrp="1"/>
          </p:cNvSpPr>
          <p:nvPr/>
        </p:nvSpPr>
        <p:spPr>
          <a:xfrm xmlns:a="http://schemas.openxmlformats.org/drawingml/2006/main">
            <a:off x="8339328" y="4965192"/>
            <a:ext cx="502920"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60">
                <a:solidFill>
                  <a:srgbClr val="7A8794"/>
                </a:solidFill>
                <a:latin typeface="Arial"/>
                <a:ea typeface="Arial"/>
                <a:cs typeface="Arial"/>
              </a:rPr>
              <a:t>30 / 31</a:t>
            </a:r>
            <a:endParaRPr sz="660"/>
          </a:p>
        </p:txBody>
      </p:sp>
      <p:sp>
        <p:nvSpPr>
          <p:cNvPr id="22" name="Text 20">
            <a:hlinkClick xmlns:r="http://schemas.openxmlformats.org/officeDocument/2006/relationships" xmlns:a="http://schemas.openxmlformats.org/drawingml/2006/main" r:id="R440449f005674320"/>
            <a:extLst xmlns:a="http://schemas.openxmlformats.org/drawingml/2006/main">
              <a:ext uri="{FF2B5EF4-FFF2-40B4-BE49-F238E27FC236}">
                <a16:creationId xmlns:a16="http://schemas.microsoft.com/office/drawing/2014/main" id="{6C82107A-F832-4A98-BE81-709770A9DB60}"/>
              </a:ext>
            </a:extLst>
          </p:cNvPr>
          <p:cNvSpPr>
            <a:spLocks xmlns:a="http://schemas.openxmlformats.org/drawingml/2006/main" noGrp="1"/>
          </p:cNvSpPr>
          <p:nvPr/>
        </p:nvSpPr>
        <p:spPr>
          <a:xfrm xmlns:a="http://schemas.openxmlformats.org/drawingml/2006/main">
            <a:off x="603504" y="2212848"/>
            <a:ext cx="36118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950" b="1">
                <a:solidFill>
                  <a:srgbClr val="16344F"/>
                </a:solidFill>
                <a:latin typeface="Arial"/>
                <a:ea typeface="Arial"/>
                <a:cs typeface="Arial"/>
              </a:defRPr>
            </a:pPr>
            <a:r>
              <a:rPr sz="950" b="1" u="sng">
                <a:solidFill>
                  <a:srgbClr val="16344F"/>
                </a:solidFill>
                <a:latin typeface="Arial"/>
                <a:ea typeface="Arial"/>
                <a:cs typeface="Arial"/>
                <a:hlinkClick xmlns:r="http://schemas.openxmlformats.org/officeDocument/2006/relationships" r:id="R4160b004c0514c9b"/>
              </a:rPr>
              <a:t>Physics README</a:t>
            </a:r>
            <a:endParaRPr sz="950"/>
          </a:p>
        </p:txBody>
      </p:sp>
      <p:sp>
        <p:nvSpPr>
          <p:cNvPr id="23" name="Text 21">
            <a:hlinkClick xmlns:r="http://schemas.openxmlformats.org/officeDocument/2006/relationships" xmlns:a="http://schemas.openxmlformats.org/drawingml/2006/main" r:id="R3486d74b95dc41c3"/>
            <a:extLst xmlns:a="http://schemas.openxmlformats.org/drawingml/2006/main">
              <a:ext uri="{FF2B5EF4-FFF2-40B4-BE49-F238E27FC236}">
                <a16:creationId xmlns:a16="http://schemas.microsoft.com/office/drawing/2014/main" id="{9B5A0633-B707-4FA4-8389-91E61086F20E}"/>
              </a:ext>
            </a:extLst>
          </p:cNvPr>
          <p:cNvSpPr>
            <a:spLocks xmlns:a="http://schemas.openxmlformats.org/drawingml/2006/main" noGrp="1"/>
          </p:cNvSpPr>
          <p:nvPr/>
        </p:nvSpPr>
        <p:spPr>
          <a:xfrm xmlns:a="http://schemas.openxmlformats.org/drawingml/2006/main">
            <a:off x="603504" y="2386584"/>
            <a:ext cx="36118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680" b="0">
                <a:solidFill>
                  <a:srgbClr val="234D78"/>
                </a:solidFill>
                <a:latin typeface="Arial"/>
                <a:ea typeface="Arial"/>
                <a:cs typeface="Arial"/>
              </a:defRPr>
            </a:pPr>
            <a:r>
              <a:rPr sz="680" b="0" u="sng">
                <a:solidFill>
                  <a:srgbClr val="234D78"/>
                </a:solidFill>
                <a:latin typeface="Arial"/>
                <a:ea typeface="Arial"/>
                <a:cs typeface="Arial"/>
                <a:hlinkClick xmlns:r="http://schemas.openxmlformats.org/officeDocument/2006/relationships" r:id="Rf020ffb144f94083"/>
              </a:rPr>
              <a:t>physics_replay/README.md</a:t>
            </a:r>
            <a:endParaRPr sz="680"/>
          </a:p>
        </p:txBody>
      </p:sp>
      <p:sp>
        <p:nvSpPr>
          <p:cNvPr id="24" name="Text 22">
            <a:hlinkClick xmlns:r="http://schemas.openxmlformats.org/officeDocument/2006/relationships" xmlns:a="http://schemas.openxmlformats.org/drawingml/2006/main" r:id="R7c68cfee455d4a42"/>
            <a:extLst xmlns:a="http://schemas.openxmlformats.org/drawingml/2006/main">
              <a:ext uri="{FF2B5EF4-FFF2-40B4-BE49-F238E27FC236}">
                <a16:creationId xmlns:a16="http://schemas.microsoft.com/office/drawing/2014/main" id="{F7975792-78AF-4017-B03A-D64ADF174E3B}"/>
              </a:ext>
            </a:extLst>
          </p:cNvPr>
          <p:cNvSpPr>
            <a:spLocks xmlns:a="http://schemas.openxmlformats.org/drawingml/2006/main" noGrp="1"/>
          </p:cNvSpPr>
          <p:nvPr/>
        </p:nvSpPr>
        <p:spPr>
          <a:xfrm xmlns:a="http://schemas.openxmlformats.org/drawingml/2006/main">
            <a:off x="603504" y="2706624"/>
            <a:ext cx="36118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950" b="1">
                <a:solidFill>
                  <a:srgbClr val="16344F"/>
                </a:solidFill>
                <a:latin typeface="Arial"/>
                <a:ea typeface="Arial"/>
                <a:cs typeface="Arial"/>
              </a:defRPr>
            </a:pPr>
            <a:r>
              <a:rPr sz="950" b="1" u="sng">
                <a:solidFill>
                  <a:srgbClr val="16344F"/>
                </a:solidFill>
                <a:latin typeface="Arial"/>
                <a:ea typeface="Arial"/>
                <a:cs typeface="Arial"/>
                <a:hlinkClick xmlns:r="http://schemas.openxmlformats.org/officeDocument/2006/relationships" r:id="Rc2e5fc481dac49fa"/>
              </a:rPr>
              <a:t>Colab CPU notebook</a:t>
            </a:r>
            <a:endParaRPr sz="950"/>
          </a:p>
        </p:txBody>
      </p:sp>
      <p:sp>
        <p:nvSpPr>
          <p:cNvPr id="25" name="Text 23">
            <a:hlinkClick xmlns:r="http://schemas.openxmlformats.org/officeDocument/2006/relationships" xmlns:a="http://schemas.openxmlformats.org/drawingml/2006/main" r:id="R9664ca9bd26c4eff"/>
            <a:extLst xmlns:a="http://schemas.openxmlformats.org/drawingml/2006/main">
              <a:ext uri="{FF2B5EF4-FFF2-40B4-BE49-F238E27FC236}">
                <a16:creationId xmlns:a16="http://schemas.microsoft.com/office/drawing/2014/main" id="{C204ACA0-8189-4611-BFD4-86BED1232BA9}"/>
              </a:ext>
            </a:extLst>
          </p:cNvPr>
          <p:cNvSpPr>
            <a:spLocks xmlns:a="http://schemas.openxmlformats.org/drawingml/2006/main" noGrp="1"/>
          </p:cNvSpPr>
          <p:nvPr/>
        </p:nvSpPr>
        <p:spPr>
          <a:xfrm xmlns:a="http://schemas.openxmlformats.org/drawingml/2006/main">
            <a:off x="603504" y="2880360"/>
            <a:ext cx="36118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680" b="0">
                <a:solidFill>
                  <a:srgbClr val="234D78"/>
                </a:solidFill>
                <a:latin typeface="Arial"/>
                <a:ea typeface="Arial"/>
                <a:cs typeface="Arial"/>
              </a:defRPr>
            </a:pPr>
            <a:r>
              <a:rPr sz="680" b="0" u="sng">
                <a:solidFill>
                  <a:srgbClr val="234D78"/>
                </a:solidFill>
                <a:latin typeface="Arial"/>
                <a:ea typeface="Arial"/>
                <a:cs typeface="Arial"/>
                <a:hlinkClick xmlns:r="http://schemas.openxmlformats.org/officeDocument/2006/relationships" r:id="R37b6d5b46c5e457d"/>
              </a:rPr>
              <a:t>Open the public CPU notebook</a:t>
            </a:r>
            <a:endParaRPr sz="680"/>
          </a:p>
        </p:txBody>
      </p:sp>
      <p:sp>
        <p:nvSpPr>
          <p:cNvPr id="26" name="Text 24">
            <a:hlinkClick xmlns:r="http://schemas.openxmlformats.org/officeDocument/2006/relationships" xmlns:a="http://schemas.openxmlformats.org/drawingml/2006/main" r:id="Rfd925871e2b54565"/>
            <a:extLst xmlns:a="http://schemas.openxmlformats.org/drawingml/2006/main">
              <a:ext uri="{FF2B5EF4-FFF2-40B4-BE49-F238E27FC236}">
                <a16:creationId xmlns:a16="http://schemas.microsoft.com/office/drawing/2014/main" id="{D38568CF-03A2-4A76-8C38-C9E82D7D4951}"/>
              </a:ext>
            </a:extLst>
          </p:cNvPr>
          <p:cNvSpPr>
            <a:spLocks xmlns:a="http://schemas.openxmlformats.org/drawingml/2006/main" noGrp="1"/>
          </p:cNvSpPr>
          <p:nvPr/>
        </p:nvSpPr>
        <p:spPr>
          <a:xfrm xmlns:a="http://schemas.openxmlformats.org/drawingml/2006/main">
            <a:off x="603504" y="3200400"/>
            <a:ext cx="36118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950" b="1">
                <a:solidFill>
                  <a:srgbClr val="16344F"/>
                </a:solidFill>
                <a:latin typeface="Arial"/>
                <a:ea typeface="Arial"/>
                <a:cs typeface="Arial"/>
              </a:defRPr>
            </a:pPr>
            <a:r>
              <a:rPr sz="950" b="1" u="sng">
                <a:solidFill>
                  <a:srgbClr val="16344F"/>
                </a:solidFill>
                <a:latin typeface="Arial"/>
                <a:ea typeface="Arial"/>
                <a:cs typeface="Arial"/>
                <a:hlinkClick xmlns:r="http://schemas.openxmlformats.org/officeDocument/2006/relationships" r:id="R0564eb96b331454d"/>
              </a:rPr>
              <a:t>Held-out results</a:t>
            </a:r>
            <a:endParaRPr sz="950"/>
          </a:p>
        </p:txBody>
      </p:sp>
      <p:sp>
        <p:nvSpPr>
          <p:cNvPr id="27" name="Text 25">
            <a:hlinkClick xmlns:r="http://schemas.openxmlformats.org/officeDocument/2006/relationships" xmlns:a="http://schemas.openxmlformats.org/drawingml/2006/main" r:id="R320466af341c467b"/>
            <a:extLst xmlns:a="http://schemas.openxmlformats.org/drawingml/2006/main">
              <a:ext uri="{FF2B5EF4-FFF2-40B4-BE49-F238E27FC236}">
                <a16:creationId xmlns:a16="http://schemas.microsoft.com/office/drawing/2014/main" id="{C04A525E-438A-4AC8-8AD6-BD2BC165965A}"/>
              </a:ext>
            </a:extLst>
          </p:cNvPr>
          <p:cNvSpPr>
            <a:spLocks xmlns:a="http://schemas.openxmlformats.org/drawingml/2006/main" noGrp="1"/>
          </p:cNvSpPr>
          <p:nvPr/>
        </p:nvSpPr>
        <p:spPr>
          <a:xfrm xmlns:a="http://schemas.openxmlformats.org/drawingml/2006/main">
            <a:off x="603504" y="3374136"/>
            <a:ext cx="36118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680" b="0">
                <a:solidFill>
                  <a:srgbClr val="234D78"/>
                </a:solidFill>
                <a:latin typeface="Arial"/>
                <a:ea typeface="Arial"/>
                <a:cs typeface="Arial"/>
              </a:defRPr>
            </a:pPr>
            <a:r>
              <a:rPr sz="680" b="0" u="sng">
                <a:solidFill>
                  <a:srgbClr val="234D78"/>
                </a:solidFill>
                <a:latin typeface="Arial"/>
                <a:ea typeface="Arial"/>
                <a:cs typeface="Arial"/>
                <a:hlinkClick xmlns:r="http://schemas.openxmlformats.org/officeDocument/2006/relationships" r:id="R80b99e6885464d91"/>
              </a:rPr>
              <a:t>results/bench-heldout-seed7-n100</a:t>
            </a:r>
            <a:endParaRPr sz="680"/>
          </a:p>
        </p:txBody>
      </p:sp>
      <p:sp>
        <p:nvSpPr>
          <p:cNvPr id="28" name="Text 26">
            <a:hlinkClick xmlns:r="http://schemas.openxmlformats.org/officeDocument/2006/relationships" xmlns:a="http://schemas.openxmlformats.org/drawingml/2006/main" r:id="R5a3c6adb3e1e4802"/>
            <a:extLst xmlns:a="http://schemas.openxmlformats.org/drawingml/2006/main">
              <a:ext uri="{FF2B5EF4-FFF2-40B4-BE49-F238E27FC236}">
                <a16:creationId xmlns:a16="http://schemas.microsoft.com/office/drawing/2014/main" id="{F4618E85-8BE8-472B-9DAA-6732DAA2E327}"/>
              </a:ext>
            </a:extLst>
          </p:cNvPr>
          <p:cNvSpPr>
            <a:spLocks xmlns:a="http://schemas.openxmlformats.org/drawingml/2006/main" noGrp="1"/>
          </p:cNvSpPr>
          <p:nvPr/>
        </p:nvSpPr>
        <p:spPr>
          <a:xfrm xmlns:a="http://schemas.openxmlformats.org/drawingml/2006/main">
            <a:off x="603504" y="3694176"/>
            <a:ext cx="36118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950" b="1">
                <a:solidFill>
                  <a:srgbClr val="16344F"/>
                </a:solidFill>
                <a:latin typeface="Arial"/>
                <a:ea typeface="Arial"/>
                <a:cs typeface="Arial"/>
              </a:defRPr>
            </a:pPr>
            <a:r>
              <a:rPr sz="950" b="1" u="sng">
                <a:solidFill>
                  <a:srgbClr val="16344F"/>
                </a:solidFill>
                <a:latin typeface="Arial"/>
                <a:ea typeface="Arial"/>
                <a:cs typeface="Arial"/>
                <a:hlinkClick xmlns:r="http://schemas.openxmlformats.org/officeDocument/2006/relationships" r:id="R464d20d7a97e4576"/>
              </a:rPr>
              <a:t>Example episode</a:t>
            </a:r>
            <a:endParaRPr sz="950"/>
          </a:p>
        </p:txBody>
      </p:sp>
      <p:sp>
        <p:nvSpPr>
          <p:cNvPr id="29" name="Text 27">
            <a:hlinkClick xmlns:r="http://schemas.openxmlformats.org/officeDocument/2006/relationships" xmlns:a="http://schemas.openxmlformats.org/drawingml/2006/main" r:id="Refcffaa1a2154f3e"/>
            <a:extLst xmlns:a="http://schemas.openxmlformats.org/drawingml/2006/main">
              <a:ext uri="{FF2B5EF4-FFF2-40B4-BE49-F238E27FC236}">
                <a16:creationId xmlns:a16="http://schemas.microsoft.com/office/drawing/2014/main" id="{4467D5C3-99ED-4683-B42F-5C305B769D72}"/>
              </a:ext>
            </a:extLst>
          </p:cNvPr>
          <p:cNvSpPr>
            <a:spLocks xmlns:a="http://schemas.openxmlformats.org/drawingml/2006/main" noGrp="1"/>
          </p:cNvSpPr>
          <p:nvPr/>
        </p:nvSpPr>
        <p:spPr>
          <a:xfrm xmlns:a="http://schemas.openxmlformats.org/drawingml/2006/main">
            <a:off x="603504" y="3867912"/>
            <a:ext cx="36118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680" b="0">
                <a:solidFill>
                  <a:srgbClr val="234D78"/>
                </a:solidFill>
                <a:latin typeface="Arial"/>
                <a:ea typeface="Arial"/>
                <a:cs typeface="Arial"/>
              </a:defRPr>
            </a:pPr>
            <a:r>
              <a:rPr sz="680" b="0" u="sng">
                <a:solidFill>
                  <a:srgbClr val="234D78"/>
                </a:solidFill>
                <a:latin typeface="Arial"/>
                <a:ea typeface="Arial"/>
                <a:cs typeface="Arial"/>
                <a:hlinkClick xmlns:r="http://schemas.openxmlformats.org/officeDocument/2006/relationships" r:id="R506135fb17e54006"/>
              </a:rPr>
              <a:t>panda_pick_place_10hz.json</a:t>
            </a:r>
            <a:endParaRPr sz="680"/>
          </a:p>
        </p:txBody>
      </p:sp>
      <p:sp>
        <p:nvSpPr>
          <p:cNvPr id="30" name="Text 28">
            <a:hlinkClick xmlns:r="http://schemas.openxmlformats.org/officeDocument/2006/relationships" xmlns:a="http://schemas.openxmlformats.org/drawingml/2006/main" r:id="Rec13a06e0972415a"/>
            <a:extLst xmlns:a="http://schemas.openxmlformats.org/drawingml/2006/main">
              <a:ext uri="{FF2B5EF4-FFF2-40B4-BE49-F238E27FC236}">
                <a16:creationId xmlns:a16="http://schemas.microsoft.com/office/drawing/2014/main" id="{6E256E03-E947-4DED-8559-0F4B0D84FE22}"/>
              </a:ext>
            </a:extLst>
          </p:cNvPr>
          <p:cNvSpPr>
            <a:spLocks xmlns:a="http://schemas.openxmlformats.org/drawingml/2006/main" noGrp="1"/>
          </p:cNvSpPr>
          <p:nvPr/>
        </p:nvSpPr>
        <p:spPr>
          <a:xfrm xmlns:a="http://schemas.openxmlformats.org/drawingml/2006/main">
            <a:off x="4718304" y="2212848"/>
            <a:ext cx="36118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950" b="1">
                <a:solidFill>
                  <a:srgbClr val="16344F"/>
                </a:solidFill>
                <a:latin typeface="Arial"/>
                <a:ea typeface="Arial"/>
                <a:cs typeface="Arial"/>
              </a:defRPr>
            </a:pPr>
            <a:r>
              <a:rPr sz="950" b="1" u="sng">
                <a:solidFill>
                  <a:srgbClr val="16344F"/>
                </a:solidFill>
                <a:latin typeface="Arial"/>
                <a:ea typeface="Arial"/>
                <a:cs typeface="Arial"/>
                <a:hlinkClick xmlns:r="http://schemas.openxmlformats.org/officeDocument/2006/relationships" r:id="Re29d463f514c4bb1"/>
              </a:rPr>
              <a:t>Reader guide and sources</a:t>
            </a:r>
            <a:endParaRPr sz="950"/>
          </a:p>
        </p:txBody>
      </p:sp>
      <p:sp>
        <p:nvSpPr>
          <p:cNvPr id="31" name="Text 29">
            <a:hlinkClick xmlns:r="http://schemas.openxmlformats.org/officeDocument/2006/relationships" xmlns:a="http://schemas.openxmlformats.org/drawingml/2006/main" r:id="R2bbb665947624619"/>
            <a:extLst xmlns:a="http://schemas.openxmlformats.org/drawingml/2006/main">
              <a:ext uri="{FF2B5EF4-FFF2-40B4-BE49-F238E27FC236}">
                <a16:creationId xmlns:a16="http://schemas.microsoft.com/office/drawing/2014/main" id="{8A13F4F2-FBEA-4508-BD45-60AA255B3032}"/>
              </a:ext>
            </a:extLst>
          </p:cNvPr>
          <p:cNvSpPr>
            <a:spLocks xmlns:a="http://schemas.openxmlformats.org/drawingml/2006/main" noGrp="1"/>
          </p:cNvSpPr>
          <p:nvPr/>
        </p:nvSpPr>
        <p:spPr>
          <a:xfrm xmlns:a="http://schemas.openxmlformats.org/drawingml/2006/main">
            <a:off x="4718304" y="2386584"/>
            <a:ext cx="36118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680" b="0">
                <a:solidFill>
                  <a:srgbClr val="234D78"/>
                </a:solidFill>
                <a:latin typeface="Arial"/>
                <a:ea typeface="Arial"/>
                <a:cs typeface="Arial"/>
              </a:defRPr>
            </a:pPr>
            <a:r>
              <a:rPr sz="680" b="0" u="sng">
                <a:solidFill>
                  <a:srgbClr val="234D78"/>
                </a:solidFill>
                <a:latin typeface="Arial"/>
                <a:ea typeface="Arial"/>
                <a:cs typeface="Arial"/>
                <a:hlinkClick xmlns:r="http://schemas.openxmlformats.org/officeDocument/2006/relationships" r:id="R53d8d7397db745fa"/>
              </a:rPr>
              <a:t>docs/reader-guide.md</a:t>
            </a:r>
            <a:endParaRPr sz="680"/>
          </a:p>
        </p:txBody>
      </p:sp>
      <p:sp>
        <p:nvSpPr>
          <p:cNvPr id="32" name="Text 30">
            <a:hlinkClick xmlns:r="http://schemas.openxmlformats.org/officeDocument/2006/relationships" xmlns:a="http://schemas.openxmlformats.org/drawingml/2006/main" r:id="R5ec0f5da2feb4680"/>
            <a:extLst xmlns:a="http://schemas.openxmlformats.org/drawingml/2006/main">
              <a:ext uri="{FF2B5EF4-FFF2-40B4-BE49-F238E27FC236}">
                <a16:creationId xmlns:a16="http://schemas.microsoft.com/office/drawing/2014/main" id="{E5D30FEC-0618-482C-B376-C44A58B76B5C}"/>
              </a:ext>
            </a:extLst>
          </p:cNvPr>
          <p:cNvSpPr>
            <a:spLocks xmlns:a="http://schemas.openxmlformats.org/drawingml/2006/main" noGrp="1"/>
          </p:cNvSpPr>
          <p:nvPr/>
        </p:nvSpPr>
        <p:spPr>
          <a:xfrm xmlns:a="http://schemas.openxmlformats.org/drawingml/2006/main">
            <a:off x="4718304" y="2706624"/>
            <a:ext cx="36118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950" b="1">
                <a:solidFill>
                  <a:srgbClr val="16344F"/>
                </a:solidFill>
                <a:latin typeface="Arial"/>
                <a:ea typeface="Arial"/>
                <a:cs typeface="Arial"/>
              </a:defRPr>
            </a:pPr>
            <a:r>
              <a:rPr sz="950" b="1" u="sng">
                <a:solidFill>
                  <a:srgbClr val="16344F"/>
                </a:solidFill>
                <a:latin typeface="Arial"/>
                <a:ea typeface="Arial"/>
                <a:cs typeface="Arial"/>
                <a:hlinkClick xmlns:r="http://schemas.openxmlformats.org/officeDocument/2006/relationships" r:id="Rced5d38c6cd848f0"/>
              </a:rPr>
              <a:t>Marker / correction</a:t>
            </a:r>
            <a:endParaRPr sz="950"/>
          </a:p>
        </p:txBody>
      </p:sp>
      <p:sp>
        <p:nvSpPr>
          <p:cNvPr id="33" name="Text 31">
            <a:hlinkClick xmlns:r="http://schemas.openxmlformats.org/officeDocument/2006/relationships" xmlns:a="http://schemas.openxmlformats.org/drawingml/2006/main" r:id="R4ffadf54bbc84117"/>
            <a:extLst xmlns:a="http://schemas.openxmlformats.org/drawingml/2006/main">
              <a:ext uri="{FF2B5EF4-FFF2-40B4-BE49-F238E27FC236}">
                <a16:creationId xmlns:a16="http://schemas.microsoft.com/office/drawing/2014/main" id="{9FEB090D-93D8-48A2-BCC0-C0CE0996F287}"/>
              </a:ext>
            </a:extLst>
          </p:cNvPr>
          <p:cNvSpPr>
            <a:spLocks xmlns:a="http://schemas.openxmlformats.org/drawingml/2006/main" noGrp="1"/>
          </p:cNvSpPr>
          <p:nvPr/>
        </p:nvSpPr>
        <p:spPr>
          <a:xfrm xmlns:a="http://schemas.openxmlformats.org/drawingml/2006/main">
            <a:off x="4718304" y="2880360"/>
            <a:ext cx="36118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680" b="0">
                <a:solidFill>
                  <a:srgbClr val="234D78"/>
                </a:solidFill>
                <a:latin typeface="Arial"/>
                <a:ea typeface="Arial"/>
                <a:cs typeface="Arial"/>
              </a:defRPr>
            </a:pPr>
            <a:r>
              <a:rPr sz="680" b="0" u="sng">
                <a:solidFill>
                  <a:srgbClr val="234D78"/>
                </a:solidFill>
                <a:latin typeface="Arial"/>
                <a:ea typeface="Arial"/>
                <a:cs typeface="Arial"/>
                <a:hlinkClick xmlns:r="http://schemas.openxmlformats.org/officeDocument/2006/relationships" r:id="R55f158d70da645fb"/>
              </a:rPr>
              <a:t>docs/marker-prototype.md</a:t>
            </a:r>
            <a:endParaRPr sz="680"/>
          </a:p>
        </p:txBody>
      </p:sp>
      <p:sp>
        <p:nvSpPr>
          <p:cNvPr id="34" name="Text 32">
            <a:hlinkClick xmlns:r="http://schemas.openxmlformats.org/officeDocument/2006/relationships" xmlns:a="http://schemas.openxmlformats.org/drawingml/2006/main" r:id="R416904a45b4a47ae"/>
            <a:extLst xmlns:a="http://schemas.openxmlformats.org/drawingml/2006/main">
              <a:ext uri="{FF2B5EF4-FFF2-40B4-BE49-F238E27FC236}">
                <a16:creationId xmlns:a16="http://schemas.microsoft.com/office/drawing/2014/main" id="{2F8CDE1C-B08C-4F00-86A8-F6FA5D5C3A46}"/>
              </a:ext>
            </a:extLst>
          </p:cNvPr>
          <p:cNvSpPr>
            <a:spLocks xmlns:a="http://schemas.openxmlformats.org/drawingml/2006/main" noGrp="1"/>
          </p:cNvSpPr>
          <p:nvPr/>
        </p:nvSpPr>
        <p:spPr>
          <a:xfrm xmlns:a="http://schemas.openxmlformats.org/drawingml/2006/main">
            <a:off x="4718304" y="3200400"/>
            <a:ext cx="36118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950" b="1">
                <a:solidFill>
                  <a:srgbClr val="16344F"/>
                </a:solidFill>
                <a:latin typeface="Arial"/>
                <a:ea typeface="Arial"/>
                <a:cs typeface="Arial"/>
              </a:defRPr>
            </a:pPr>
            <a:r>
              <a:rPr sz="950" b="1" u="sng">
                <a:solidFill>
                  <a:srgbClr val="16344F"/>
                </a:solidFill>
                <a:latin typeface="Arial"/>
                <a:ea typeface="Arial"/>
                <a:cs typeface="Arial"/>
                <a:hlinkClick xmlns:r="http://schemas.openxmlformats.org/officeDocument/2006/relationships" r:id="R74792f32c4c946bc"/>
              </a:rPr>
              <a:t>Reading guide</a:t>
            </a:r>
            <a:endParaRPr sz="950"/>
          </a:p>
        </p:txBody>
      </p:sp>
      <p:sp>
        <p:nvSpPr>
          <p:cNvPr id="35" name="Text 33">
            <a:hlinkClick xmlns:r="http://schemas.openxmlformats.org/officeDocument/2006/relationships" xmlns:a="http://schemas.openxmlformats.org/drawingml/2006/main" r:id="Rbc210dab9ca94ed1"/>
            <a:extLst xmlns:a="http://schemas.openxmlformats.org/drawingml/2006/main">
              <a:ext uri="{FF2B5EF4-FFF2-40B4-BE49-F238E27FC236}">
                <a16:creationId xmlns:a16="http://schemas.microsoft.com/office/drawing/2014/main" id="{80EA9BD4-0098-4F80-A4A5-A28712A77C47}"/>
              </a:ext>
            </a:extLst>
          </p:cNvPr>
          <p:cNvSpPr>
            <a:spLocks xmlns:a="http://schemas.openxmlformats.org/drawingml/2006/main" noGrp="1"/>
          </p:cNvSpPr>
          <p:nvPr/>
        </p:nvSpPr>
        <p:spPr>
          <a:xfrm xmlns:a="http://schemas.openxmlformats.org/drawingml/2006/main">
            <a:off x="4718304" y="3374136"/>
            <a:ext cx="36118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680" b="0">
                <a:solidFill>
                  <a:srgbClr val="234D78"/>
                </a:solidFill>
                <a:latin typeface="Arial"/>
                <a:ea typeface="Arial"/>
                <a:cs typeface="Arial"/>
              </a:defRPr>
            </a:pPr>
            <a:r>
              <a:rPr sz="680" b="0" u="sng">
                <a:solidFill>
                  <a:srgbClr val="234D78"/>
                </a:solidFill>
                <a:latin typeface="Arial"/>
                <a:ea typeface="Arial"/>
                <a:cs typeface="Arial"/>
                <a:hlinkClick xmlns:r="http://schemas.openxmlformats.org/officeDocument/2006/relationships" r:id="Rcd41cdaa0c1b44bb"/>
              </a:rPr>
              <a:t>docs/reading-guide.md</a:t>
            </a:r>
            <a:endParaRPr sz="680"/>
          </a:p>
        </p:txBody>
      </p:sp>
      <p:sp>
        <p:nvSpPr>
          <p:cNvPr id="36" name="Sources footer">
            <a:extLst xmlns:a="http://schemas.openxmlformats.org/drawingml/2006/main">
              <a:ext uri="{FF2B5EF4-FFF2-40B4-BE49-F238E27FC236}">
                <a16:creationId xmlns:a16="http://schemas.microsoft.com/office/drawing/2014/main" id="{38FEB92C-E480-4D6D-BDA8-750AF571CF38}"/>
              </a:ext>
            </a:extLst>
          </p:cNvPr>
          <p:cNvSpPr>
            <a:spLocks xmlns:a="http://schemas.openxmlformats.org/drawingml/2006/main" noGrp="1"/>
          </p:cNvSpPr>
          <p:nvPr/>
        </p:nvSpPr>
        <p:spPr>
          <a:xfrm xmlns:a="http://schemas.openxmlformats.org/drawingml/2006/main">
            <a:off x="438150" y="4924425"/>
            <a:ext cx="72961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40" b="0">
                <a:solidFill>
                  <a:srgbClr val="234D78"/>
                </a:solidFill>
                <a:latin typeface="Arial"/>
                <a:ea typeface="Arial"/>
                <a:cs typeface="Arial"/>
              </a:defRPr>
            </a:pPr>
            <a:r>
              <a:rPr sz="640" b="0">
                <a:solidFill>
                  <a:srgbClr val="234D78"/>
                </a:solidFill>
                <a:latin typeface="Arial"/>
                <a:ea typeface="Arial"/>
                <a:cs typeface="Arial"/>
                <a:hlinkClick xmlns:r="http://schemas.openxmlformats.org/officeDocument/2006/relationships" r:id="R7e803ff9d0214d3e"/>
              </a:rPr>
              <a:t>Reader guide and sources</a:t>
            </a:r>
          </a:p>
        </p:txBody>
      </p:sp>
    </p:spTree>
    <p:extLst>
      <p:ext uri="{BB962C8B-B14F-4D97-AF65-F5344CB8AC3E}">
        <p14:creationId xmlns:p14="http://schemas.microsoft.com/office/powerpoint/2010/main" val="138282955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94614AB-997A-465C-AC97-D586D92EEABD}"/>
              </a:ext>
            </a:extLst>
          </p:cNvPr>
          <p:cNvSpPr>
            <a:spLocks xmlns:a="http://schemas.openxmlformats.org/drawingml/2006/main" noGrp="1"/>
          </p:cNvSpPr>
          <p:nvPr/>
        </p:nvSpPr>
        <p:spPr>
          <a:xfrm xmlns:a="http://schemas.openxmlformats.org/drawingml/2006/main">
            <a:off x="0" y="0"/>
            <a:ext cx="9144000" cy="609600"/>
          </a:xfrm>
          <a:prstGeom xmlns:a="http://schemas.openxmlformats.org/drawingml/2006/main" prst="rect">
            <a:avLst/>
          </a:prstGeom>
          <a:solidFill xmlns:a="http://schemas.openxmlformats.org/drawingml/2006/main">
            <a:srgbClr val="234D7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3" name="Text 1">
            <a:extLst xmlns:a="http://schemas.openxmlformats.org/drawingml/2006/main">
              <a:ext uri="{FF2B5EF4-FFF2-40B4-BE49-F238E27FC236}">
                <a16:creationId xmlns:a16="http://schemas.microsoft.com/office/drawing/2014/main" id="{F0A9226C-96BB-46D0-8944-648ADA555A69}"/>
              </a:ext>
            </a:extLst>
          </p:cNvPr>
          <p:cNvSpPr>
            <a:spLocks xmlns:a="http://schemas.openxmlformats.org/drawingml/2006/main" noGrp="1"/>
          </p:cNvSpPr>
          <p:nvPr/>
        </p:nvSpPr>
        <p:spPr>
          <a:xfrm xmlns:a="http://schemas.openxmlformats.org/drawingml/2006/main">
            <a:off x="330136" y="164116"/>
            <a:ext cx="6619875" cy="3238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2415"/>
              </a:lnSpc>
              <a:buNone/>
              <a:defRPr sz="2300" b="1">
                <a:solidFill>
                  <a:srgbClr val="FFFFFF"/>
                </a:solidFill>
                <a:latin typeface="Arial"/>
                <a:ea typeface="Arial"/>
                <a:cs typeface="Arial"/>
              </a:defRPr>
            </a:pPr>
            <a:r>
              <a:rPr sz="2300" b="1">
                <a:solidFill>
                  <a:srgbClr val="FFFFFF"/>
                </a:solidFill>
                <a:latin typeface="Arial"/>
                <a:ea typeface="Arial"/>
                <a:cs typeface="Arial"/>
              </a:rPr>
              <a:t>Resources: primary papers</a:t>
            </a:r>
            <a:endParaRPr sz="2300"/>
          </a:p>
        </p:txBody>
      </p:sp>
      <p:sp>
        <p:nvSpPr>
          <p:cNvPr id="4" name="Text 2">
            <a:extLst xmlns:a="http://schemas.openxmlformats.org/drawingml/2006/main">
              <a:ext uri="{FF2B5EF4-FFF2-40B4-BE49-F238E27FC236}">
                <a16:creationId xmlns:a16="http://schemas.microsoft.com/office/drawing/2014/main" id="{96FAC9F5-761C-4F63-8603-89ECC7164663}"/>
              </a:ext>
            </a:extLst>
          </p:cNvPr>
          <p:cNvSpPr>
            <a:spLocks xmlns:a="http://schemas.openxmlformats.org/drawingml/2006/main" noGrp="1"/>
          </p:cNvSpPr>
          <p:nvPr/>
        </p:nvSpPr>
        <p:spPr>
          <a:xfrm xmlns:a="http://schemas.openxmlformats.org/drawingml/2006/main">
            <a:off x="7372350" y="190500"/>
            <a:ext cx="14478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r">
              <a:lnSpc>
                <a:spcPts val="1054"/>
              </a:lnSpc>
              <a:buNone/>
              <a:defRPr sz="788" b="1">
                <a:solidFill>
                  <a:srgbClr val="FFFFFF"/>
                </a:solidFill>
                <a:latin typeface="Arial"/>
                <a:ea typeface="Arial"/>
                <a:cs typeface="Arial"/>
              </a:defRPr>
            </a:pPr>
            <a:r>
              <a:rPr sz="788" b="1">
                <a:solidFill>
                  <a:srgbClr val="FFFFFF"/>
                </a:solidFill>
                <a:latin typeface="Arial"/>
                <a:ea typeface="Arial"/>
                <a:cs typeface="Arial"/>
              </a:rPr>
              <a:t>CS CAPSTONE REFERENCE</a:t>
            </a:r>
            <a:endParaRPr sz="850"/>
          </a:p>
        </p:txBody>
      </p:sp>
      <p:sp>
        <p:nvSpPr>
          <p:cNvPr id="5" name="Text 3">
            <a:extLst xmlns:a="http://schemas.openxmlformats.org/drawingml/2006/main">
              <a:ext uri="{FF2B5EF4-FFF2-40B4-BE49-F238E27FC236}">
                <a16:creationId xmlns:a16="http://schemas.microsoft.com/office/drawing/2014/main" id="{323A3DFA-7DBE-4E6C-88F8-13B85A46D68E}"/>
              </a:ext>
            </a:extLst>
          </p:cNvPr>
          <p:cNvSpPr>
            <a:spLocks xmlns:a="http://schemas.openxmlformats.org/drawingml/2006/main" noGrp="1"/>
          </p:cNvSpPr>
          <p:nvPr/>
        </p:nvSpPr>
        <p:spPr>
          <a:xfrm xmlns:a="http://schemas.openxmlformats.org/drawingml/2006/main">
            <a:off x="330101" y="609600"/>
            <a:ext cx="787301" cy="38100"/>
          </a:xfrm>
          <a:prstGeom xmlns:a="http://schemas.openxmlformats.org/drawingml/2006/main" prst="rect">
            <a:avLst/>
          </a:prstGeom>
          <a:solidFill xmlns:a="http://schemas.openxmlformats.org/drawingml/2006/main">
            <a:srgbClr val="D63B4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6" name="Text 4">
            <a:extLst xmlns:a="http://schemas.openxmlformats.org/drawingml/2006/main">
              <a:ext uri="{FF2B5EF4-FFF2-40B4-BE49-F238E27FC236}">
                <a16:creationId xmlns:a16="http://schemas.microsoft.com/office/drawing/2014/main" id="{1CEA036C-B8F2-4B7F-A31C-7B7A84787C52}"/>
              </a:ext>
            </a:extLst>
          </p:cNvPr>
          <p:cNvSpPr>
            <a:spLocks xmlns:a="http://schemas.openxmlformats.org/drawingml/2006/main" noGrp="1"/>
          </p:cNvSpPr>
          <p:nvPr/>
        </p:nvSpPr>
        <p:spPr>
          <a:xfrm xmlns:a="http://schemas.openxmlformats.org/drawingml/2006/main">
            <a:off x="342900" y="850850"/>
            <a:ext cx="8627364" cy="18097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426"/>
              </a:lnSpc>
              <a:buNone/>
              <a:defRPr sz="1150" b="0">
                <a:solidFill>
                  <a:srgbClr val="617286"/>
                </a:solidFill>
                <a:latin typeface="Arial"/>
                <a:ea typeface="Arial"/>
                <a:cs typeface="Arial"/>
              </a:defRPr>
            </a:pPr>
            <a:r>
              <a:rPr sz="1150" b="0">
                <a:solidFill>
                  <a:srgbClr val="617286"/>
                </a:solidFill>
                <a:latin typeface="Arial"/>
                <a:ea typeface="Arial"/>
                <a:cs typeface="Arial"/>
              </a:rPr>
              <a:t>Read the relevant versions, experiments, appendices, and code. Novelty remains conditional on source coverage.</a:t>
            </a:r>
            <a:endParaRPr sz="1150"/>
          </a:p>
        </p:txBody>
      </p:sp>
      <p:sp>
        <p:nvSpPr>
          <p:cNvPr id="7" name="Text 5">
            <a:extLst xmlns:a="http://schemas.openxmlformats.org/drawingml/2006/main">
              <a:ext uri="{FF2B5EF4-FFF2-40B4-BE49-F238E27FC236}">
                <a16:creationId xmlns:a16="http://schemas.microsoft.com/office/drawing/2014/main" id="{179F4EDA-B743-4477-912E-A640D02D24A6}"/>
              </a:ext>
            </a:extLst>
          </p:cNvPr>
          <p:cNvSpPr>
            <a:spLocks xmlns:a="http://schemas.openxmlformats.org/drawingml/2006/main" noGrp="1"/>
          </p:cNvSpPr>
          <p:nvPr/>
        </p:nvSpPr>
        <p:spPr>
          <a:xfrm xmlns:a="http://schemas.openxmlformats.org/drawingml/2006/main">
            <a:off x="342900" y="1196876"/>
            <a:ext cx="4152900" cy="3464123"/>
          </a:xfrm>
          <a:prstGeom xmlns:a="http://schemas.openxmlformats.org/drawingml/2006/main" prst="roundRect">
            <a:avLst>
              <a:gd name="adj" fmla="val 2933"/>
            </a:avLst>
          </a:prstGeom>
          <a:solidFill xmlns:a="http://schemas.openxmlformats.org/drawingml/2006/main">
            <a:srgbClr val="EEF4FA"/>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8" name="Shape 6">
            <a:extLst xmlns:a="http://schemas.openxmlformats.org/drawingml/2006/main">
              <a:ext uri="{FF2B5EF4-FFF2-40B4-BE49-F238E27FC236}">
                <a16:creationId xmlns:a16="http://schemas.microsoft.com/office/drawing/2014/main" id="{7910D768-3C75-410D-B340-CE30F50D137C}"/>
              </a:ext>
            </a:extLst>
          </p:cNvPr>
          <p:cNvSpPr>
            <a:spLocks xmlns:a="http://schemas.openxmlformats.org/drawingml/2006/main" noGrp="1"/>
          </p:cNvSpPr>
          <p:nvPr/>
        </p:nvSpPr>
        <p:spPr>
          <a:xfrm xmlns:a="http://schemas.openxmlformats.org/drawingml/2006/main">
            <a:off x="342900" y="1201638"/>
            <a:ext cx="4152900"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9" name="Shape 7">
            <a:extLst xmlns:a="http://schemas.openxmlformats.org/drawingml/2006/main">
              <a:ext uri="{FF2B5EF4-FFF2-40B4-BE49-F238E27FC236}">
                <a16:creationId xmlns:a16="http://schemas.microsoft.com/office/drawing/2014/main" id="{5FDCB9B7-1856-4BC4-9F32-08E1026A7A2C}"/>
              </a:ext>
            </a:extLst>
          </p:cNvPr>
          <p:cNvSpPr>
            <a:spLocks xmlns:a="http://schemas.openxmlformats.org/drawingml/2006/main" noGrp="1"/>
          </p:cNvSpPr>
          <p:nvPr/>
        </p:nvSpPr>
        <p:spPr>
          <a:xfrm xmlns:a="http://schemas.openxmlformats.org/drawingml/2006/main">
            <a:off x="4491038" y="1196876"/>
            <a:ext cx="0" cy="3464123"/>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0" name="Shape 8">
            <a:extLst xmlns:a="http://schemas.openxmlformats.org/drawingml/2006/main">
              <a:ext uri="{FF2B5EF4-FFF2-40B4-BE49-F238E27FC236}">
                <a16:creationId xmlns:a16="http://schemas.microsoft.com/office/drawing/2014/main" id="{AD5703AC-A31C-4C4C-A995-513A418413CA}"/>
              </a:ext>
            </a:extLst>
          </p:cNvPr>
          <p:cNvSpPr>
            <a:spLocks xmlns:a="http://schemas.openxmlformats.org/drawingml/2006/main" noGrp="1"/>
          </p:cNvSpPr>
          <p:nvPr/>
        </p:nvSpPr>
        <p:spPr>
          <a:xfrm xmlns:a="http://schemas.openxmlformats.org/drawingml/2006/main">
            <a:off x="342900" y="4656237"/>
            <a:ext cx="4152900"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1" name="Shape 9">
            <a:extLst xmlns:a="http://schemas.openxmlformats.org/drawingml/2006/main">
              <a:ext uri="{FF2B5EF4-FFF2-40B4-BE49-F238E27FC236}">
                <a16:creationId xmlns:a16="http://schemas.microsoft.com/office/drawing/2014/main" id="{87EC7E59-16F6-4F1E-B8BF-B59D4C470299}"/>
              </a:ext>
            </a:extLst>
          </p:cNvPr>
          <p:cNvSpPr>
            <a:spLocks xmlns:a="http://schemas.openxmlformats.org/drawingml/2006/main" noGrp="1"/>
          </p:cNvSpPr>
          <p:nvPr/>
        </p:nvSpPr>
        <p:spPr>
          <a:xfrm xmlns:a="http://schemas.openxmlformats.org/drawingml/2006/main">
            <a:off x="371475" y="1196876"/>
            <a:ext cx="0" cy="3464123"/>
          </a:xfrm>
          <a:prstGeom xmlns:a="http://schemas.openxmlformats.org/drawingml/2006/main" prst="line">
            <a:avLst/>
          </a:prstGeom>
          <a:noFill xmlns:a="http://schemas.openxmlformats.org/drawingml/2006/main"/>
          <a:ln xmlns:a="http://schemas.openxmlformats.org/drawingml/2006/main" w="57150">
            <a:solidFill>
              <a:srgbClr val="234D78"/>
            </a:solidFill>
            <a:prstDash val="solid"/>
          </a:ln>
        </p:spPr>
      </p:sp>
      <p:sp>
        <p:nvSpPr>
          <p:cNvPr id="12" name="Text 10">
            <a:extLst xmlns:a="http://schemas.openxmlformats.org/drawingml/2006/main">
              <a:ext uri="{FF2B5EF4-FFF2-40B4-BE49-F238E27FC236}">
                <a16:creationId xmlns:a16="http://schemas.microsoft.com/office/drawing/2014/main" id="{28DDFF9D-7208-4230-812A-591B86E4F47A}"/>
              </a:ext>
            </a:extLst>
          </p:cNvPr>
          <p:cNvSpPr>
            <a:spLocks xmlns:a="http://schemas.openxmlformats.org/drawingml/2006/main" noGrp="1"/>
          </p:cNvSpPr>
          <p:nvPr/>
        </p:nvSpPr>
        <p:spPr>
          <a:xfrm xmlns:a="http://schemas.openxmlformats.org/drawingml/2006/main">
            <a:off x="552450" y="1358837"/>
            <a:ext cx="3857054"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Representation and recovery</a:t>
            </a:r>
            <a:endParaRPr sz="1400"/>
          </a:p>
        </p:txBody>
      </p:sp>
      <p:sp>
        <p:nvSpPr>
          <p:cNvPr id="13" name="Text 11">
            <a:extLst xmlns:a="http://schemas.openxmlformats.org/drawingml/2006/main">
              <a:ext uri="{FF2B5EF4-FFF2-40B4-BE49-F238E27FC236}">
                <a16:creationId xmlns:a16="http://schemas.microsoft.com/office/drawing/2014/main" id="{4EBCE3BF-26F5-45BF-B424-5D151638D46B}"/>
              </a:ext>
            </a:extLst>
          </p:cNvPr>
          <p:cNvSpPr>
            <a:spLocks xmlns:a="http://schemas.openxmlformats.org/drawingml/2006/main" noGrp="1"/>
          </p:cNvSpPr>
          <p:nvPr/>
        </p:nvSpPr>
        <p:spPr>
          <a:xfrm xmlns:a="http://schemas.openxmlformats.org/drawingml/2006/main">
            <a:off x="552450" y="1626691"/>
            <a:ext cx="3857054" cy="383977"/>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513"/>
              </a:lnSpc>
              <a:buNone/>
              <a:defRPr sz="1220" b="0">
                <a:solidFill>
                  <a:srgbClr val="12263A"/>
                </a:solidFill>
                <a:latin typeface="Arial"/>
                <a:ea typeface="Arial"/>
                <a:cs typeface="Arial"/>
              </a:defRPr>
            </a:pPr>
            <a:r>
              <a:rPr sz="1220" b="0">
                <a:solidFill>
                  <a:srgbClr val="12263A"/>
                </a:solidFill>
                <a:latin typeface="Arial"/>
                <a:ea typeface="Arial"/>
                <a:cs typeface="Arial"/>
              </a:rPr>
              <a:t>Prioritize MimicGen, PSI, and RIGVid for the chosen inputs. Defaults do not establish paper trial counts.</a:t>
            </a:r>
            <a:endParaRPr sz="1220"/>
          </a:p>
        </p:txBody>
      </p:sp>
      <p:sp>
        <p:nvSpPr>
          <p:cNvPr id="14" name="Text 12">
            <a:extLst xmlns:a="http://schemas.openxmlformats.org/drawingml/2006/main">
              <a:ext uri="{FF2B5EF4-FFF2-40B4-BE49-F238E27FC236}">
                <a16:creationId xmlns:a16="http://schemas.microsoft.com/office/drawing/2014/main" id="{B4FAFCDD-575D-4AF5-82D8-FB58C832E084}"/>
              </a:ext>
            </a:extLst>
          </p:cNvPr>
          <p:cNvSpPr>
            <a:spLocks xmlns:a="http://schemas.openxmlformats.org/drawingml/2006/main" noGrp="1"/>
          </p:cNvSpPr>
          <p:nvPr/>
        </p:nvSpPr>
        <p:spPr>
          <a:xfrm xmlns:a="http://schemas.openxmlformats.org/drawingml/2006/main">
            <a:off x="4648200" y="1196876"/>
            <a:ext cx="4152900" cy="3464123"/>
          </a:xfrm>
          <a:prstGeom xmlns:a="http://schemas.openxmlformats.org/drawingml/2006/main" prst="roundRect">
            <a:avLst>
              <a:gd name="adj" fmla="val 2933"/>
            </a:avLst>
          </a:prstGeom>
          <a:solidFill xmlns:a="http://schemas.openxmlformats.org/drawingml/2006/main">
            <a:srgbClr val="EDFAF8"/>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15" name="Shape 13">
            <a:extLst xmlns:a="http://schemas.openxmlformats.org/drawingml/2006/main">
              <a:ext uri="{FF2B5EF4-FFF2-40B4-BE49-F238E27FC236}">
                <a16:creationId xmlns:a16="http://schemas.microsoft.com/office/drawing/2014/main" id="{E60471FF-574D-42FE-A58D-D96C02D7F424}"/>
              </a:ext>
            </a:extLst>
          </p:cNvPr>
          <p:cNvSpPr>
            <a:spLocks xmlns:a="http://schemas.openxmlformats.org/drawingml/2006/main" noGrp="1"/>
          </p:cNvSpPr>
          <p:nvPr/>
        </p:nvSpPr>
        <p:spPr>
          <a:xfrm xmlns:a="http://schemas.openxmlformats.org/drawingml/2006/main">
            <a:off x="4648200" y="1201638"/>
            <a:ext cx="4152900"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6" name="Shape 14">
            <a:extLst xmlns:a="http://schemas.openxmlformats.org/drawingml/2006/main">
              <a:ext uri="{FF2B5EF4-FFF2-40B4-BE49-F238E27FC236}">
                <a16:creationId xmlns:a16="http://schemas.microsoft.com/office/drawing/2014/main" id="{F44098D9-BEAE-4B65-BF33-FA9505830F40}"/>
              </a:ext>
            </a:extLst>
          </p:cNvPr>
          <p:cNvSpPr>
            <a:spLocks xmlns:a="http://schemas.openxmlformats.org/drawingml/2006/main" noGrp="1"/>
          </p:cNvSpPr>
          <p:nvPr/>
        </p:nvSpPr>
        <p:spPr>
          <a:xfrm xmlns:a="http://schemas.openxmlformats.org/drawingml/2006/main">
            <a:off x="8796338" y="1196876"/>
            <a:ext cx="0" cy="3464123"/>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7" name="Shape 15">
            <a:extLst xmlns:a="http://schemas.openxmlformats.org/drawingml/2006/main">
              <a:ext uri="{FF2B5EF4-FFF2-40B4-BE49-F238E27FC236}">
                <a16:creationId xmlns:a16="http://schemas.microsoft.com/office/drawing/2014/main" id="{378D87F9-53B4-419F-9CE5-94EA81087671}"/>
              </a:ext>
            </a:extLst>
          </p:cNvPr>
          <p:cNvSpPr>
            <a:spLocks xmlns:a="http://schemas.openxmlformats.org/drawingml/2006/main" noGrp="1"/>
          </p:cNvSpPr>
          <p:nvPr/>
        </p:nvSpPr>
        <p:spPr>
          <a:xfrm xmlns:a="http://schemas.openxmlformats.org/drawingml/2006/main">
            <a:off x="4648200" y="4656237"/>
            <a:ext cx="4152900" cy="0"/>
          </a:xfrm>
          <a:prstGeom xmlns:a="http://schemas.openxmlformats.org/drawingml/2006/main" prst="line">
            <a:avLst/>
          </a:prstGeom>
          <a:noFill xmlns:a="http://schemas.openxmlformats.org/drawingml/2006/main"/>
          <a:ln xmlns:a="http://schemas.openxmlformats.org/drawingml/2006/main" w="9525">
            <a:solidFill>
              <a:srgbClr val="CAD6E2"/>
            </a:solidFill>
            <a:prstDash val="solid"/>
          </a:ln>
        </p:spPr>
      </p:sp>
      <p:sp>
        <p:nvSpPr>
          <p:cNvPr id="18" name="Shape 16">
            <a:extLst xmlns:a="http://schemas.openxmlformats.org/drawingml/2006/main">
              <a:ext uri="{FF2B5EF4-FFF2-40B4-BE49-F238E27FC236}">
                <a16:creationId xmlns:a16="http://schemas.microsoft.com/office/drawing/2014/main" id="{0EBFA78E-FBE6-4F7A-8B78-9A8EAF485B77}"/>
              </a:ext>
            </a:extLst>
          </p:cNvPr>
          <p:cNvSpPr>
            <a:spLocks xmlns:a="http://schemas.openxmlformats.org/drawingml/2006/main" noGrp="1"/>
          </p:cNvSpPr>
          <p:nvPr/>
        </p:nvSpPr>
        <p:spPr>
          <a:xfrm xmlns:a="http://schemas.openxmlformats.org/drawingml/2006/main">
            <a:off x="4676775" y="1196876"/>
            <a:ext cx="0" cy="3464123"/>
          </a:xfrm>
          <a:prstGeom xmlns:a="http://schemas.openxmlformats.org/drawingml/2006/main" prst="line">
            <a:avLst/>
          </a:prstGeom>
          <a:noFill xmlns:a="http://schemas.openxmlformats.org/drawingml/2006/main"/>
          <a:ln xmlns:a="http://schemas.openxmlformats.org/drawingml/2006/main" w="57150">
            <a:solidFill>
              <a:srgbClr val="1D9E91"/>
            </a:solidFill>
            <a:prstDash val="solid"/>
          </a:ln>
        </p:spPr>
      </p:sp>
      <p:sp>
        <p:nvSpPr>
          <p:cNvPr id="19" name="Text 17">
            <a:extLst xmlns:a="http://schemas.openxmlformats.org/drawingml/2006/main">
              <a:ext uri="{FF2B5EF4-FFF2-40B4-BE49-F238E27FC236}">
                <a16:creationId xmlns:a16="http://schemas.microsoft.com/office/drawing/2014/main" id="{C83DBF54-C870-4D6A-8884-C53F95683417}"/>
              </a:ext>
            </a:extLst>
          </p:cNvPr>
          <p:cNvSpPr>
            <a:spLocks xmlns:a="http://schemas.openxmlformats.org/drawingml/2006/main" noGrp="1"/>
          </p:cNvSpPr>
          <p:nvPr/>
        </p:nvSpPr>
        <p:spPr>
          <a:xfrm xmlns:a="http://schemas.openxmlformats.org/drawingml/2006/main">
            <a:off x="4857750" y="1358837"/>
            <a:ext cx="3857054"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10"/>
              </a:lnSpc>
              <a:spcAft>
                <a:spcPts val="500"/>
              </a:spcAft>
              <a:buNone/>
              <a:defRPr sz="1400" b="1">
                <a:solidFill>
                  <a:srgbClr val="234D78"/>
                </a:solidFill>
                <a:latin typeface="Arial"/>
                <a:ea typeface="Arial"/>
                <a:cs typeface="Arial"/>
              </a:defRPr>
            </a:pPr>
            <a:r>
              <a:rPr sz="1400" b="1">
                <a:solidFill>
                  <a:srgbClr val="234D78"/>
                </a:solidFill>
                <a:latin typeface="Arial"/>
                <a:ea typeface="Arial"/>
                <a:cs typeface="Arial"/>
              </a:rPr>
              <a:t>Reliability and intervention</a:t>
            </a:r>
            <a:endParaRPr sz="1400"/>
          </a:p>
        </p:txBody>
      </p:sp>
      <p:sp>
        <p:nvSpPr>
          <p:cNvPr id="20" name="Text 18">
            <a:extLst xmlns:a="http://schemas.openxmlformats.org/drawingml/2006/main">
              <a:ext uri="{FF2B5EF4-FFF2-40B4-BE49-F238E27FC236}">
                <a16:creationId xmlns:a16="http://schemas.microsoft.com/office/drawing/2014/main" id="{7476C035-5660-421A-8441-F0864532A300}"/>
              </a:ext>
            </a:extLst>
          </p:cNvPr>
          <p:cNvSpPr>
            <a:spLocks xmlns:a="http://schemas.openxmlformats.org/drawingml/2006/main" noGrp="1"/>
          </p:cNvSpPr>
          <p:nvPr/>
        </p:nvSpPr>
        <p:spPr>
          <a:xfrm xmlns:a="http://schemas.openxmlformats.org/drawingml/2006/main">
            <a:off x="4857750" y="1626691"/>
            <a:ext cx="3857054" cy="383977"/>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513"/>
              </a:lnSpc>
              <a:buNone/>
              <a:defRPr sz="1220" b="0">
                <a:solidFill>
                  <a:srgbClr val="12263A"/>
                </a:solidFill>
                <a:latin typeface="Arial"/>
                <a:ea typeface="Arial"/>
                <a:cs typeface="Arial"/>
              </a:defRPr>
            </a:pPr>
            <a:r>
              <a:rPr sz="1220" b="0">
                <a:solidFill>
                  <a:srgbClr val="12263A"/>
                </a:solidFill>
                <a:latin typeface="Arial"/>
                <a:ea typeface="Arial"/>
                <a:cs typeface="Arial"/>
              </a:rPr>
              <a:t>Sample/action budgets differ from seconds. Pose ranking alone does not establish task utility.</a:t>
            </a:r>
            <a:endParaRPr sz="1220"/>
          </a:p>
        </p:txBody>
      </p:sp>
      <p:sp>
        <p:nvSpPr>
          <p:cNvPr id="21" name="Text 19">
            <a:extLst xmlns:a="http://schemas.openxmlformats.org/drawingml/2006/main">
              <a:ext uri="{FF2B5EF4-FFF2-40B4-BE49-F238E27FC236}">
                <a16:creationId xmlns:a16="http://schemas.microsoft.com/office/drawing/2014/main" id="{D41B00F6-90EF-4F56-818C-1AB19BF51F6E}"/>
              </a:ext>
            </a:extLst>
          </p:cNvPr>
          <p:cNvSpPr>
            <a:spLocks xmlns:a="http://schemas.openxmlformats.org/drawingml/2006/main" noGrp="1"/>
          </p:cNvSpPr>
          <p:nvPr/>
        </p:nvSpPr>
        <p:spPr>
          <a:xfrm xmlns:a="http://schemas.openxmlformats.org/drawingml/2006/main">
            <a:off x="8339328" y="4965192"/>
            <a:ext cx="502920"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660">
                <a:solidFill>
                  <a:srgbClr val="7A8794"/>
                </a:solidFill>
                <a:latin typeface="Arial"/>
                <a:ea typeface="Arial"/>
                <a:cs typeface="Arial"/>
              </a:rPr>
              <a:t>31 / 31</a:t>
            </a:r>
            <a:endParaRPr sz="660"/>
          </a:p>
        </p:txBody>
      </p:sp>
      <p:sp>
        <p:nvSpPr>
          <p:cNvPr id="22" name="Text 20">
            <a:hlinkClick xmlns:r="http://schemas.openxmlformats.org/officeDocument/2006/relationships" xmlns:a="http://schemas.openxmlformats.org/drawingml/2006/main" r:id="R6f3632f4582a4f87"/>
            <a:extLst xmlns:a="http://schemas.openxmlformats.org/drawingml/2006/main">
              <a:ext uri="{FF2B5EF4-FFF2-40B4-BE49-F238E27FC236}">
                <a16:creationId xmlns:a16="http://schemas.microsoft.com/office/drawing/2014/main" id="{956151A2-6C46-4567-B91E-8F559C0CBD92}"/>
              </a:ext>
            </a:extLst>
          </p:cNvPr>
          <p:cNvSpPr>
            <a:spLocks xmlns:a="http://schemas.openxmlformats.org/drawingml/2006/main" noGrp="1"/>
          </p:cNvSpPr>
          <p:nvPr/>
        </p:nvSpPr>
        <p:spPr>
          <a:xfrm xmlns:a="http://schemas.openxmlformats.org/drawingml/2006/main">
            <a:off x="603504" y="2212848"/>
            <a:ext cx="36118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950" b="1">
                <a:solidFill>
                  <a:srgbClr val="16344F"/>
                </a:solidFill>
                <a:latin typeface="Arial"/>
                <a:ea typeface="Arial"/>
                <a:cs typeface="Arial"/>
              </a:defRPr>
            </a:pPr>
            <a:r>
              <a:rPr sz="950" b="1" u="sng">
                <a:solidFill>
                  <a:srgbClr val="16344F"/>
                </a:solidFill>
                <a:latin typeface="Arial"/>
                <a:ea typeface="Arial"/>
                <a:cs typeface="Arial"/>
                <a:hlinkClick xmlns:r="http://schemas.openxmlformats.org/officeDocument/2006/relationships" r:id="R6986079d9f6f4b7e"/>
              </a:rPr>
              <a:t>MimicGen</a:t>
            </a:r>
            <a:endParaRPr sz="950"/>
          </a:p>
        </p:txBody>
      </p:sp>
      <p:sp>
        <p:nvSpPr>
          <p:cNvPr id="23" name="Text 21">
            <a:hlinkClick xmlns:r="http://schemas.openxmlformats.org/officeDocument/2006/relationships" xmlns:a="http://schemas.openxmlformats.org/drawingml/2006/main" r:id="Rb6f5423e4b4a4e08"/>
            <a:extLst xmlns:a="http://schemas.openxmlformats.org/drawingml/2006/main">
              <a:ext uri="{FF2B5EF4-FFF2-40B4-BE49-F238E27FC236}">
                <a16:creationId xmlns:a16="http://schemas.microsoft.com/office/drawing/2014/main" id="{E85073E0-95EE-40D7-AA03-39DEA9035ACE}"/>
              </a:ext>
            </a:extLst>
          </p:cNvPr>
          <p:cNvSpPr>
            <a:spLocks xmlns:a="http://schemas.openxmlformats.org/drawingml/2006/main" noGrp="1"/>
          </p:cNvSpPr>
          <p:nvPr/>
        </p:nvSpPr>
        <p:spPr>
          <a:xfrm xmlns:a="http://schemas.openxmlformats.org/drawingml/2006/main">
            <a:off x="603504" y="2386584"/>
            <a:ext cx="36118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680" b="0">
                <a:solidFill>
                  <a:srgbClr val="234D78"/>
                </a:solidFill>
                <a:latin typeface="Arial"/>
                <a:ea typeface="Arial"/>
                <a:cs typeface="Arial"/>
              </a:defRPr>
            </a:pPr>
            <a:r>
              <a:rPr sz="680" b="0" u="sng">
                <a:solidFill>
                  <a:srgbClr val="234D78"/>
                </a:solidFill>
                <a:latin typeface="Arial"/>
                <a:ea typeface="Arial"/>
                <a:cs typeface="Arial"/>
                <a:hlinkClick xmlns:r="http://schemas.openxmlformats.org/officeDocument/2006/relationships" r:id="R815a73ebb9c0480a"/>
              </a:rPr>
              <a:t>https://arxiv.org/abs/2310.17596</a:t>
            </a:r>
            <a:endParaRPr sz="680"/>
          </a:p>
        </p:txBody>
      </p:sp>
      <p:sp>
        <p:nvSpPr>
          <p:cNvPr id="24" name="Text 22">
            <a:hlinkClick xmlns:r="http://schemas.openxmlformats.org/officeDocument/2006/relationships" xmlns:a="http://schemas.openxmlformats.org/drawingml/2006/main" r:id="R2c0e02e258c34d3b"/>
            <a:extLst xmlns:a="http://schemas.openxmlformats.org/drawingml/2006/main">
              <a:ext uri="{FF2B5EF4-FFF2-40B4-BE49-F238E27FC236}">
                <a16:creationId xmlns:a16="http://schemas.microsoft.com/office/drawing/2014/main" id="{A12C9DA1-E5B0-4128-925C-2ADD3E1F86E7}"/>
              </a:ext>
            </a:extLst>
          </p:cNvPr>
          <p:cNvSpPr>
            <a:spLocks xmlns:a="http://schemas.openxmlformats.org/drawingml/2006/main" noGrp="1"/>
          </p:cNvSpPr>
          <p:nvPr/>
        </p:nvSpPr>
        <p:spPr>
          <a:xfrm xmlns:a="http://schemas.openxmlformats.org/drawingml/2006/main">
            <a:off x="603504" y="2706624"/>
            <a:ext cx="36118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950" b="1">
                <a:solidFill>
                  <a:srgbClr val="16344F"/>
                </a:solidFill>
                <a:latin typeface="Arial"/>
                <a:ea typeface="Arial"/>
                <a:cs typeface="Arial"/>
              </a:defRPr>
            </a:pPr>
            <a:r>
              <a:rPr sz="950" b="1" u="sng">
                <a:solidFill>
                  <a:srgbClr val="16344F"/>
                </a:solidFill>
                <a:latin typeface="Arial"/>
                <a:ea typeface="Arial"/>
                <a:cs typeface="Arial"/>
                <a:hlinkClick xmlns:r="http://schemas.openxmlformats.org/officeDocument/2006/relationships" r:id="R878d778a0c3d4ca5"/>
              </a:rPr>
              <a:t>PSI</a:t>
            </a:r>
            <a:endParaRPr sz="950"/>
          </a:p>
        </p:txBody>
      </p:sp>
      <p:sp>
        <p:nvSpPr>
          <p:cNvPr id="25" name="Text 23">
            <a:hlinkClick xmlns:r="http://schemas.openxmlformats.org/officeDocument/2006/relationships" xmlns:a="http://schemas.openxmlformats.org/drawingml/2006/main" r:id="R112ae5a0ff7a4dab"/>
            <a:extLst xmlns:a="http://schemas.openxmlformats.org/drawingml/2006/main">
              <a:ext uri="{FF2B5EF4-FFF2-40B4-BE49-F238E27FC236}">
                <a16:creationId xmlns:a16="http://schemas.microsoft.com/office/drawing/2014/main" id="{954577AC-FC31-4445-9FFF-D6A6487CCC8C}"/>
              </a:ext>
            </a:extLst>
          </p:cNvPr>
          <p:cNvSpPr>
            <a:spLocks xmlns:a="http://schemas.openxmlformats.org/drawingml/2006/main" noGrp="1"/>
          </p:cNvSpPr>
          <p:nvPr/>
        </p:nvSpPr>
        <p:spPr>
          <a:xfrm xmlns:a="http://schemas.openxmlformats.org/drawingml/2006/main">
            <a:off x="603504" y="2880360"/>
            <a:ext cx="36118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680" b="0">
                <a:solidFill>
                  <a:srgbClr val="234D78"/>
                </a:solidFill>
                <a:latin typeface="Arial"/>
                <a:ea typeface="Arial"/>
                <a:cs typeface="Arial"/>
              </a:defRPr>
            </a:pPr>
            <a:r>
              <a:rPr sz="680" b="0" u="sng">
                <a:solidFill>
                  <a:srgbClr val="234D78"/>
                </a:solidFill>
                <a:latin typeface="Arial"/>
                <a:ea typeface="Arial"/>
                <a:cs typeface="Arial"/>
                <a:hlinkClick xmlns:r="http://schemas.openxmlformats.org/officeDocument/2006/relationships" r:id="R57f60894947c4302"/>
              </a:rPr>
              <a:t>https://arxiv.org/abs/2602.13197v2</a:t>
            </a:r>
            <a:endParaRPr sz="680"/>
          </a:p>
        </p:txBody>
      </p:sp>
      <p:sp>
        <p:nvSpPr>
          <p:cNvPr id="26" name="Text 24">
            <a:hlinkClick xmlns:r="http://schemas.openxmlformats.org/officeDocument/2006/relationships" xmlns:a="http://schemas.openxmlformats.org/drawingml/2006/main" r:id="Rcde76d689fce4343"/>
            <a:extLst xmlns:a="http://schemas.openxmlformats.org/drawingml/2006/main">
              <a:ext uri="{FF2B5EF4-FFF2-40B4-BE49-F238E27FC236}">
                <a16:creationId xmlns:a16="http://schemas.microsoft.com/office/drawing/2014/main" id="{8D3DC52F-6E55-46DF-957F-E98B6A80807F}"/>
              </a:ext>
            </a:extLst>
          </p:cNvPr>
          <p:cNvSpPr>
            <a:spLocks xmlns:a="http://schemas.openxmlformats.org/drawingml/2006/main" noGrp="1"/>
          </p:cNvSpPr>
          <p:nvPr/>
        </p:nvSpPr>
        <p:spPr>
          <a:xfrm xmlns:a="http://schemas.openxmlformats.org/drawingml/2006/main">
            <a:off x="603504" y="3200400"/>
            <a:ext cx="36118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950" b="1">
                <a:solidFill>
                  <a:srgbClr val="16344F"/>
                </a:solidFill>
                <a:latin typeface="Arial"/>
                <a:ea typeface="Arial"/>
                <a:cs typeface="Arial"/>
              </a:defRPr>
            </a:pPr>
            <a:r>
              <a:rPr sz="950" b="1" u="sng">
                <a:solidFill>
                  <a:srgbClr val="16344F"/>
                </a:solidFill>
                <a:latin typeface="Arial"/>
                <a:ea typeface="Arial"/>
                <a:cs typeface="Arial"/>
                <a:hlinkClick xmlns:r="http://schemas.openxmlformats.org/officeDocument/2006/relationships" r:id="Rc11032f20c7048af"/>
              </a:rPr>
              <a:t>RIGVid</a:t>
            </a:r>
            <a:endParaRPr sz="950"/>
          </a:p>
        </p:txBody>
      </p:sp>
      <p:sp>
        <p:nvSpPr>
          <p:cNvPr id="27" name="Text 25">
            <a:hlinkClick xmlns:r="http://schemas.openxmlformats.org/officeDocument/2006/relationships" xmlns:a="http://schemas.openxmlformats.org/drawingml/2006/main" r:id="R5ffb4e051081468f"/>
            <a:extLst xmlns:a="http://schemas.openxmlformats.org/drawingml/2006/main">
              <a:ext uri="{FF2B5EF4-FFF2-40B4-BE49-F238E27FC236}">
                <a16:creationId xmlns:a16="http://schemas.microsoft.com/office/drawing/2014/main" id="{3CDF0213-342F-4107-9FA8-FB6FEB1C461A}"/>
              </a:ext>
            </a:extLst>
          </p:cNvPr>
          <p:cNvSpPr>
            <a:spLocks xmlns:a="http://schemas.openxmlformats.org/drawingml/2006/main" noGrp="1"/>
          </p:cNvSpPr>
          <p:nvPr/>
        </p:nvSpPr>
        <p:spPr>
          <a:xfrm xmlns:a="http://schemas.openxmlformats.org/drawingml/2006/main">
            <a:off x="603504" y="3374136"/>
            <a:ext cx="36118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680" b="0">
                <a:solidFill>
                  <a:srgbClr val="234D78"/>
                </a:solidFill>
                <a:latin typeface="Arial"/>
                <a:ea typeface="Arial"/>
                <a:cs typeface="Arial"/>
              </a:defRPr>
            </a:pPr>
            <a:r>
              <a:rPr sz="680" b="0" u="sng">
                <a:solidFill>
                  <a:srgbClr val="234D78"/>
                </a:solidFill>
                <a:latin typeface="Arial"/>
                <a:ea typeface="Arial"/>
                <a:cs typeface="Arial"/>
                <a:hlinkClick xmlns:r="http://schemas.openxmlformats.org/officeDocument/2006/relationships" r:id="Rd05b9ddb5c8d435f"/>
              </a:rPr>
              <a:t>https://arxiv.org/abs/2507.00990v3</a:t>
            </a:r>
            <a:endParaRPr sz="680"/>
          </a:p>
        </p:txBody>
      </p:sp>
      <p:sp>
        <p:nvSpPr>
          <p:cNvPr id="28" name="Text 26">
            <a:hlinkClick xmlns:r="http://schemas.openxmlformats.org/officeDocument/2006/relationships" xmlns:a="http://schemas.openxmlformats.org/drawingml/2006/main" r:id="R226ab81441324601"/>
            <a:extLst xmlns:a="http://schemas.openxmlformats.org/drawingml/2006/main">
              <a:ext uri="{FF2B5EF4-FFF2-40B4-BE49-F238E27FC236}">
                <a16:creationId xmlns:a16="http://schemas.microsoft.com/office/drawing/2014/main" id="{EBA7E16D-3234-42D3-BA54-B00EC58C295F}"/>
              </a:ext>
            </a:extLst>
          </p:cNvPr>
          <p:cNvSpPr>
            <a:spLocks xmlns:a="http://schemas.openxmlformats.org/drawingml/2006/main" noGrp="1"/>
          </p:cNvSpPr>
          <p:nvPr/>
        </p:nvSpPr>
        <p:spPr>
          <a:xfrm xmlns:a="http://schemas.openxmlformats.org/drawingml/2006/main">
            <a:off x="603504" y="3694176"/>
            <a:ext cx="36118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950" b="1">
                <a:solidFill>
                  <a:srgbClr val="16344F"/>
                </a:solidFill>
                <a:latin typeface="Arial"/>
                <a:ea typeface="Arial"/>
                <a:cs typeface="Arial"/>
              </a:defRPr>
            </a:pPr>
            <a:r>
              <a:rPr sz="950" b="1" u="sng">
                <a:solidFill>
                  <a:srgbClr val="16344F"/>
                </a:solidFill>
                <a:latin typeface="Arial"/>
                <a:ea typeface="Arial"/>
                <a:cs typeface="Arial"/>
                <a:hlinkClick xmlns:r="http://schemas.openxmlformats.org/officeDocument/2006/relationships" r:id="Rc78a67ed03444991"/>
              </a:rPr>
              <a:t>ThriftyDAgger</a:t>
            </a:r>
            <a:endParaRPr sz="950"/>
          </a:p>
        </p:txBody>
      </p:sp>
      <p:sp>
        <p:nvSpPr>
          <p:cNvPr id="29" name="Text 27">
            <a:hlinkClick xmlns:r="http://schemas.openxmlformats.org/officeDocument/2006/relationships" xmlns:a="http://schemas.openxmlformats.org/drawingml/2006/main" r:id="Rb16498066d7144c2"/>
            <a:extLst xmlns:a="http://schemas.openxmlformats.org/drawingml/2006/main">
              <a:ext uri="{FF2B5EF4-FFF2-40B4-BE49-F238E27FC236}">
                <a16:creationId xmlns:a16="http://schemas.microsoft.com/office/drawing/2014/main" id="{1D033B6A-D4B7-42DF-AF77-4591B510B5FB}"/>
              </a:ext>
            </a:extLst>
          </p:cNvPr>
          <p:cNvSpPr>
            <a:spLocks xmlns:a="http://schemas.openxmlformats.org/drawingml/2006/main" noGrp="1"/>
          </p:cNvSpPr>
          <p:nvPr/>
        </p:nvSpPr>
        <p:spPr>
          <a:xfrm xmlns:a="http://schemas.openxmlformats.org/drawingml/2006/main">
            <a:off x="603504" y="3867912"/>
            <a:ext cx="36118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680" b="0">
                <a:solidFill>
                  <a:srgbClr val="234D78"/>
                </a:solidFill>
                <a:latin typeface="Arial"/>
                <a:ea typeface="Arial"/>
                <a:cs typeface="Arial"/>
              </a:defRPr>
            </a:pPr>
            <a:r>
              <a:rPr sz="680" b="0" u="sng">
                <a:solidFill>
                  <a:srgbClr val="234D78"/>
                </a:solidFill>
                <a:latin typeface="Arial"/>
                <a:ea typeface="Arial"/>
                <a:cs typeface="Arial"/>
                <a:hlinkClick xmlns:r="http://schemas.openxmlformats.org/officeDocument/2006/relationships" r:id="R9107bb718a3f44ea"/>
              </a:rPr>
              <a:t>https://arxiv.org/abs/2109.08273</a:t>
            </a:r>
            <a:endParaRPr sz="680"/>
          </a:p>
        </p:txBody>
      </p:sp>
      <p:sp>
        <p:nvSpPr>
          <p:cNvPr id="30" name="Text 28">
            <a:hlinkClick xmlns:r="http://schemas.openxmlformats.org/officeDocument/2006/relationships" xmlns:a="http://schemas.openxmlformats.org/drawingml/2006/main" r:id="R6dc2d36ccd4b4413"/>
            <a:extLst xmlns:a="http://schemas.openxmlformats.org/drawingml/2006/main">
              <a:ext uri="{FF2B5EF4-FFF2-40B4-BE49-F238E27FC236}">
                <a16:creationId xmlns:a16="http://schemas.microsoft.com/office/drawing/2014/main" id="{16C879EB-179F-46B3-90CF-E58AE8C189E3}"/>
              </a:ext>
            </a:extLst>
          </p:cNvPr>
          <p:cNvSpPr>
            <a:spLocks xmlns:a="http://schemas.openxmlformats.org/drawingml/2006/main" noGrp="1"/>
          </p:cNvSpPr>
          <p:nvPr/>
        </p:nvSpPr>
        <p:spPr>
          <a:xfrm xmlns:a="http://schemas.openxmlformats.org/drawingml/2006/main">
            <a:off x="603504" y="4187952"/>
            <a:ext cx="36118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950" b="1">
                <a:solidFill>
                  <a:srgbClr val="16344F"/>
                </a:solidFill>
                <a:latin typeface="Arial"/>
                <a:ea typeface="Arial"/>
                <a:cs typeface="Arial"/>
              </a:defRPr>
            </a:pPr>
            <a:r>
              <a:rPr sz="950" b="1" u="sng">
                <a:solidFill>
                  <a:srgbClr val="16344F"/>
                </a:solidFill>
                <a:latin typeface="Arial"/>
                <a:ea typeface="Arial"/>
                <a:cs typeface="Arial"/>
                <a:hlinkClick xmlns:r="http://schemas.openxmlformats.org/officeDocument/2006/relationships" r:id="Reac7b5c913514e24"/>
              </a:rPr>
              <a:t>ProxyPose</a:t>
            </a:r>
            <a:endParaRPr sz="950"/>
          </a:p>
        </p:txBody>
      </p:sp>
      <p:sp>
        <p:nvSpPr>
          <p:cNvPr id="31" name="Text 29">
            <a:hlinkClick xmlns:r="http://schemas.openxmlformats.org/officeDocument/2006/relationships" xmlns:a="http://schemas.openxmlformats.org/drawingml/2006/main" r:id="Ra2a3a1bf464745b3"/>
            <a:extLst xmlns:a="http://schemas.openxmlformats.org/drawingml/2006/main">
              <a:ext uri="{FF2B5EF4-FFF2-40B4-BE49-F238E27FC236}">
                <a16:creationId xmlns:a16="http://schemas.microsoft.com/office/drawing/2014/main" id="{F7404F47-4C89-4AE1-A110-406D9C6A4F25}"/>
              </a:ext>
            </a:extLst>
          </p:cNvPr>
          <p:cNvSpPr>
            <a:spLocks xmlns:a="http://schemas.openxmlformats.org/drawingml/2006/main" noGrp="1"/>
          </p:cNvSpPr>
          <p:nvPr/>
        </p:nvSpPr>
        <p:spPr>
          <a:xfrm xmlns:a="http://schemas.openxmlformats.org/drawingml/2006/main">
            <a:off x="603504" y="4361688"/>
            <a:ext cx="36118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680" b="0">
                <a:solidFill>
                  <a:srgbClr val="234D78"/>
                </a:solidFill>
                <a:latin typeface="Arial"/>
                <a:ea typeface="Arial"/>
                <a:cs typeface="Arial"/>
              </a:defRPr>
            </a:pPr>
            <a:r>
              <a:rPr sz="680" b="0" u="sng">
                <a:solidFill>
                  <a:srgbClr val="234D78"/>
                </a:solidFill>
                <a:latin typeface="Arial"/>
                <a:ea typeface="Arial"/>
                <a:cs typeface="Arial"/>
                <a:hlinkClick xmlns:r="http://schemas.openxmlformats.org/officeDocument/2006/relationships" r:id="R0b74513690e146be"/>
              </a:rPr>
              <a:t>https://arxiv.org/abs/2607.06555v1</a:t>
            </a:r>
            <a:endParaRPr sz="680"/>
          </a:p>
        </p:txBody>
      </p:sp>
      <p:sp>
        <p:nvSpPr>
          <p:cNvPr id="32" name="Text 30">
            <a:hlinkClick xmlns:r="http://schemas.openxmlformats.org/officeDocument/2006/relationships" xmlns:a="http://schemas.openxmlformats.org/drawingml/2006/main" r:id="R473a2ac6e4324e2f"/>
            <a:extLst xmlns:a="http://schemas.openxmlformats.org/drawingml/2006/main">
              <a:ext uri="{FF2B5EF4-FFF2-40B4-BE49-F238E27FC236}">
                <a16:creationId xmlns:a16="http://schemas.microsoft.com/office/drawing/2014/main" id="{4B0863AE-60D9-4B10-9AC1-1F5739100871}"/>
              </a:ext>
            </a:extLst>
          </p:cNvPr>
          <p:cNvSpPr>
            <a:spLocks xmlns:a="http://schemas.openxmlformats.org/drawingml/2006/main" noGrp="1"/>
          </p:cNvSpPr>
          <p:nvPr/>
        </p:nvSpPr>
        <p:spPr>
          <a:xfrm xmlns:a="http://schemas.openxmlformats.org/drawingml/2006/main">
            <a:off x="4718304" y="2212848"/>
            <a:ext cx="36118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950" b="1">
                <a:solidFill>
                  <a:srgbClr val="16344F"/>
                </a:solidFill>
                <a:latin typeface="Arial"/>
                <a:ea typeface="Arial"/>
                <a:cs typeface="Arial"/>
              </a:defRPr>
            </a:pPr>
            <a:r>
              <a:rPr sz="950" b="1" u="sng">
                <a:solidFill>
                  <a:srgbClr val="16344F"/>
                </a:solidFill>
                <a:latin typeface="Arial"/>
                <a:ea typeface="Arial"/>
                <a:cs typeface="Arial"/>
                <a:hlinkClick xmlns:r="http://schemas.openxmlformats.org/officeDocument/2006/relationships" r:id="Rbc4b36e1a1e04faa"/>
              </a:rPr>
              <a:t>VR-DAgger</a:t>
            </a:r>
            <a:endParaRPr sz="950"/>
          </a:p>
        </p:txBody>
      </p:sp>
      <p:sp>
        <p:nvSpPr>
          <p:cNvPr id="33" name="Text 31">
            <a:hlinkClick xmlns:r="http://schemas.openxmlformats.org/officeDocument/2006/relationships" xmlns:a="http://schemas.openxmlformats.org/drawingml/2006/main" r:id="R9f0096471eb34e6f"/>
            <a:extLst xmlns:a="http://schemas.openxmlformats.org/drawingml/2006/main">
              <a:ext uri="{FF2B5EF4-FFF2-40B4-BE49-F238E27FC236}">
                <a16:creationId xmlns:a16="http://schemas.microsoft.com/office/drawing/2014/main" id="{9F07682B-8861-4018-81B4-5B5834831C95}"/>
              </a:ext>
            </a:extLst>
          </p:cNvPr>
          <p:cNvSpPr>
            <a:spLocks xmlns:a="http://schemas.openxmlformats.org/drawingml/2006/main" noGrp="1"/>
          </p:cNvSpPr>
          <p:nvPr/>
        </p:nvSpPr>
        <p:spPr>
          <a:xfrm xmlns:a="http://schemas.openxmlformats.org/drawingml/2006/main">
            <a:off x="4718304" y="2386584"/>
            <a:ext cx="36118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680" b="0">
                <a:solidFill>
                  <a:srgbClr val="234D78"/>
                </a:solidFill>
                <a:latin typeface="Arial"/>
                <a:ea typeface="Arial"/>
                <a:cs typeface="Arial"/>
              </a:defRPr>
            </a:pPr>
            <a:r>
              <a:rPr sz="680" b="0" u="sng">
                <a:solidFill>
                  <a:srgbClr val="234D78"/>
                </a:solidFill>
                <a:latin typeface="Arial"/>
                <a:ea typeface="Arial"/>
                <a:cs typeface="Arial"/>
                <a:hlinkClick xmlns:r="http://schemas.openxmlformats.org/officeDocument/2006/relationships" r:id="R7c952a3cc91245c7"/>
              </a:rPr>
              <a:t>https://arxiv.org/abs/2605.27114v2</a:t>
            </a:r>
            <a:endParaRPr sz="680"/>
          </a:p>
        </p:txBody>
      </p:sp>
      <p:sp>
        <p:nvSpPr>
          <p:cNvPr id="34" name="Text 32">
            <a:hlinkClick xmlns:r="http://schemas.openxmlformats.org/officeDocument/2006/relationships" xmlns:a="http://schemas.openxmlformats.org/drawingml/2006/main" r:id="Rf55720847fc84952"/>
            <a:extLst xmlns:a="http://schemas.openxmlformats.org/drawingml/2006/main">
              <a:ext uri="{FF2B5EF4-FFF2-40B4-BE49-F238E27FC236}">
                <a16:creationId xmlns:a16="http://schemas.microsoft.com/office/drawing/2014/main" id="{5E6DFE57-38E4-4989-AB29-C1E651E3A304}"/>
              </a:ext>
            </a:extLst>
          </p:cNvPr>
          <p:cNvSpPr>
            <a:spLocks xmlns:a="http://schemas.openxmlformats.org/drawingml/2006/main" noGrp="1"/>
          </p:cNvSpPr>
          <p:nvPr/>
        </p:nvSpPr>
        <p:spPr>
          <a:xfrm xmlns:a="http://schemas.openxmlformats.org/drawingml/2006/main">
            <a:off x="4718304" y="2706624"/>
            <a:ext cx="36118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950" b="1">
                <a:solidFill>
                  <a:srgbClr val="16344F"/>
                </a:solidFill>
                <a:latin typeface="Arial"/>
                <a:ea typeface="Arial"/>
                <a:cs typeface="Arial"/>
              </a:defRPr>
            </a:pPr>
            <a:r>
              <a:rPr sz="950" b="1" u="sng">
                <a:solidFill>
                  <a:srgbClr val="16344F"/>
                </a:solidFill>
                <a:latin typeface="Arial"/>
                <a:ea typeface="Arial"/>
                <a:cs typeface="Arial"/>
                <a:hlinkClick xmlns:r="http://schemas.openxmlformats.org/officeDocument/2006/relationships" r:id="R8f7d7beda2a64799"/>
              </a:rPr>
              <a:t>Meta Pose</a:t>
            </a:r>
            <a:endParaRPr sz="950"/>
          </a:p>
        </p:txBody>
      </p:sp>
      <p:sp>
        <p:nvSpPr>
          <p:cNvPr id="35" name="Text 33">
            <a:hlinkClick xmlns:r="http://schemas.openxmlformats.org/officeDocument/2006/relationships" xmlns:a="http://schemas.openxmlformats.org/drawingml/2006/main" r:id="R2ae8561501f540fe"/>
            <a:extLst xmlns:a="http://schemas.openxmlformats.org/drawingml/2006/main">
              <a:ext uri="{FF2B5EF4-FFF2-40B4-BE49-F238E27FC236}">
                <a16:creationId xmlns:a16="http://schemas.microsoft.com/office/drawing/2014/main" id="{4016A11B-9BFE-4A0F-BB39-53F85A6C0512}"/>
              </a:ext>
            </a:extLst>
          </p:cNvPr>
          <p:cNvSpPr>
            <a:spLocks xmlns:a="http://schemas.openxmlformats.org/drawingml/2006/main" noGrp="1"/>
          </p:cNvSpPr>
          <p:nvPr/>
        </p:nvSpPr>
        <p:spPr>
          <a:xfrm xmlns:a="http://schemas.openxmlformats.org/drawingml/2006/main">
            <a:off x="4718304" y="2880360"/>
            <a:ext cx="36118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680" b="0">
                <a:solidFill>
                  <a:srgbClr val="234D78"/>
                </a:solidFill>
                <a:latin typeface="Arial"/>
                <a:ea typeface="Arial"/>
                <a:cs typeface="Arial"/>
              </a:defRPr>
            </a:pPr>
            <a:r>
              <a:rPr sz="680" b="0" u="sng">
                <a:solidFill>
                  <a:srgbClr val="234D78"/>
                </a:solidFill>
                <a:latin typeface="Arial"/>
                <a:ea typeface="Arial"/>
                <a:cs typeface="Arial"/>
                <a:hlinkClick xmlns:r="http://schemas.openxmlformats.org/officeDocument/2006/relationships" r:id="Rf3c99f73167248cb"/>
              </a:rPr>
              <a:t>https://arxiv.org/abs/2608.03516v1</a:t>
            </a:r>
            <a:endParaRPr sz="680"/>
          </a:p>
        </p:txBody>
      </p:sp>
      <p:sp>
        <p:nvSpPr>
          <p:cNvPr id="36" name="Text 34">
            <a:hlinkClick xmlns:r="http://schemas.openxmlformats.org/officeDocument/2006/relationships" xmlns:a="http://schemas.openxmlformats.org/drawingml/2006/main" r:id="R4ba210784b6d41be"/>
            <a:extLst xmlns:a="http://schemas.openxmlformats.org/drawingml/2006/main">
              <a:ext uri="{FF2B5EF4-FFF2-40B4-BE49-F238E27FC236}">
                <a16:creationId xmlns:a16="http://schemas.microsoft.com/office/drawing/2014/main" id="{E0658B38-B0F8-4C50-8CDD-3FBE1BDDA5FB}"/>
              </a:ext>
            </a:extLst>
          </p:cNvPr>
          <p:cNvSpPr>
            <a:spLocks xmlns:a="http://schemas.openxmlformats.org/drawingml/2006/main" noGrp="1"/>
          </p:cNvSpPr>
          <p:nvPr/>
        </p:nvSpPr>
        <p:spPr>
          <a:xfrm xmlns:a="http://schemas.openxmlformats.org/drawingml/2006/main">
            <a:off x="4718304" y="3200400"/>
            <a:ext cx="36118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950" b="1">
                <a:solidFill>
                  <a:srgbClr val="16344F"/>
                </a:solidFill>
                <a:latin typeface="Arial"/>
                <a:ea typeface="Arial"/>
                <a:cs typeface="Arial"/>
              </a:defRPr>
            </a:pPr>
            <a:r>
              <a:rPr sz="950" b="1" u="sng">
                <a:solidFill>
                  <a:srgbClr val="16344F"/>
                </a:solidFill>
                <a:latin typeface="Arial"/>
                <a:ea typeface="Arial"/>
                <a:cs typeface="Arial"/>
                <a:hlinkClick xmlns:r="http://schemas.openxmlformats.org/officeDocument/2006/relationships" r:id="R3355f43d15134358"/>
              </a:rPr>
              <a:t>SPARC</a:t>
            </a:r>
            <a:endParaRPr sz="950"/>
          </a:p>
        </p:txBody>
      </p:sp>
      <p:sp>
        <p:nvSpPr>
          <p:cNvPr id="37" name="Text 35">
            <a:hlinkClick xmlns:r="http://schemas.openxmlformats.org/officeDocument/2006/relationships" xmlns:a="http://schemas.openxmlformats.org/drawingml/2006/main" r:id="Rf2d5c713e5df48f0"/>
            <a:extLst xmlns:a="http://schemas.openxmlformats.org/drawingml/2006/main">
              <a:ext uri="{FF2B5EF4-FFF2-40B4-BE49-F238E27FC236}">
                <a16:creationId xmlns:a16="http://schemas.microsoft.com/office/drawing/2014/main" id="{63C79DF1-5E6A-45EA-BEFC-4C28C31703AF}"/>
              </a:ext>
            </a:extLst>
          </p:cNvPr>
          <p:cNvSpPr>
            <a:spLocks xmlns:a="http://schemas.openxmlformats.org/drawingml/2006/main" noGrp="1"/>
          </p:cNvSpPr>
          <p:nvPr/>
        </p:nvSpPr>
        <p:spPr>
          <a:xfrm xmlns:a="http://schemas.openxmlformats.org/drawingml/2006/main">
            <a:off x="4718304" y="3374136"/>
            <a:ext cx="36118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680" b="0">
                <a:solidFill>
                  <a:srgbClr val="234D78"/>
                </a:solidFill>
                <a:latin typeface="Arial"/>
                <a:ea typeface="Arial"/>
                <a:cs typeface="Arial"/>
              </a:defRPr>
            </a:pPr>
            <a:r>
              <a:rPr sz="680" b="0" u="sng">
                <a:solidFill>
                  <a:srgbClr val="234D78"/>
                </a:solidFill>
                <a:latin typeface="Arial"/>
                <a:ea typeface="Arial"/>
                <a:cs typeface="Arial"/>
                <a:hlinkClick xmlns:r="http://schemas.openxmlformats.org/officeDocument/2006/relationships" r:id="Rdea9b40f49894853"/>
              </a:rPr>
              <a:t>https://arxiv.org/abs/2606.13497v1</a:t>
            </a:r>
            <a:endParaRPr sz="680"/>
          </a:p>
        </p:txBody>
      </p:sp>
      <p:sp>
        <p:nvSpPr>
          <p:cNvPr id="38" name="Text 36">
            <a:hlinkClick xmlns:r="http://schemas.openxmlformats.org/officeDocument/2006/relationships" xmlns:a="http://schemas.openxmlformats.org/drawingml/2006/main" r:id="R52c5bdb4678d43b6"/>
            <a:extLst xmlns:a="http://schemas.openxmlformats.org/drawingml/2006/main">
              <a:ext uri="{FF2B5EF4-FFF2-40B4-BE49-F238E27FC236}">
                <a16:creationId xmlns:a16="http://schemas.microsoft.com/office/drawing/2014/main" id="{6431EF19-48BF-4BBC-9447-DD05E47A3B28}"/>
              </a:ext>
            </a:extLst>
          </p:cNvPr>
          <p:cNvSpPr>
            <a:spLocks xmlns:a="http://schemas.openxmlformats.org/drawingml/2006/main" noGrp="1"/>
          </p:cNvSpPr>
          <p:nvPr/>
        </p:nvSpPr>
        <p:spPr>
          <a:xfrm xmlns:a="http://schemas.openxmlformats.org/drawingml/2006/main">
            <a:off x="4718304" y="3694176"/>
            <a:ext cx="36118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950" b="1">
                <a:solidFill>
                  <a:srgbClr val="16344F"/>
                </a:solidFill>
                <a:latin typeface="Arial"/>
                <a:ea typeface="Arial"/>
                <a:cs typeface="Arial"/>
              </a:defRPr>
            </a:pPr>
            <a:r>
              <a:rPr sz="950" b="1" u="sng">
                <a:solidFill>
                  <a:srgbClr val="16344F"/>
                </a:solidFill>
                <a:latin typeface="Arial"/>
                <a:ea typeface="Arial"/>
                <a:cs typeface="Arial"/>
                <a:hlinkClick xmlns:r="http://schemas.openxmlformats.org/officeDocument/2006/relationships" r:id="Ra3923adc42044758"/>
              </a:rPr>
              <a:t>ACT / ALOHA</a:t>
            </a:r>
            <a:endParaRPr sz="950"/>
          </a:p>
        </p:txBody>
      </p:sp>
      <p:sp>
        <p:nvSpPr>
          <p:cNvPr id="39" name="Text 37">
            <a:hlinkClick xmlns:r="http://schemas.openxmlformats.org/officeDocument/2006/relationships" xmlns:a="http://schemas.openxmlformats.org/drawingml/2006/main" r:id="R3e5a7c08ff804648"/>
            <a:extLst xmlns:a="http://schemas.openxmlformats.org/drawingml/2006/main">
              <a:ext uri="{FF2B5EF4-FFF2-40B4-BE49-F238E27FC236}">
                <a16:creationId xmlns:a16="http://schemas.microsoft.com/office/drawing/2014/main" id="{14E81A3E-8507-4352-83B3-0E4418D0A45E}"/>
              </a:ext>
            </a:extLst>
          </p:cNvPr>
          <p:cNvSpPr>
            <a:spLocks xmlns:a="http://schemas.openxmlformats.org/drawingml/2006/main" noGrp="1"/>
          </p:cNvSpPr>
          <p:nvPr/>
        </p:nvSpPr>
        <p:spPr>
          <a:xfrm xmlns:a="http://schemas.openxmlformats.org/drawingml/2006/main">
            <a:off x="4718304" y="3867912"/>
            <a:ext cx="36118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680" b="0">
                <a:solidFill>
                  <a:srgbClr val="234D78"/>
                </a:solidFill>
                <a:latin typeface="Arial"/>
                <a:ea typeface="Arial"/>
                <a:cs typeface="Arial"/>
              </a:defRPr>
            </a:pPr>
            <a:r>
              <a:rPr sz="680" b="0" u="sng">
                <a:solidFill>
                  <a:srgbClr val="234D78"/>
                </a:solidFill>
                <a:latin typeface="Arial"/>
                <a:ea typeface="Arial"/>
                <a:cs typeface="Arial"/>
                <a:hlinkClick xmlns:r="http://schemas.openxmlformats.org/officeDocument/2006/relationships" r:id="R8c203af0395d44ee"/>
              </a:rPr>
              <a:t>https://arxiv.org/abs/2304.13705</a:t>
            </a:r>
            <a:endParaRPr sz="680"/>
          </a:p>
        </p:txBody>
      </p:sp>
      <p:sp>
        <p:nvSpPr>
          <p:cNvPr id="40" name="Text 38">
            <a:hlinkClick xmlns:r="http://schemas.openxmlformats.org/officeDocument/2006/relationships" xmlns:a="http://schemas.openxmlformats.org/drawingml/2006/main" r:id="R9a65325451c34ab7"/>
            <a:extLst xmlns:a="http://schemas.openxmlformats.org/drawingml/2006/main">
              <a:ext uri="{FF2B5EF4-FFF2-40B4-BE49-F238E27FC236}">
                <a16:creationId xmlns:a16="http://schemas.microsoft.com/office/drawing/2014/main" id="{D169E4BF-3B83-42C6-86BA-B6C71D0C4FA1}"/>
              </a:ext>
            </a:extLst>
          </p:cNvPr>
          <p:cNvSpPr>
            <a:spLocks xmlns:a="http://schemas.openxmlformats.org/drawingml/2006/main" noGrp="1"/>
          </p:cNvSpPr>
          <p:nvPr/>
        </p:nvSpPr>
        <p:spPr>
          <a:xfrm xmlns:a="http://schemas.openxmlformats.org/drawingml/2006/main">
            <a:off x="4718304" y="4187952"/>
            <a:ext cx="36118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950" b="1">
                <a:solidFill>
                  <a:srgbClr val="16344F"/>
                </a:solidFill>
                <a:latin typeface="Arial"/>
                <a:ea typeface="Arial"/>
                <a:cs typeface="Arial"/>
              </a:defRPr>
            </a:pPr>
            <a:r>
              <a:rPr sz="950" b="1" u="sng">
                <a:solidFill>
                  <a:srgbClr val="16344F"/>
                </a:solidFill>
                <a:latin typeface="Arial"/>
                <a:ea typeface="Arial"/>
                <a:cs typeface="Arial"/>
                <a:hlinkClick xmlns:r="http://schemas.openxmlformats.org/officeDocument/2006/relationships" r:id="Rf838dc13a5ae4d4b"/>
              </a:rPr>
              <a:t>Diffusion Policy</a:t>
            </a:r>
            <a:endParaRPr sz="950"/>
          </a:p>
        </p:txBody>
      </p:sp>
      <p:sp>
        <p:nvSpPr>
          <p:cNvPr id="41" name="Text 39">
            <a:hlinkClick xmlns:r="http://schemas.openxmlformats.org/officeDocument/2006/relationships" xmlns:a="http://schemas.openxmlformats.org/drawingml/2006/main" r:id="R8e1fb77c3d704416"/>
            <a:extLst xmlns:a="http://schemas.openxmlformats.org/drawingml/2006/main">
              <a:ext uri="{FF2B5EF4-FFF2-40B4-BE49-F238E27FC236}">
                <a16:creationId xmlns:a16="http://schemas.microsoft.com/office/drawing/2014/main" id="{0A51835B-F59D-4EC2-9A09-8A6B713FB655}"/>
              </a:ext>
            </a:extLst>
          </p:cNvPr>
          <p:cNvSpPr>
            <a:spLocks xmlns:a="http://schemas.openxmlformats.org/drawingml/2006/main" noGrp="1"/>
          </p:cNvSpPr>
          <p:nvPr/>
        </p:nvSpPr>
        <p:spPr>
          <a:xfrm xmlns:a="http://schemas.openxmlformats.org/drawingml/2006/main">
            <a:off x="4718304" y="4361688"/>
            <a:ext cx="36118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680" b="0">
                <a:solidFill>
                  <a:srgbClr val="234D78"/>
                </a:solidFill>
                <a:latin typeface="Arial"/>
                <a:ea typeface="Arial"/>
                <a:cs typeface="Arial"/>
              </a:defRPr>
            </a:pPr>
            <a:r>
              <a:rPr sz="680" b="0" u="sng">
                <a:solidFill>
                  <a:srgbClr val="234D78"/>
                </a:solidFill>
                <a:latin typeface="Arial"/>
                <a:ea typeface="Arial"/>
                <a:cs typeface="Arial"/>
                <a:hlinkClick xmlns:r="http://schemas.openxmlformats.org/officeDocument/2006/relationships" r:id="R639e1e03245e4e24"/>
              </a:rPr>
              <a:t>https://diffusion-policy.cs.columbia.edu/</a:t>
            </a:r>
            <a:endParaRPr sz="680"/>
          </a:p>
        </p:txBody>
      </p:sp>
      <p:sp>
        <p:nvSpPr>
          <p:cNvPr id="42" name="Sources footer">
            <a:extLst xmlns:a="http://schemas.openxmlformats.org/drawingml/2006/main">
              <a:ext uri="{FF2B5EF4-FFF2-40B4-BE49-F238E27FC236}">
                <a16:creationId xmlns:a16="http://schemas.microsoft.com/office/drawing/2014/main" id="{AD1983AA-A6E4-40B7-9090-23F2A573B5A2}"/>
              </a:ext>
            </a:extLst>
          </p:cNvPr>
          <p:cNvSpPr>
            <a:spLocks xmlns:a="http://schemas.openxmlformats.org/drawingml/2006/main" noGrp="1"/>
          </p:cNvSpPr>
          <p:nvPr/>
        </p:nvSpPr>
        <p:spPr>
          <a:xfrm xmlns:a="http://schemas.openxmlformats.org/drawingml/2006/main">
            <a:off x="438150" y="4924425"/>
            <a:ext cx="72961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40" b="0">
                <a:solidFill>
                  <a:srgbClr val="234D78"/>
                </a:solidFill>
                <a:latin typeface="Arial"/>
                <a:ea typeface="Arial"/>
                <a:cs typeface="Arial"/>
              </a:defRPr>
            </a:pPr>
            <a:r>
              <a:rPr sz="640" b="0">
                <a:solidFill>
                  <a:srgbClr val="234D78"/>
                </a:solidFill>
                <a:latin typeface="Arial"/>
                <a:ea typeface="Arial"/>
                <a:cs typeface="Arial"/>
                <a:hlinkClick xmlns:r="http://schemas.openxmlformats.org/officeDocument/2006/relationships" r:id="Raccbef0d5d6e454d"/>
              </a:rPr>
              <a:t>Reader guide and sources</a:t>
            </a:r>
          </a:p>
        </p:txBody>
      </p:sp>
    </p:spTree>
    <p:extLst>
      <p:ext uri="{BB962C8B-B14F-4D97-AF65-F5344CB8AC3E}">
        <p14:creationId xmlns:p14="http://schemas.microsoft.com/office/powerpoint/2010/main" val="47980990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2026-10-06T03:12:51.5710000Z</dcterms:created>
  <dcterms:modified xsi:type="dcterms:W3CDTF">2026-10-06T03:12:51.5710000Z</dcterms:modified>
</coreProperties>
</file>